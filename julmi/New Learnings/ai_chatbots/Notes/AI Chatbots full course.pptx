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Montserrat SemiBold"/>
      <p:regular r:id="rId47"/>
      <p:bold r:id="rId48"/>
      <p:italic r:id="rId49"/>
      <p:boldItalic r:id="rId50"/>
    </p:embeddedFont>
    <p:embeddedFont>
      <p:font typeface="Montserrat"/>
      <p:regular r:id="rId51"/>
      <p:bold r:id="rId52"/>
      <p:italic r:id="rId53"/>
      <p:boldItalic r:id="rId54"/>
    </p:embeddedFont>
    <p:embeddedFont>
      <p:font typeface="Montserrat Medium"/>
      <p:regular r:id="rId55"/>
      <p:bold r:id="rId56"/>
      <p:italic r:id="rId57"/>
      <p:boldItalic r:id="rId58"/>
    </p:embeddedFont>
    <p:embeddedFont>
      <p:font typeface="Montserrat ExtraBold"/>
      <p:bold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SemiBold-bold.fntdata"/><Relationship Id="rId47" Type="http://schemas.openxmlformats.org/officeDocument/2006/relationships/font" Target="fonts/MontserratSemiBold-regular.fntdata"/><Relationship Id="rId49" Type="http://schemas.openxmlformats.org/officeDocument/2006/relationships/font" Target="fonts/MontserratSemi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MontserratExtraBold-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regular.fntdata"/><Relationship Id="rId50" Type="http://schemas.openxmlformats.org/officeDocument/2006/relationships/font" Target="fonts/MontserratSemiBold-boldItalic.fntdata"/><Relationship Id="rId53" Type="http://schemas.openxmlformats.org/officeDocument/2006/relationships/font" Target="fonts/Montserrat-italic.fntdata"/><Relationship Id="rId52" Type="http://schemas.openxmlformats.org/officeDocument/2006/relationships/font" Target="fonts/Montserrat-bold.fntdata"/><Relationship Id="rId11" Type="http://schemas.openxmlformats.org/officeDocument/2006/relationships/slide" Target="slides/slide6.xml"/><Relationship Id="rId55" Type="http://schemas.openxmlformats.org/officeDocument/2006/relationships/font" Target="fonts/MontserratMedium-regular.fntdata"/><Relationship Id="rId10" Type="http://schemas.openxmlformats.org/officeDocument/2006/relationships/slide" Target="slides/slide5.xml"/><Relationship Id="rId54" Type="http://schemas.openxmlformats.org/officeDocument/2006/relationships/font" Target="fonts/Montserrat-boldItalic.fntdata"/><Relationship Id="rId13" Type="http://schemas.openxmlformats.org/officeDocument/2006/relationships/slide" Target="slides/slide8.xml"/><Relationship Id="rId57" Type="http://schemas.openxmlformats.org/officeDocument/2006/relationships/font" Target="fonts/MontserratMedium-italic.fntdata"/><Relationship Id="rId12" Type="http://schemas.openxmlformats.org/officeDocument/2006/relationships/slide" Target="slides/slide7.xml"/><Relationship Id="rId56" Type="http://schemas.openxmlformats.org/officeDocument/2006/relationships/font" Target="fonts/MontserratMedium-bold.fntdata"/><Relationship Id="rId15" Type="http://schemas.openxmlformats.org/officeDocument/2006/relationships/slide" Target="slides/slide10.xml"/><Relationship Id="rId59" Type="http://schemas.openxmlformats.org/officeDocument/2006/relationships/font" Target="fonts/MontserratExtraBold-bold.fntdata"/><Relationship Id="rId14" Type="http://schemas.openxmlformats.org/officeDocument/2006/relationships/slide" Target="slides/slide9.xml"/><Relationship Id="rId58" Type="http://schemas.openxmlformats.org/officeDocument/2006/relationships/font" Target="fonts/Montserrat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2e533f7a1fc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2e533f7a1fc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e533f7a1fc_0_1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e533f7a1fc_0_1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e533f7a1fc_0_2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e533f7a1fc_0_2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e533f7a1fc_0_2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e533f7a1fc_0_2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e533f7a1fc_0_2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e533f7a1fc_0_2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e596b2ea1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e596b2ea1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e596b2ea1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e596b2ea1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e596b2ea1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e596b2ea1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e596b2ea1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e596b2ea1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e596b2ea1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e596b2ea1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e5cee9ae1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e5cee9ae1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5cee9ae1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e5cee9ae1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e596b2ea1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e596b2ea1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e5cee9ae1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e5cee9ae1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e7501ec9a2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e7501ec9a2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e7501ec9a2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e7501ec9a2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e7501ec9a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e7501ec9a2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e7501ec9a2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e7501ec9a2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e7501ec9a2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e7501ec9a2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e7501ec9a2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e7501ec9a2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e7501ec9a2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e7501ec9a2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e7501ec9a2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e7501ec9a2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e7501ec9a2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e7501ec9a2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e7501ec9a2_1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e7501ec9a2_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e7501ec9a2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e7501ec9a2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e7501ec9a2_1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e7501ec9a2_1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e7501ec9a2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e7501ec9a2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e7501ec9a2_1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e7501ec9a2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e91706700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e91706700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e91706700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e91706700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e917067004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e917067004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e917067004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e917067004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e917067004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e917067004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e9170670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e9170670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e917067004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e917067004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e917067004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e917067004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e91706700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e91706700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e917067004_1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e917067004_1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e917067004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e917067004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e917067004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e917067004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5b19777c61b4b9f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5b19777c61b4b9f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D8C5FE"/>
            </a:gs>
            <a:gs pos="100000">
              <a:srgbClr val="FEFEFF"/>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Montserrat ExtraBold"/>
              <a:buNone/>
              <a:defRPr sz="2800">
                <a:solidFill>
                  <a:schemeClr val="dk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2"/>
              </a:buClr>
              <a:buSzPts val="1800"/>
              <a:buFont typeface="Montserrat SemiBold"/>
              <a:buChar char="●"/>
              <a:defRPr sz="1800">
                <a:solidFill>
                  <a:schemeClr val="accent2"/>
                </a:solidFill>
                <a:latin typeface="Montserrat SemiBold"/>
                <a:ea typeface="Montserrat SemiBold"/>
                <a:cs typeface="Montserrat SemiBold"/>
                <a:sym typeface="Montserrat SemiBold"/>
              </a:defRPr>
            </a:lvl1pPr>
            <a:lvl2pPr indent="-317500" lvl="1" marL="914400">
              <a:lnSpc>
                <a:spcPct val="115000"/>
              </a:lnSpc>
              <a:spcBef>
                <a:spcPts val="0"/>
              </a:spcBef>
              <a:spcAft>
                <a:spcPts val="0"/>
              </a:spcAft>
              <a:buClr>
                <a:schemeClr val="accent2"/>
              </a:buClr>
              <a:buSzPts val="1400"/>
              <a:buFont typeface="Montserrat Medium"/>
              <a:buChar char="○"/>
              <a:defRPr>
                <a:solidFill>
                  <a:schemeClr val="accent2"/>
                </a:solidFill>
                <a:latin typeface="Montserrat Medium"/>
                <a:ea typeface="Montserrat Medium"/>
                <a:cs typeface="Montserrat Medium"/>
                <a:sym typeface="Montserrat Medium"/>
              </a:defRPr>
            </a:lvl2pPr>
            <a:lvl3pPr indent="-317500" lvl="2" marL="1371600">
              <a:lnSpc>
                <a:spcPct val="115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3pPr>
            <a:lvl4pPr indent="-317500" lvl="3" marL="1828800">
              <a:lnSpc>
                <a:spcPct val="115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4pPr>
            <a:lvl5pPr indent="-317500" lvl="4" marL="2286000">
              <a:lnSpc>
                <a:spcPct val="115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5pPr>
            <a:lvl6pPr indent="-317500" lvl="5" marL="2743200">
              <a:lnSpc>
                <a:spcPct val="115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6pPr>
            <a:lvl7pPr indent="-317500" lvl="6" marL="3200400">
              <a:lnSpc>
                <a:spcPct val="115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7pPr>
            <a:lvl8pPr indent="-317500" lvl="7" marL="3657600">
              <a:lnSpc>
                <a:spcPct val="115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8pPr>
            <a:lvl9pPr indent="-317500" lvl="8" marL="4114800">
              <a:lnSpc>
                <a:spcPct val="115000"/>
              </a:lnSpc>
              <a:spcBef>
                <a:spcPts val="0"/>
              </a:spcBef>
              <a:spcAft>
                <a:spcPts val="0"/>
              </a:spcAft>
              <a:buClr>
                <a:schemeClr val="accent2"/>
              </a:buClr>
              <a:buSzPts val="1400"/>
              <a:buFont typeface="Montserrat"/>
              <a:buChar char="■"/>
              <a:defRPr>
                <a:solidFill>
                  <a:schemeClr val="accent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152400" y="4721275"/>
            <a:ext cx="592651" cy="2698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5.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mailto:support@bosarcosmetics.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4.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16.png"/><Relationship Id="rId12"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20.png"/><Relationship Id="rId8"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4.png"/><Relationship Id="rId4" Type="http://schemas.openxmlformats.org/officeDocument/2006/relationships/image" Target="../media/image47.png"/><Relationship Id="rId9" Type="http://schemas.openxmlformats.org/officeDocument/2006/relationships/image" Target="../media/image38.png"/><Relationship Id="rId5" Type="http://schemas.openxmlformats.org/officeDocument/2006/relationships/image" Target="../media/image46.png"/><Relationship Id="rId6" Type="http://schemas.openxmlformats.org/officeDocument/2006/relationships/image" Target="../media/image25.png"/><Relationship Id="rId7" Type="http://schemas.openxmlformats.org/officeDocument/2006/relationships/image" Target="../media/image23.png"/><Relationship Id="rId8" Type="http://schemas.openxmlformats.org/officeDocument/2006/relationships/image" Target="../media/image32.png"/></Relationships>
</file>

<file path=ppt/slides/_rels/slide31.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35.png"/><Relationship Id="rId12" Type="http://schemas.openxmlformats.org/officeDocument/2006/relationships/image" Target="../media/image22.png"/><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33.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27.png"/><Relationship Id="rId8" Type="http://schemas.openxmlformats.org/officeDocument/2006/relationships/image" Target="../media/image44.png"/></Relationships>
</file>

<file path=ppt/slides/_rels/slide32.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16.png"/><Relationship Id="rId12"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20.png"/><Relationship Id="rId8"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7.png"/><Relationship Id="rId4" Type="http://schemas.openxmlformats.org/officeDocument/2006/relationships/image" Target="../media/image43.png"/><Relationship Id="rId5" Type="http://schemas.openxmlformats.org/officeDocument/2006/relationships/image" Target="../media/image13.png"/><Relationship Id="rId6"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16.png"/><Relationship Id="rId12"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20.png"/><Relationship Id="rId8"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1.png"/><Relationship Id="rId4" Type="http://schemas.openxmlformats.org/officeDocument/2006/relationships/image" Target="../media/image40.png"/><Relationship Id="rId5" Type="http://schemas.openxmlformats.org/officeDocument/2006/relationships/image" Target="../media/image20.png"/><Relationship Id="rId6"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0.pn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16.png"/><Relationship Id="rId12" Type="http://schemas.openxmlformats.org/officeDocument/2006/relationships/image" Target="../media/image21.png"/><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20.png"/><Relationship Id="rId8"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8C5FE"/>
            </a:gs>
            <a:gs pos="100000">
              <a:srgbClr val="FEFEFF"/>
            </a:gs>
          </a:gsLst>
          <a:lin ang="5400012" scaled="0"/>
        </a:gradFill>
      </p:bgPr>
    </p:bg>
    <p:spTree>
      <p:nvGrpSpPr>
        <p:cNvPr id="54" name="Shape 54"/>
        <p:cNvGrpSpPr/>
        <p:nvPr/>
      </p:nvGrpSpPr>
      <p:grpSpPr>
        <a:xfrm>
          <a:off x="0" y="0"/>
          <a:ext cx="0" cy="0"/>
          <a:chOff x="0" y="0"/>
          <a:chExt cx="0" cy="0"/>
        </a:xfrm>
      </p:grpSpPr>
      <p:sp>
        <p:nvSpPr>
          <p:cNvPr id="55" name="Google Shape;55;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Montserrat ExtraBold"/>
                <a:ea typeface="Montserrat ExtraBold"/>
                <a:cs typeface="Montserrat ExtraBold"/>
                <a:sym typeface="Montserrat ExtraBold"/>
              </a:rPr>
              <a:t>What we’ll cover</a:t>
            </a:r>
            <a:endParaRPr>
              <a:latin typeface="Montserrat ExtraBold"/>
              <a:ea typeface="Montserrat ExtraBold"/>
              <a:cs typeface="Montserrat ExtraBold"/>
              <a:sym typeface="Montserrat ExtraBold"/>
            </a:endParaRPr>
          </a:p>
        </p:txBody>
      </p:sp>
      <p:sp>
        <p:nvSpPr>
          <p:cNvPr id="56" name="Google Shape;56;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Montserrat SemiBold"/>
              <a:buAutoNum type="arabicPeriod"/>
            </a:pPr>
            <a:r>
              <a:rPr lang="en">
                <a:solidFill>
                  <a:schemeClr val="dk1"/>
                </a:solidFill>
                <a:latin typeface="Montserrat SemiBold"/>
                <a:ea typeface="Montserrat SemiBold"/>
                <a:cs typeface="Montserrat SemiBold"/>
                <a:sym typeface="Montserrat SemiBold"/>
              </a:rPr>
              <a:t>AI </a:t>
            </a:r>
            <a:r>
              <a:rPr lang="en">
                <a:solidFill>
                  <a:schemeClr val="dk1"/>
                </a:solidFill>
              </a:rPr>
              <a:t>Business Potential</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Understanding AI Chatbots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Prompt Engineering</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Use Cases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Toolkit Overview</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Practical Tutorials</a:t>
            </a:r>
            <a:endParaRPr>
              <a:solidFill>
                <a:schemeClr val="dk1"/>
              </a:solidFill>
            </a:endParaRPr>
          </a:p>
        </p:txBody>
      </p:sp>
      <p:pic>
        <p:nvPicPr>
          <p:cNvPr id="57" name="Google Shape;57;p13"/>
          <p:cNvPicPr preferRelativeResize="0"/>
          <p:nvPr/>
        </p:nvPicPr>
        <p:blipFill>
          <a:blip r:embed="rId3">
            <a:alphaModFix/>
          </a:blip>
          <a:stretch>
            <a:fillRect/>
          </a:stretch>
        </p:blipFill>
        <p:spPr>
          <a:xfrm>
            <a:off x="4221850" y="542475"/>
            <a:ext cx="4351850" cy="4351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p:cNvPicPr preferRelativeResize="0"/>
          <p:nvPr/>
        </p:nvPicPr>
        <p:blipFill>
          <a:blip r:embed="rId3">
            <a:alphaModFix/>
          </a:blip>
          <a:stretch>
            <a:fillRect/>
          </a:stretch>
        </p:blipFill>
        <p:spPr>
          <a:xfrm>
            <a:off x="4572000" y="60725"/>
            <a:ext cx="4404649" cy="2936425"/>
          </a:xfrm>
          <a:prstGeom prst="rect">
            <a:avLst/>
          </a:prstGeom>
          <a:noFill/>
          <a:ln>
            <a:noFill/>
          </a:ln>
        </p:spPr>
      </p:pic>
      <p:pic>
        <p:nvPicPr>
          <p:cNvPr id="63" name="Google Shape;63;p14"/>
          <p:cNvPicPr preferRelativeResize="0"/>
          <p:nvPr/>
        </p:nvPicPr>
        <p:blipFill>
          <a:blip r:embed="rId4">
            <a:alphaModFix/>
          </a:blip>
          <a:stretch>
            <a:fillRect/>
          </a:stretch>
        </p:blipFill>
        <p:spPr>
          <a:xfrm>
            <a:off x="152400" y="152400"/>
            <a:ext cx="4112475" cy="2145106"/>
          </a:xfrm>
          <a:prstGeom prst="rect">
            <a:avLst/>
          </a:prstGeom>
          <a:noFill/>
          <a:ln>
            <a:noFill/>
          </a:ln>
        </p:spPr>
      </p:pic>
      <p:sp>
        <p:nvSpPr>
          <p:cNvPr id="64" name="Google Shape;64;p14"/>
          <p:cNvSpPr txBox="1"/>
          <p:nvPr/>
        </p:nvSpPr>
        <p:spPr>
          <a:xfrm>
            <a:off x="152400" y="2997150"/>
            <a:ext cx="65646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accent2"/>
                </a:solidFill>
                <a:latin typeface="Montserrat SemiBold"/>
                <a:ea typeface="Montserrat SemiBold"/>
                <a:cs typeface="Montserrat SemiBold"/>
                <a:sym typeface="Montserrat SemiBold"/>
              </a:rPr>
              <a:t>It’s clear from the 39 AI adoption statistics that companies are bullish on AI.</a:t>
            </a:r>
            <a:endParaRPr sz="1100">
              <a:solidFill>
                <a:schemeClr val="accent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1100">
              <a:solidFill>
                <a:schemeClr val="accent2"/>
              </a:solidFill>
              <a:latin typeface="Montserrat Medium"/>
              <a:ea typeface="Montserrat Medium"/>
              <a:cs typeface="Montserrat Medium"/>
              <a:sym typeface="Montserrat Medium"/>
            </a:endParaRPr>
          </a:p>
          <a:p>
            <a:pPr indent="-298450" lvl="0" marL="457200" rtl="0" algn="l">
              <a:spcBef>
                <a:spcPts val="0"/>
              </a:spcBef>
              <a:spcAft>
                <a:spcPts val="0"/>
              </a:spcAft>
              <a:buClr>
                <a:schemeClr val="accent2"/>
              </a:buClr>
              <a:buSzPts val="1100"/>
              <a:buFont typeface="Montserrat Medium"/>
              <a:buChar char="●"/>
            </a:pPr>
            <a:r>
              <a:rPr b="1" lang="en" sz="1100">
                <a:solidFill>
                  <a:schemeClr val="accent2"/>
                </a:solidFill>
                <a:latin typeface="Montserrat"/>
                <a:ea typeface="Montserrat"/>
                <a:cs typeface="Montserrat"/>
                <a:sym typeface="Montserrat"/>
              </a:rPr>
              <a:t>35%</a:t>
            </a:r>
            <a:r>
              <a:rPr lang="en" sz="1100">
                <a:solidFill>
                  <a:schemeClr val="accent2"/>
                </a:solidFill>
                <a:latin typeface="Montserrat Medium"/>
                <a:ea typeface="Montserrat Medium"/>
                <a:cs typeface="Montserrat Medium"/>
                <a:sym typeface="Montserrat Medium"/>
              </a:rPr>
              <a:t> </a:t>
            </a:r>
            <a:r>
              <a:rPr b="1" lang="en" sz="1100">
                <a:solidFill>
                  <a:schemeClr val="accent2"/>
                </a:solidFill>
                <a:latin typeface="Montserrat"/>
                <a:ea typeface="Montserrat"/>
                <a:cs typeface="Montserrat"/>
                <a:sym typeface="Montserrat"/>
              </a:rPr>
              <a:t>of businesses</a:t>
            </a:r>
            <a:r>
              <a:rPr lang="en" sz="1100">
                <a:solidFill>
                  <a:schemeClr val="accent2"/>
                </a:solidFill>
                <a:latin typeface="Montserrat Medium"/>
                <a:ea typeface="Montserrat Medium"/>
                <a:cs typeface="Montserrat Medium"/>
                <a:sym typeface="Montserrat Medium"/>
              </a:rPr>
              <a:t> now use AI.</a:t>
            </a:r>
            <a:endParaRPr sz="1100">
              <a:solidFill>
                <a:schemeClr val="accent2"/>
              </a:solidFill>
              <a:latin typeface="Montserrat Medium"/>
              <a:ea typeface="Montserrat Medium"/>
              <a:cs typeface="Montserrat Medium"/>
              <a:sym typeface="Montserrat Medium"/>
            </a:endParaRPr>
          </a:p>
          <a:p>
            <a:pPr indent="-298450" lvl="0" marL="457200" rtl="0" algn="l">
              <a:spcBef>
                <a:spcPts val="0"/>
              </a:spcBef>
              <a:spcAft>
                <a:spcPts val="0"/>
              </a:spcAft>
              <a:buClr>
                <a:schemeClr val="accent2"/>
              </a:buClr>
              <a:buSzPts val="1100"/>
              <a:buFont typeface="Montserrat Medium"/>
              <a:buChar char="●"/>
            </a:pPr>
            <a:r>
              <a:rPr b="1" lang="en" sz="1100">
                <a:solidFill>
                  <a:schemeClr val="accent2"/>
                </a:solidFill>
                <a:latin typeface="Montserrat"/>
                <a:ea typeface="Montserrat"/>
                <a:cs typeface="Montserrat"/>
                <a:sym typeface="Montserrat"/>
              </a:rPr>
              <a:t>64% of business owners </a:t>
            </a:r>
            <a:r>
              <a:rPr lang="en" sz="1100">
                <a:solidFill>
                  <a:schemeClr val="accent2"/>
                </a:solidFill>
                <a:latin typeface="Montserrat Medium"/>
                <a:ea typeface="Montserrat Medium"/>
                <a:cs typeface="Montserrat Medium"/>
                <a:sym typeface="Montserrat Medium"/>
              </a:rPr>
              <a:t>believe AI will boost productivity.</a:t>
            </a:r>
            <a:endParaRPr sz="1100">
              <a:solidFill>
                <a:schemeClr val="accent2"/>
              </a:solidFill>
              <a:latin typeface="Montserrat Medium"/>
              <a:ea typeface="Montserrat Medium"/>
              <a:cs typeface="Montserrat Medium"/>
              <a:sym typeface="Montserrat Medium"/>
            </a:endParaRPr>
          </a:p>
          <a:p>
            <a:pPr indent="-298450" lvl="0" marL="457200" rtl="0" algn="l">
              <a:spcBef>
                <a:spcPts val="0"/>
              </a:spcBef>
              <a:spcAft>
                <a:spcPts val="0"/>
              </a:spcAft>
              <a:buClr>
                <a:schemeClr val="accent2"/>
              </a:buClr>
              <a:buSzPts val="1100"/>
              <a:buFont typeface="Montserrat Medium"/>
              <a:buChar char="●"/>
            </a:pPr>
            <a:r>
              <a:rPr b="1" lang="en" sz="1100">
                <a:solidFill>
                  <a:schemeClr val="accent2"/>
                </a:solidFill>
                <a:latin typeface="Montserrat"/>
                <a:ea typeface="Montserrat"/>
                <a:cs typeface="Montserrat"/>
                <a:sym typeface="Montserrat"/>
              </a:rPr>
              <a:t>85%</a:t>
            </a:r>
            <a:r>
              <a:rPr lang="en" sz="1100">
                <a:solidFill>
                  <a:schemeClr val="accent2"/>
                </a:solidFill>
                <a:latin typeface="Montserrat Medium"/>
                <a:ea typeface="Montserrat Medium"/>
                <a:cs typeface="Montserrat Medium"/>
                <a:sym typeface="Montserrat Medium"/>
              </a:rPr>
              <a:t> </a:t>
            </a:r>
            <a:r>
              <a:rPr b="1" lang="en" sz="1100">
                <a:solidFill>
                  <a:schemeClr val="accent2"/>
                </a:solidFill>
                <a:latin typeface="Montserrat"/>
                <a:ea typeface="Montserrat"/>
                <a:cs typeface="Montserrat"/>
                <a:sym typeface="Montserrat"/>
              </a:rPr>
              <a:t>of business-customer relationships </a:t>
            </a:r>
            <a:r>
              <a:rPr lang="en" sz="1100">
                <a:solidFill>
                  <a:schemeClr val="accent2"/>
                </a:solidFill>
                <a:latin typeface="Montserrat Medium"/>
                <a:ea typeface="Montserrat Medium"/>
                <a:cs typeface="Montserrat Medium"/>
                <a:sym typeface="Montserrat Medium"/>
              </a:rPr>
              <a:t>will be managed without human. interaction.</a:t>
            </a:r>
            <a:endParaRPr sz="1100">
              <a:solidFill>
                <a:schemeClr val="accent2"/>
              </a:solidFill>
              <a:latin typeface="Montserrat Medium"/>
              <a:ea typeface="Montserrat Medium"/>
              <a:cs typeface="Montserrat Medium"/>
              <a:sym typeface="Montserrat Medium"/>
            </a:endParaRPr>
          </a:p>
          <a:p>
            <a:pPr indent="-298450" lvl="0" marL="457200" rtl="0" algn="l">
              <a:spcBef>
                <a:spcPts val="0"/>
              </a:spcBef>
              <a:spcAft>
                <a:spcPts val="0"/>
              </a:spcAft>
              <a:buClr>
                <a:schemeClr val="accent2"/>
              </a:buClr>
              <a:buSzPts val="1100"/>
              <a:buFont typeface="Montserrat"/>
              <a:buChar char="●"/>
            </a:pPr>
            <a:r>
              <a:rPr lang="en" sz="1100">
                <a:solidFill>
                  <a:schemeClr val="accent2"/>
                </a:solidFill>
                <a:latin typeface="Montserrat Medium"/>
                <a:ea typeface="Montserrat Medium"/>
                <a:cs typeface="Montserrat Medium"/>
                <a:sym typeface="Montserrat Medium"/>
              </a:rPr>
              <a:t>WhatsApp generates over</a:t>
            </a:r>
            <a:r>
              <a:rPr b="1" lang="en" sz="1100">
                <a:solidFill>
                  <a:schemeClr val="accent2"/>
                </a:solidFill>
                <a:latin typeface="Montserrat"/>
                <a:ea typeface="Montserrat"/>
                <a:cs typeface="Montserrat"/>
                <a:sym typeface="Montserrat"/>
              </a:rPr>
              <a:t> 100 billion AI-processed messages</a:t>
            </a:r>
            <a:r>
              <a:rPr lang="en" sz="1100">
                <a:solidFill>
                  <a:schemeClr val="accent2"/>
                </a:solidFill>
                <a:latin typeface="Montserrat Medium"/>
                <a:ea typeface="Montserrat Medium"/>
                <a:cs typeface="Montserrat Medium"/>
                <a:sym typeface="Montserrat Medium"/>
              </a:rPr>
              <a:t> each day.</a:t>
            </a:r>
            <a:endParaRPr b="1" sz="1100">
              <a:solidFill>
                <a:schemeClr val="accent2"/>
              </a:solidFill>
              <a:latin typeface="Montserrat"/>
              <a:ea typeface="Montserrat"/>
              <a:cs typeface="Montserrat"/>
              <a:sym typeface="Montserrat"/>
            </a:endParaRPr>
          </a:p>
          <a:p>
            <a:pPr indent="0" lvl="0" marL="457200" rtl="0" algn="l">
              <a:spcBef>
                <a:spcPts val="0"/>
              </a:spcBef>
              <a:spcAft>
                <a:spcPts val="0"/>
              </a:spcAft>
              <a:buNone/>
            </a:pPr>
            <a:r>
              <a:t/>
            </a:r>
            <a:endParaRPr sz="1100">
              <a:solidFill>
                <a:schemeClr val="accent2"/>
              </a:solidFill>
              <a:latin typeface="Montserrat Medium"/>
              <a:ea typeface="Montserrat Medium"/>
              <a:cs typeface="Montserrat Medium"/>
              <a:sym typeface="Montserrat Medium"/>
            </a:endParaRPr>
          </a:p>
          <a:p>
            <a:pPr indent="0" lvl="0" marL="0" rtl="0" algn="l">
              <a:spcBef>
                <a:spcPts val="0"/>
              </a:spcBef>
              <a:spcAft>
                <a:spcPts val="0"/>
              </a:spcAft>
              <a:buNone/>
            </a:pPr>
            <a:r>
              <a:rPr lang="en" sz="700">
                <a:solidFill>
                  <a:schemeClr val="accent2"/>
                </a:solidFill>
                <a:latin typeface="Montserrat Medium"/>
                <a:ea typeface="Montserrat Medium"/>
                <a:cs typeface="Montserrat Medium"/>
                <a:sym typeface="Montserrat Medium"/>
              </a:rPr>
              <a:t>Source: https://www.authorityhacker.com/ai-statistics/</a:t>
            </a:r>
            <a:endParaRPr sz="700">
              <a:solidFill>
                <a:schemeClr val="accent2"/>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Business Potential</a:t>
            </a:r>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Market growth</a:t>
            </a:r>
            <a:endParaRPr/>
          </a:p>
          <a:p>
            <a:pPr indent="-342900" lvl="0" marL="457200" rtl="0" algn="l">
              <a:lnSpc>
                <a:spcPct val="150000"/>
              </a:lnSpc>
              <a:spcBef>
                <a:spcPts val="0"/>
              </a:spcBef>
              <a:spcAft>
                <a:spcPts val="0"/>
              </a:spcAft>
              <a:buSzPts val="1800"/>
              <a:buChar char="●"/>
            </a:pPr>
            <a:r>
              <a:rPr lang="en"/>
              <a:t>Importance of the right </a:t>
            </a:r>
            <a:r>
              <a:rPr b="1" lang="en">
                <a:latin typeface="Montserrat"/>
                <a:ea typeface="Montserrat"/>
                <a:cs typeface="Montserrat"/>
                <a:sym typeface="Montserrat"/>
              </a:rPr>
              <a:t>timing</a:t>
            </a:r>
            <a:endParaRPr b="1">
              <a:latin typeface="Montserrat"/>
              <a:ea typeface="Montserrat"/>
              <a:cs typeface="Montserrat"/>
              <a:sym typeface="Montserrat"/>
            </a:endParaRPr>
          </a:p>
          <a:p>
            <a:pPr indent="-342900" lvl="0" marL="457200" rtl="0" algn="l">
              <a:lnSpc>
                <a:spcPct val="150000"/>
              </a:lnSpc>
              <a:spcBef>
                <a:spcPts val="0"/>
              </a:spcBef>
              <a:spcAft>
                <a:spcPts val="0"/>
              </a:spcAft>
              <a:buSzPts val="1800"/>
              <a:buChar char="●"/>
            </a:pPr>
            <a:r>
              <a:rPr lang="en"/>
              <a:t>D</a:t>
            </a:r>
            <a:r>
              <a:rPr lang="en"/>
              <a:t>igitalization vs automation</a:t>
            </a:r>
            <a:endParaRPr/>
          </a:p>
          <a:p>
            <a:pPr indent="-342900" lvl="0" marL="457200" rtl="0" algn="l">
              <a:lnSpc>
                <a:spcPct val="150000"/>
              </a:lnSpc>
              <a:spcBef>
                <a:spcPts val="0"/>
              </a:spcBef>
              <a:spcAft>
                <a:spcPts val="0"/>
              </a:spcAft>
              <a:buSzPts val="1800"/>
              <a:buChar char="●"/>
            </a:pPr>
            <a:r>
              <a:rPr lang="en"/>
              <a:t>Adoption lifecycle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p:cNvPicPr preferRelativeResize="0"/>
          <p:nvPr/>
        </p:nvPicPr>
        <p:blipFill>
          <a:blip r:embed="rId3">
            <a:alphaModFix/>
          </a:blip>
          <a:stretch>
            <a:fillRect/>
          </a:stretch>
        </p:blipFill>
        <p:spPr>
          <a:xfrm>
            <a:off x="121215" y="799313"/>
            <a:ext cx="8901576" cy="3544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Chatbots</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latin typeface="Montserrat"/>
                <a:ea typeface="Montserrat"/>
                <a:cs typeface="Montserrat"/>
                <a:sym typeface="Montserrat"/>
              </a:rPr>
              <a:t>1) Old school (rule-based)</a:t>
            </a:r>
            <a:endParaRPr b="1" sz="1100">
              <a:solidFill>
                <a:schemeClr val="dk1"/>
              </a:solidFill>
              <a:latin typeface="Montserrat"/>
              <a:ea typeface="Montserrat"/>
              <a:cs typeface="Montserrat"/>
              <a:sym typeface="Montserrat"/>
            </a:endParaRPr>
          </a:p>
          <a:p>
            <a:pPr indent="-298450" lvl="0" marL="457200" rtl="0" algn="l">
              <a:spcBef>
                <a:spcPts val="120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limited (✗)</a:t>
            </a:r>
            <a:endParaRPr sz="1100">
              <a:solidFill>
                <a:schemeClr val="dk1"/>
              </a:solidFill>
              <a:latin typeface="Montserrat"/>
              <a:ea typeface="Montserrat"/>
              <a:cs typeface="Montserrat"/>
              <a:sym typeface="Montserrat"/>
            </a:endParaRPr>
          </a:p>
          <a:p>
            <a:pPr indent="-298450" lvl="0" marL="45720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manual (✗)</a:t>
            </a:r>
            <a:endParaRPr sz="1100">
              <a:solidFill>
                <a:schemeClr val="dk1"/>
              </a:solidFill>
              <a:latin typeface="Montserrat"/>
              <a:ea typeface="Montserrat"/>
              <a:cs typeface="Montserrat"/>
              <a:sym typeface="Montserrat"/>
            </a:endParaRPr>
          </a:p>
          <a:p>
            <a:pPr indent="0" lvl="0" marL="0" rtl="0" algn="l">
              <a:spcBef>
                <a:spcPts val="1200"/>
              </a:spcBef>
              <a:spcAft>
                <a:spcPts val="0"/>
              </a:spcAft>
              <a:buNone/>
            </a:pPr>
            <a:r>
              <a:t/>
            </a:r>
            <a:endParaRPr b="1" sz="1100">
              <a:solidFill>
                <a:schemeClr val="dk1"/>
              </a:solidFill>
              <a:latin typeface="Montserrat"/>
              <a:ea typeface="Montserrat"/>
              <a:cs typeface="Montserrat"/>
              <a:sym typeface="Montserrat"/>
            </a:endParaRPr>
          </a:p>
          <a:p>
            <a:pPr indent="0" lvl="0" marL="0" rtl="0" algn="l">
              <a:spcBef>
                <a:spcPts val="1200"/>
              </a:spcBef>
              <a:spcAft>
                <a:spcPts val="0"/>
              </a:spcAft>
              <a:buNone/>
            </a:pPr>
            <a:r>
              <a:rPr b="1" lang="en" sz="1100">
                <a:solidFill>
                  <a:schemeClr val="dk1"/>
                </a:solidFill>
                <a:latin typeface="Montserrat"/>
                <a:ea typeface="Montserrat"/>
                <a:cs typeface="Montserrat"/>
                <a:sym typeface="Montserrat"/>
              </a:rPr>
              <a:t>2) AI-powered (using LLMs)</a:t>
            </a:r>
            <a:endParaRPr b="1" sz="1100">
              <a:solidFill>
                <a:schemeClr val="dk1"/>
              </a:solidFill>
              <a:latin typeface="Montserrat"/>
              <a:ea typeface="Montserrat"/>
              <a:cs typeface="Montserrat"/>
              <a:sym typeface="Montserrat"/>
            </a:endParaRPr>
          </a:p>
          <a:p>
            <a:pPr indent="-298450" lvl="0" marL="457200" rtl="0" algn="l">
              <a:spcBef>
                <a:spcPts val="120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advanced (✓)</a:t>
            </a:r>
            <a:endParaRPr sz="1100">
              <a:solidFill>
                <a:schemeClr val="dk1"/>
              </a:solidFill>
              <a:latin typeface="Montserrat"/>
              <a:ea typeface="Montserrat"/>
              <a:cs typeface="Montserrat"/>
              <a:sym typeface="Montserrat"/>
            </a:endParaRPr>
          </a:p>
          <a:p>
            <a:pPr indent="-298450" lvl="0" marL="457200" rtl="0" algn="l">
              <a:spcBef>
                <a:spcPts val="0"/>
              </a:spcBef>
              <a:spcAft>
                <a:spcPts val="0"/>
              </a:spcAft>
              <a:buClr>
                <a:schemeClr val="dk1"/>
              </a:buClr>
              <a:buSzPts val="1100"/>
              <a:buFont typeface="Montserrat"/>
              <a:buChar char="●"/>
            </a:pPr>
            <a:r>
              <a:rPr lang="en" sz="1100">
                <a:solidFill>
                  <a:schemeClr val="dk1"/>
                </a:solidFill>
                <a:latin typeface="Montserrat"/>
                <a:ea typeface="Montserrat"/>
                <a:cs typeface="Montserrat"/>
                <a:sym typeface="Montserrat"/>
              </a:rPr>
              <a:t>adaptive (✓)</a:t>
            </a:r>
            <a:endParaRPr sz="1100">
              <a:solidFill>
                <a:schemeClr val="dk1"/>
              </a:solidFill>
              <a:latin typeface="Montserrat"/>
              <a:ea typeface="Montserrat"/>
              <a:cs typeface="Montserrat"/>
              <a:sym typeface="Montserrat"/>
            </a:endParaRPr>
          </a:p>
          <a:p>
            <a:pPr indent="0" lvl="0" marL="0" rtl="0" algn="l">
              <a:spcBef>
                <a:spcPts val="1200"/>
              </a:spcBef>
              <a:spcAft>
                <a:spcPts val="1200"/>
              </a:spcAft>
              <a:buNone/>
            </a:pPr>
            <a:r>
              <a:t/>
            </a:r>
            <a:endParaRPr/>
          </a:p>
        </p:txBody>
      </p:sp>
      <p:pic>
        <p:nvPicPr>
          <p:cNvPr id="82" name="Google Shape;82;p17"/>
          <p:cNvPicPr preferRelativeResize="0"/>
          <p:nvPr/>
        </p:nvPicPr>
        <p:blipFill>
          <a:blip r:embed="rId3">
            <a:alphaModFix/>
          </a:blip>
          <a:stretch>
            <a:fillRect/>
          </a:stretch>
        </p:blipFill>
        <p:spPr>
          <a:xfrm>
            <a:off x="2595675" y="756650"/>
            <a:ext cx="6336824" cy="42080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AI-Powered Chatbots</a:t>
            </a:r>
            <a:endParaRPr/>
          </a:p>
        </p:txBody>
      </p:sp>
      <p:pic>
        <p:nvPicPr>
          <p:cNvPr id="88" name="Google Shape;88;p18"/>
          <p:cNvPicPr preferRelativeResize="0"/>
          <p:nvPr/>
        </p:nvPicPr>
        <p:blipFill rotWithShape="1">
          <a:blip r:embed="rId3">
            <a:alphaModFix/>
          </a:blip>
          <a:srcRect b="0" l="0" r="7715" t="0"/>
          <a:stretch/>
        </p:blipFill>
        <p:spPr>
          <a:xfrm>
            <a:off x="4656175" y="1125775"/>
            <a:ext cx="1154975" cy="2025825"/>
          </a:xfrm>
          <a:prstGeom prst="rect">
            <a:avLst/>
          </a:prstGeom>
          <a:noFill/>
          <a:ln>
            <a:noFill/>
          </a:ln>
        </p:spPr>
      </p:pic>
      <p:pic>
        <p:nvPicPr>
          <p:cNvPr id="89" name="Google Shape;89;p18"/>
          <p:cNvPicPr preferRelativeResize="0"/>
          <p:nvPr/>
        </p:nvPicPr>
        <p:blipFill>
          <a:blip r:embed="rId4">
            <a:alphaModFix/>
          </a:blip>
          <a:stretch>
            <a:fillRect/>
          </a:stretch>
        </p:blipFill>
        <p:spPr>
          <a:xfrm>
            <a:off x="6002166" y="1664750"/>
            <a:ext cx="1186418" cy="2877675"/>
          </a:xfrm>
          <a:prstGeom prst="rect">
            <a:avLst/>
          </a:prstGeom>
          <a:noFill/>
          <a:ln>
            <a:noFill/>
          </a:ln>
        </p:spPr>
      </p:pic>
      <p:pic>
        <p:nvPicPr>
          <p:cNvPr id="90" name="Google Shape;90;p18"/>
          <p:cNvPicPr preferRelativeResize="0"/>
          <p:nvPr/>
        </p:nvPicPr>
        <p:blipFill>
          <a:blip r:embed="rId5">
            <a:alphaModFix/>
          </a:blip>
          <a:stretch>
            <a:fillRect/>
          </a:stretch>
        </p:blipFill>
        <p:spPr>
          <a:xfrm>
            <a:off x="4740475" y="2977975"/>
            <a:ext cx="986400" cy="1791987"/>
          </a:xfrm>
          <a:prstGeom prst="rect">
            <a:avLst/>
          </a:prstGeom>
          <a:noFill/>
          <a:ln>
            <a:noFill/>
          </a:ln>
        </p:spPr>
      </p:pic>
      <p:pic>
        <p:nvPicPr>
          <p:cNvPr id="91" name="Google Shape;91;p18"/>
          <p:cNvPicPr preferRelativeResize="0"/>
          <p:nvPr/>
        </p:nvPicPr>
        <p:blipFill rotWithShape="1">
          <a:blip r:embed="rId6">
            <a:alphaModFix/>
          </a:blip>
          <a:srcRect b="0" l="50024" r="0" t="0"/>
          <a:stretch/>
        </p:blipFill>
        <p:spPr>
          <a:xfrm>
            <a:off x="1369075" y="959774"/>
            <a:ext cx="2992374" cy="39761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1152475"/>
            <a:ext cx="8513100" cy="3416400"/>
          </a:xfrm>
          <a:prstGeom prst="rect">
            <a:avLst/>
          </a:prstGeom>
        </p:spPr>
        <p:txBody>
          <a:bodyPr anchorCtr="0" anchor="ctr" bIns="91425" lIns="91425" spcFirstLastPara="1" rIns="91425" wrap="square" tIns="91425">
            <a:normAutofit/>
          </a:bodyPr>
          <a:lstStyle/>
          <a:p>
            <a:pPr indent="-203200" lvl="0" marL="203200" rtl="0" algn="l">
              <a:lnSpc>
                <a:spcPct val="200000"/>
              </a:lnSpc>
              <a:spcBef>
                <a:spcPts val="0"/>
              </a:spcBef>
              <a:spcAft>
                <a:spcPts val="0"/>
              </a:spcAft>
              <a:buClr>
                <a:schemeClr val="dk1"/>
              </a:buClr>
              <a:buSzPts val="1100"/>
              <a:buFont typeface="Arial"/>
              <a:buNone/>
            </a:pPr>
            <a:r>
              <a:rPr lang="en" sz="1350">
                <a:solidFill>
                  <a:srgbClr val="0E0E0E"/>
                </a:solidFill>
                <a:latin typeface="Montserrat"/>
                <a:ea typeface="Montserrat"/>
                <a:cs typeface="Montserrat"/>
                <a:sym typeface="Montserrat"/>
              </a:rPr>
              <a:t>	1.	</a:t>
            </a:r>
            <a:r>
              <a:rPr b="1" lang="en" sz="1350">
                <a:solidFill>
                  <a:srgbClr val="0E0E0E"/>
                </a:solidFill>
                <a:latin typeface="Montserrat"/>
                <a:ea typeface="Montserrat"/>
                <a:cs typeface="Montserrat"/>
                <a:sym typeface="Montserrat"/>
              </a:rPr>
              <a:t>User Prompt</a:t>
            </a:r>
            <a:r>
              <a:rPr lang="en" sz="1350">
                <a:solidFill>
                  <a:srgbClr val="0E0E0E"/>
                </a:solidFill>
                <a:latin typeface="Montserrat"/>
                <a:ea typeface="Montserrat"/>
                <a:cs typeface="Montserrat"/>
                <a:sym typeface="Montserrat"/>
              </a:rPr>
              <a:t>: The user asks a question or makes a request.</a:t>
            </a:r>
            <a:endParaRPr sz="1350">
              <a:solidFill>
                <a:srgbClr val="0E0E0E"/>
              </a:solidFill>
              <a:latin typeface="Montserrat"/>
              <a:ea typeface="Montserrat"/>
              <a:cs typeface="Montserrat"/>
              <a:sym typeface="Montserrat"/>
            </a:endParaRPr>
          </a:p>
          <a:p>
            <a:pPr indent="-203200" lvl="0" marL="203200" rtl="0" algn="l">
              <a:lnSpc>
                <a:spcPct val="200000"/>
              </a:lnSpc>
              <a:spcBef>
                <a:spcPts val="0"/>
              </a:spcBef>
              <a:spcAft>
                <a:spcPts val="0"/>
              </a:spcAft>
              <a:buClr>
                <a:schemeClr val="dk1"/>
              </a:buClr>
              <a:buSzPts val="1100"/>
              <a:buFont typeface="Arial"/>
              <a:buNone/>
            </a:pPr>
            <a:r>
              <a:rPr lang="en" sz="1350">
                <a:solidFill>
                  <a:srgbClr val="0E0E0E"/>
                </a:solidFill>
                <a:latin typeface="Montserrat"/>
                <a:ea typeface="Montserrat"/>
                <a:cs typeface="Montserrat"/>
                <a:sym typeface="Montserrat"/>
              </a:rPr>
              <a:t>	2.	</a:t>
            </a:r>
            <a:r>
              <a:rPr b="1" lang="en" sz="1350">
                <a:solidFill>
                  <a:srgbClr val="0E0E0E"/>
                </a:solidFill>
                <a:latin typeface="Montserrat"/>
                <a:ea typeface="Montserrat"/>
                <a:cs typeface="Montserrat"/>
                <a:sym typeface="Montserrat"/>
              </a:rPr>
              <a:t>Knowledge Base</a:t>
            </a:r>
            <a:r>
              <a:rPr lang="en" sz="1350">
                <a:solidFill>
                  <a:srgbClr val="0E0E0E"/>
                </a:solidFill>
                <a:latin typeface="Montserrat"/>
                <a:ea typeface="Montserrat"/>
                <a:cs typeface="Montserrat"/>
                <a:sym typeface="Montserrat"/>
              </a:rPr>
              <a:t>: The chatbot searches its knowledge base to understand the prompt.</a:t>
            </a:r>
            <a:endParaRPr sz="1350">
              <a:solidFill>
                <a:srgbClr val="0E0E0E"/>
              </a:solidFill>
              <a:latin typeface="Montserrat"/>
              <a:ea typeface="Montserrat"/>
              <a:cs typeface="Montserrat"/>
              <a:sym typeface="Montserrat"/>
            </a:endParaRPr>
          </a:p>
          <a:p>
            <a:pPr indent="-203200" lvl="0" marL="203200" rtl="0" algn="l">
              <a:lnSpc>
                <a:spcPct val="200000"/>
              </a:lnSpc>
              <a:spcBef>
                <a:spcPts val="0"/>
              </a:spcBef>
              <a:spcAft>
                <a:spcPts val="0"/>
              </a:spcAft>
              <a:buClr>
                <a:schemeClr val="dk1"/>
              </a:buClr>
              <a:buSzPts val="1100"/>
              <a:buFont typeface="Arial"/>
              <a:buNone/>
            </a:pPr>
            <a:r>
              <a:rPr lang="en" sz="1350">
                <a:solidFill>
                  <a:srgbClr val="0E0E0E"/>
                </a:solidFill>
                <a:latin typeface="Montserrat"/>
                <a:ea typeface="Montserrat"/>
                <a:cs typeface="Montserrat"/>
                <a:sym typeface="Montserrat"/>
              </a:rPr>
              <a:t>	3.	</a:t>
            </a:r>
            <a:r>
              <a:rPr b="1" lang="en" sz="1350">
                <a:solidFill>
                  <a:srgbClr val="0E0E0E"/>
                </a:solidFill>
                <a:latin typeface="Montserrat"/>
                <a:ea typeface="Montserrat"/>
                <a:cs typeface="Montserrat"/>
                <a:sym typeface="Montserrat"/>
              </a:rPr>
              <a:t>LLM</a:t>
            </a:r>
            <a:r>
              <a:rPr lang="en" sz="1350">
                <a:solidFill>
                  <a:srgbClr val="0E0E0E"/>
                </a:solidFill>
                <a:latin typeface="Montserrat"/>
                <a:ea typeface="Montserrat"/>
                <a:cs typeface="Montserrat"/>
                <a:sym typeface="Montserrat"/>
              </a:rPr>
              <a:t>: The AI processes the prompt and uses the knowledge base to create an answer.</a:t>
            </a:r>
            <a:endParaRPr sz="1350">
              <a:solidFill>
                <a:srgbClr val="0E0E0E"/>
              </a:solidFill>
              <a:latin typeface="Montserrat"/>
              <a:ea typeface="Montserrat"/>
              <a:cs typeface="Montserrat"/>
              <a:sym typeface="Montserrat"/>
            </a:endParaRPr>
          </a:p>
          <a:p>
            <a:pPr indent="-203200" lvl="0" marL="203200" rtl="0" algn="l">
              <a:lnSpc>
                <a:spcPct val="200000"/>
              </a:lnSpc>
              <a:spcBef>
                <a:spcPts val="0"/>
              </a:spcBef>
              <a:spcAft>
                <a:spcPts val="0"/>
              </a:spcAft>
              <a:buClr>
                <a:schemeClr val="dk1"/>
              </a:buClr>
              <a:buSzPts val="1100"/>
              <a:buFont typeface="Arial"/>
              <a:buNone/>
            </a:pPr>
            <a:r>
              <a:rPr lang="en" sz="1350">
                <a:solidFill>
                  <a:srgbClr val="0E0E0E"/>
                </a:solidFill>
                <a:latin typeface="Montserrat"/>
                <a:ea typeface="Montserrat"/>
                <a:cs typeface="Montserrat"/>
                <a:sym typeface="Montserrat"/>
              </a:rPr>
              <a:t>	4.	</a:t>
            </a:r>
            <a:r>
              <a:rPr b="1" lang="en" sz="1350">
                <a:solidFill>
                  <a:srgbClr val="0E0E0E"/>
                </a:solidFill>
                <a:latin typeface="Montserrat"/>
                <a:ea typeface="Montserrat"/>
                <a:cs typeface="Montserrat"/>
                <a:sym typeface="Montserrat"/>
              </a:rPr>
              <a:t>Response</a:t>
            </a:r>
            <a:r>
              <a:rPr lang="en" sz="1350">
                <a:solidFill>
                  <a:srgbClr val="0E0E0E"/>
                </a:solidFill>
                <a:latin typeface="Montserrat"/>
                <a:ea typeface="Montserrat"/>
                <a:cs typeface="Montserrat"/>
                <a:sym typeface="Montserrat"/>
              </a:rPr>
              <a:t>: The chatbot provides the answer to the user.</a:t>
            </a:r>
            <a:endParaRPr sz="1350">
              <a:solidFill>
                <a:srgbClr val="0E0E0E"/>
              </a:solidFill>
              <a:latin typeface="Montserrat"/>
              <a:ea typeface="Montserrat"/>
              <a:cs typeface="Montserrat"/>
              <a:sym typeface="Montserrat"/>
            </a:endParaRPr>
          </a:p>
          <a:p>
            <a:pPr indent="0" lvl="0" marL="0" rtl="0" algn="l">
              <a:lnSpc>
                <a:spcPct val="200000"/>
              </a:lnSpc>
              <a:spcBef>
                <a:spcPts val="0"/>
              </a:spcBef>
              <a:spcAft>
                <a:spcPts val="1200"/>
              </a:spcAft>
              <a:buNone/>
            </a:pPr>
            <a:r>
              <a:t/>
            </a:r>
            <a:endParaRPr sz="2100"/>
          </a:p>
        </p:txBody>
      </p:sp>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High-level framework for our chatbot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But… token l</a:t>
            </a:r>
            <a:r>
              <a:rPr lang="en"/>
              <a:t>imitations</a:t>
            </a:r>
            <a:endParaRPr/>
          </a:p>
        </p:txBody>
      </p:sp>
      <p:sp>
        <p:nvSpPr>
          <p:cNvPr id="103" name="Google Shape;103;p20"/>
          <p:cNvSpPr txBox="1"/>
          <p:nvPr>
            <p:ph idx="1" type="body"/>
          </p:nvPr>
        </p:nvSpPr>
        <p:spPr>
          <a:xfrm>
            <a:off x="311700" y="1154475"/>
            <a:ext cx="8520600" cy="3416400"/>
          </a:xfrm>
          <a:prstGeom prst="rect">
            <a:avLst/>
          </a:prstGeom>
        </p:spPr>
        <p:txBody>
          <a:bodyPr anchorCtr="0" anchor="t" bIns="91425" lIns="91425" spcFirstLastPara="1" rIns="91425" wrap="square" tIns="91425">
            <a:normAutofit/>
          </a:bodyPr>
          <a:lstStyle/>
          <a:p>
            <a:pPr indent="-314325" lvl="0" marL="457200" rtl="0" algn="l">
              <a:lnSpc>
                <a:spcPct val="174000"/>
              </a:lnSpc>
              <a:spcBef>
                <a:spcPts val="0"/>
              </a:spcBef>
              <a:spcAft>
                <a:spcPts val="0"/>
              </a:spcAft>
              <a:buClr>
                <a:srgbClr val="222222"/>
              </a:buClr>
              <a:buSzPts val="1350"/>
              <a:buFont typeface="Verdana"/>
              <a:buChar char="●"/>
            </a:pPr>
            <a:r>
              <a:rPr lang="en" sz="1350">
                <a:solidFill>
                  <a:srgbClr val="222222"/>
                </a:solidFill>
                <a:latin typeface="Montserrat"/>
                <a:ea typeface="Montserrat"/>
                <a:cs typeface="Montserrat"/>
                <a:sym typeface="Montserrat"/>
              </a:rPr>
              <a:t>Every LLM has a </a:t>
            </a:r>
            <a:r>
              <a:rPr b="1" lang="en" sz="1350">
                <a:solidFill>
                  <a:srgbClr val="222222"/>
                </a:solidFill>
                <a:latin typeface="Montserrat"/>
                <a:ea typeface="Montserrat"/>
                <a:cs typeface="Montserrat"/>
                <a:sym typeface="Montserrat"/>
              </a:rPr>
              <a:t>token limit.</a:t>
            </a:r>
            <a:endParaRPr b="1" sz="1350">
              <a:solidFill>
                <a:srgbClr val="222222"/>
              </a:solidFill>
              <a:latin typeface="Montserrat"/>
              <a:ea typeface="Montserrat"/>
              <a:cs typeface="Montserrat"/>
              <a:sym typeface="Montserrat"/>
            </a:endParaRPr>
          </a:p>
          <a:p>
            <a:pPr indent="-314325" lvl="0" marL="457200" rtl="0" algn="l">
              <a:lnSpc>
                <a:spcPct val="174000"/>
              </a:lnSpc>
              <a:spcBef>
                <a:spcPts val="0"/>
              </a:spcBef>
              <a:spcAft>
                <a:spcPts val="0"/>
              </a:spcAft>
              <a:buClr>
                <a:srgbClr val="222222"/>
              </a:buClr>
              <a:buSzPts val="1350"/>
              <a:buFont typeface="Verdana"/>
              <a:buChar char="●"/>
            </a:pPr>
            <a:r>
              <a:rPr lang="en" sz="1350">
                <a:solidFill>
                  <a:srgbClr val="222222"/>
                </a:solidFill>
                <a:latin typeface="Montserrat"/>
                <a:ea typeface="Montserrat"/>
                <a:cs typeface="Montserrat"/>
                <a:sym typeface="Montserrat"/>
              </a:rPr>
              <a:t>This includes the </a:t>
            </a:r>
            <a:r>
              <a:rPr b="1" lang="en" sz="1350">
                <a:solidFill>
                  <a:srgbClr val="222222"/>
                </a:solidFill>
                <a:latin typeface="Montserrat"/>
                <a:ea typeface="Montserrat"/>
                <a:cs typeface="Montserrat"/>
                <a:sym typeface="Montserrat"/>
              </a:rPr>
              <a:t>document context, user prompt, </a:t>
            </a:r>
            <a:br>
              <a:rPr b="1" lang="en" sz="1350">
                <a:solidFill>
                  <a:srgbClr val="222222"/>
                </a:solidFill>
                <a:latin typeface="Montserrat"/>
                <a:ea typeface="Montserrat"/>
                <a:cs typeface="Montserrat"/>
                <a:sym typeface="Montserrat"/>
              </a:rPr>
            </a:br>
            <a:r>
              <a:rPr b="1" lang="en" sz="1350">
                <a:solidFill>
                  <a:srgbClr val="222222"/>
                </a:solidFill>
                <a:latin typeface="Montserrat"/>
                <a:ea typeface="Montserrat"/>
                <a:cs typeface="Montserrat"/>
                <a:sym typeface="Montserrat"/>
              </a:rPr>
              <a:t>and model’s response.</a:t>
            </a:r>
            <a:endParaRPr b="1" sz="1350">
              <a:solidFill>
                <a:srgbClr val="222222"/>
              </a:solidFill>
              <a:latin typeface="Montserrat"/>
              <a:ea typeface="Montserrat"/>
              <a:cs typeface="Montserrat"/>
              <a:sym typeface="Montserrat"/>
            </a:endParaRPr>
          </a:p>
          <a:p>
            <a:pPr indent="-314325" lvl="0" marL="457200" rtl="0" algn="l">
              <a:spcBef>
                <a:spcPts val="0"/>
              </a:spcBef>
              <a:spcAft>
                <a:spcPts val="0"/>
              </a:spcAft>
              <a:buClr>
                <a:srgbClr val="222222"/>
              </a:buClr>
              <a:buSzPts val="1350"/>
              <a:buFont typeface="Montserrat"/>
              <a:buChar char="●"/>
            </a:pPr>
            <a:r>
              <a:rPr lang="en" sz="1350">
                <a:solidFill>
                  <a:srgbClr val="0E0E0E"/>
                </a:solidFill>
                <a:latin typeface="Montserrat"/>
                <a:ea typeface="Montserrat"/>
                <a:cs typeface="Montserrat"/>
                <a:sym typeface="Montserrat"/>
              </a:rPr>
              <a:t>To get around the token limits, we use </a:t>
            </a:r>
            <a:r>
              <a:rPr b="1" lang="en" sz="1350">
                <a:solidFill>
                  <a:srgbClr val="0E0E0E"/>
                </a:solidFill>
                <a:latin typeface="Montserrat"/>
                <a:ea typeface="Montserrat"/>
                <a:cs typeface="Montserrat"/>
                <a:sym typeface="Montserrat"/>
              </a:rPr>
              <a:t>chunking.</a:t>
            </a:r>
            <a:endParaRPr b="1" sz="1350">
              <a:solidFill>
                <a:srgbClr val="222222"/>
              </a:solidFill>
              <a:latin typeface="Verdana"/>
              <a:ea typeface="Verdana"/>
              <a:cs typeface="Verdana"/>
              <a:sym typeface="Verdana"/>
            </a:endParaRPr>
          </a:p>
        </p:txBody>
      </p:sp>
      <p:pic>
        <p:nvPicPr>
          <p:cNvPr id="104" name="Google Shape;104;p20"/>
          <p:cNvPicPr preferRelativeResize="0"/>
          <p:nvPr/>
        </p:nvPicPr>
        <p:blipFill rotWithShape="1">
          <a:blip r:embed="rId3">
            <a:alphaModFix/>
          </a:blip>
          <a:srcRect b="1759" l="514" r="465" t="2077"/>
          <a:stretch/>
        </p:blipFill>
        <p:spPr>
          <a:xfrm>
            <a:off x="3267875" y="2806825"/>
            <a:ext cx="4843575" cy="1692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idx="1" type="body"/>
          </p:nvPr>
        </p:nvSpPr>
        <p:spPr>
          <a:xfrm>
            <a:off x="311700" y="1176550"/>
            <a:ext cx="8520600" cy="3416400"/>
          </a:xfrm>
          <a:prstGeom prst="rect">
            <a:avLst/>
          </a:prstGeom>
        </p:spPr>
        <p:txBody>
          <a:bodyPr anchorCtr="0" anchor="t" bIns="91425" lIns="91425" spcFirstLastPara="1" rIns="91425" wrap="square" tIns="91425">
            <a:normAutofit/>
          </a:bodyPr>
          <a:lstStyle/>
          <a:p>
            <a:pPr indent="-314325" lvl="0" marL="4572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The user enters a prompt.</a:t>
            </a:r>
            <a:endParaRPr sz="1350">
              <a:solidFill>
                <a:srgbClr val="0E0E0E"/>
              </a:solidFill>
              <a:latin typeface="Montserrat"/>
              <a:ea typeface="Montserrat"/>
              <a:cs typeface="Montserrat"/>
              <a:sym typeface="Montserrat"/>
            </a:endParaRPr>
          </a:p>
          <a:p>
            <a:pPr indent="-314325" lvl="0" marL="4572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Break the knowledge base into smaller chunks.</a:t>
            </a:r>
            <a:endParaRPr sz="1350">
              <a:solidFill>
                <a:srgbClr val="0E0E0E"/>
              </a:solidFill>
              <a:latin typeface="Montserrat"/>
              <a:ea typeface="Montserrat"/>
              <a:cs typeface="Montserrat"/>
              <a:sym typeface="Montserrat"/>
            </a:endParaRPr>
          </a:p>
          <a:p>
            <a:pPr indent="-314325" lvl="0" marL="4572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Retrieve the most relevant chunks based on the user’s prompt.</a:t>
            </a:r>
            <a:endParaRPr sz="1350">
              <a:solidFill>
                <a:srgbClr val="0E0E0E"/>
              </a:solidFill>
              <a:latin typeface="Montserrat"/>
              <a:ea typeface="Montserrat"/>
              <a:cs typeface="Montserrat"/>
              <a:sym typeface="Montserrat"/>
            </a:endParaRPr>
          </a:p>
          <a:p>
            <a:pPr indent="-314325" lvl="0" marL="4572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Create a new prompt that includes the user’s question and the relevant context.</a:t>
            </a:r>
            <a:endParaRPr sz="1350">
              <a:solidFill>
                <a:srgbClr val="0E0E0E"/>
              </a:solidFill>
              <a:latin typeface="Montserrat"/>
              <a:ea typeface="Montserrat"/>
              <a:cs typeface="Montserrat"/>
              <a:sym typeface="Montserrat"/>
            </a:endParaRPr>
          </a:p>
          <a:p>
            <a:pPr indent="-314325" lvl="0" marL="4572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Feed the new prompt to the language model.</a:t>
            </a:r>
            <a:endParaRPr sz="1350">
              <a:solidFill>
                <a:srgbClr val="0E0E0E"/>
              </a:solidFill>
              <a:latin typeface="Montserrat"/>
              <a:ea typeface="Montserrat"/>
              <a:cs typeface="Montserrat"/>
              <a:sym typeface="Montserrat"/>
            </a:endParaRPr>
          </a:p>
          <a:p>
            <a:pPr indent="-314325" lvl="0" marL="4572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Return the generated answer to the user.</a:t>
            </a:r>
            <a:endParaRPr sz="1350"/>
          </a:p>
        </p:txBody>
      </p:sp>
      <p:sp>
        <p:nvSpPr>
          <p:cNvPr id="110" name="Google Shape;110;p21"/>
          <p:cNvSpPr txBox="1"/>
          <p:nvPr>
            <p:ph type="title"/>
          </p:nvPr>
        </p:nvSpPr>
        <p:spPr>
          <a:xfrm>
            <a:off x="311700" y="437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t>
            </a:r>
            <a:r>
              <a:rPr lang="en"/>
              <a:t>igh-level framework for our chatbot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1527325" y="882250"/>
            <a:ext cx="6089350" cy="3805850"/>
          </a:xfrm>
          <a:prstGeom prst="rect">
            <a:avLst/>
          </a:prstGeom>
          <a:noFill/>
          <a:ln>
            <a:noFill/>
          </a:ln>
        </p:spPr>
      </p:pic>
      <p:sp>
        <p:nvSpPr>
          <p:cNvPr id="116" name="Google Shape;116;p22"/>
          <p:cNvSpPr txBox="1"/>
          <p:nvPr>
            <p:ph type="title"/>
          </p:nvPr>
        </p:nvSpPr>
        <p:spPr>
          <a:xfrm>
            <a:off x="311700" y="437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High-level framework for our chatbot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23"/>
          <p:cNvPicPr preferRelativeResize="0"/>
          <p:nvPr/>
        </p:nvPicPr>
        <p:blipFill rotWithShape="1">
          <a:blip r:embed="rId3">
            <a:alphaModFix/>
          </a:blip>
          <a:srcRect b="0" l="0" r="0" t="13770"/>
          <a:stretch/>
        </p:blipFill>
        <p:spPr>
          <a:xfrm>
            <a:off x="-362803" y="1372400"/>
            <a:ext cx="5297750" cy="2489975"/>
          </a:xfrm>
          <a:prstGeom prst="rect">
            <a:avLst/>
          </a:prstGeom>
          <a:noFill/>
          <a:ln>
            <a:noFill/>
          </a:ln>
        </p:spPr>
      </p:pic>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Embeddings visualized</a:t>
            </a:r>
            <a:endParaRPr/>
          </a:p>
        </p:txBody>
      </p:sp>
      <p:pic>
        <p:nvPicPr>
          <p:cNvPr id="123" name="Google Shape;123;p23"/>
          <p:cNvPicPr preferRelativeResize="0"/>
          <p:nvPr/>
        </p:nvPicPr>
        <p:blipFill>
          <a:blip r:embed="rId4">
            <a:alphaModFix/>
          </a:blip>
          <a:stretch>
            <a:fillRect/>
          </a:stretch>
        </p:blipFill>
        <p:spPr>
          <a:xfrm>
            <a:off x="4973522" y="1333925"/>
            <a:ext cx="3904253" cy="2566919"/>
          </a:xfrm>
          <a:prstGeom prst="rect">
            <a:avLst/>
          </a:prstGeom>
          <a:noFill/>
          <a:ln>
            <a:noFill/>
          </a:ln>
        </p:spPr>
      </p:pic>
      <p:cxnSp>
        <p:nvCxnSpPr>
          <p:cNvPr id="124" name="Google Shape;124;p23"/>
          <p:cNvCxnSpPr/>
          <p:nvPr/>
        </p:nvCxnSpPr>
        <p:spPr>
          <a:xfrm>
            <a:off x="4684250" y="1223000"/>
            <a:ext cx="0" cy="30804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Embeddings </a:t>
            </a:r>
            <a:endParaRPr/>
          </a:p>
        </p:txBody>
      </p:sp>
      <p:sp>
        <p:nvSpPr>
          <p:cNvPr id="130" name="Google Shape;130;p24"/>
          <p:cNvSpPr txBox="1"/>
          <p:nvPr>
            <p:ph idx="1" type="body"/>
          </p:nvPr>
        </p:nvSpPr>
        <p:spPr>
          <a:xfrm>
            <a:off x="311700" y="1195575"/>
            <a:ext cx="8520600" cy="3416400"/>
          </a:xfrm>
          <a:prstGeom prst="rect">
            <a:avLst/>
          </a:prstGeom>
        </p:spPr>
        <p:txBody>
          <a:bodyPr anchorCtr="0" anchor="t" bIns="91425" lIns="91425" spcFirstLastPara="1" rIns="91425" wrap="square" tIns="91425">
            <a:normAutofit/>
          </a:bodyPr>
          <a:lstStyle/>
          <a:p>
            <a:pPr indent="-314325" lvl="0" marL="9144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Words or phrases that have similar meanings or contexts will be positioned close to each other.</a:t>
            </a:r>
            <a:endParaRPr sz="1350">
              <a:solidFill>
                <a:srgbClr val="0E0E0E"/>
              </a:solidFill>
              <a:latin typeface="Montserrat"/>
              <a:ea typeface="Montserrat"/>
              <a:cs typeface="Montserrat"/>
              <a:sym typeface="Montserrat"/>
            </a:endParaRPr>
          </a:p>
          <a:p>
            <a:pPr indent="-314325" lvl="0" marL="9144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The further apart two points are, the less similar their meanings are.</a:t>
            </a:r>
            <a:endParaRPr sz="1350">
              <a:solidFill>
                <a:srgbClr val="0E0E0E"/>
              </a:solidFill>
              <a:latin typeface="Montserrat"/>
              <a:ea typeface="Montserrat"/>
              <a:cs typeface="Montserrat"/>
              <a:sym typeface="Montserrat"/>
            </a:endParaRPr>
          </a:p>
          <a:p>
            <a:pPr indent="-314325" lvl="0" marL="9144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All the words or phrases are given an embedding vector. </a:t>
            </a:r>
            <a:endParaRPr sz="1350">
              <a:solidFill>
                <a:srgbClr val="0E0E0E"/>
              </a:solidFill>
              <a:latin typeface="Montserrat"/>
              <a:ea typeface="Montserrat"/>
              <a:cs typeface="Montserrat"/>
              <a:sym typeface="Montserrat"/>
            </a:endParaRPr>
          </a:p>
          <a:p>
            <a:pPr indent="-314325" lvl="0" marL="914400" rtl="0" algn="l">
              <a:lnSpc>
                <a:spcPct val="200000"/>
              </a:lnSpc>
              <a:spcBef>
                <a:spcPts val="0"/>
              </a:spcBef>
              <a:spcAft>
                <a:spcPts val="0"/>
              </a:spcAft>
              <a:buClr>
                <a:srgbClr val="0E0E0E"/>
              </a:buClr>
              <a:buSzPts val="1350"/>
              <a:buFont typeface="Montserrat"/>
              <a:buChar char="●"/>
            </a:pPr>
            <a:r>
              <a:rPr lang="en" sz="1350">
                <a:solidFill>
                  <a:srgbClr val="0E0E0E"/>
                </a:solidFill>
                <a:latin typeface="Montserrat"/>
                <a:ea typeface="Montserrat"/>
                <a:cs typeface="Montserrat"/>
                <a:sym typeface="Montserrat"/>
              </a:rPr>
              <a:t>By comparing the distance between two embedding vectors, you can measure how similar their meanings are.</a:t>
            </a:r>
            <a:endParaRPr sz="1350">
              <a:solidFill>
                <a:srgbClr val="0E0E0E"/>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5"/>
          <p:cNvPicPr preferRelativeResize="0"/>
          <p:nvPr/>
        </p:nvPicPr>
        <p:blipFill>
          <a:blip r:embed="rId3">
            <a:alphaModFix/>
          </a:blip>
          <a:stretch>
            <a:fillRect/>
          </a:stretch>
        </p:blipFill>
        <p:spPr>
          <a:xfrm>
            <a:off x="2846125" y="1010599"/>
            <a:ext cx="6269401" cy="3918375"/>
          </a:xfrm>
          <a:prstGeom prst="rect">
            <a:avLst/>
          </a:prstGeom>
          <a:noFill/>
          <a:ln>
            <a:noFill/>
          </a:ln>
        </p:spPr>
      </p:pic>
      <p:sp>
        <p:nvSpPr>
          <p:cNvPr id="136" name="Google Shape;136;p25"/>
          <p:cNvSpPr txBox="1"/>
          <p:nvPr>
            <p:ph type="title"/>
          </p:nvPr>
        </p:nvSpPr>
        <p:spPr>
          <a:xfrm>
            <a:off x="311700" y="437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High-level framework for our chatbot</a:t>
            </a:r>
            <a:endParaRPr/>
          </a:p>
        </p:txBody>
      </p:sp>
      <p:sp>
        <p:nvSpPr>
          <p:cNvPr id="137" name="Google Shape;137;p25"/>
          <p:cNvSpPr txBox="1"/>
          <p:nvPr>
            <p:ph idx="1" type="body"/>
          </p:nvPr>
        </p:nvSpPr>
        <p:spPr>
          <a:xfrm>
            <a:off x="311700" y="1152475"/>
            <a:ext cx="8513100" cy="3416400"/>
          </a:xfrm>
          <a:prstGeom prst="rect">
            <a:avLst/>
          </a:prstGeom>
        </p:spPr>
        <p:txBody>
          <a:bodyPr anchorCtr="0" anchor="ctr" bIns="91425" lIns="91425" spcFirstLastPara="1" rIns="91425" wrap="square" tIns="91425">
            <a:normAutofit/>
          </a:bodyPr>
          <a:lstStyle/>
          <a:p>
            <a:pPr indent="-311150" lvl="0" marL="457200" rtl="0" algn="l">
              <a:lnSpc>
                <a:spcPct val="200000"/>
              </a:lnSpc>
              <a:spcBef>
                <a:spcPts val="0"/>
              </a:spcBef>
              <a:spcAft>
                <a:spcPts val="0"/>
              </a:spcAft>
              <a:buClr>
                <a:srgbClr val="0E0E0E"/>
              </a:buClr>
              <a:buSzPts val="1300"/>
              <a:buFont typeface="Montserrat"/>
              <a:buAutoNum type="arabicPeriod"/>
            </a:pPr>
            <a:r>
              <a:rPr b="1" lang="en" sz="1300">
                <a:solidFill>
                  <a:srgbClr val="0E0E0E"/>
                </a:solidFill>
                <a:latin typeface="Montserrat"/>
                <a:ea typeface="Montserrat"/>
                <a:cs typeface="Montserrat"/>
                <a:sym typeface="Montserrat"/>
              </a:rPr>
              <a:t>Chunking</a:t>
            </a:r>
            <a:endParaRPr b="1" sz="1300">
              <a:solidFill>
                <a:srgbClr val="0E0E0E"/>
              </a:solidFill>
              <a:latin typeface="Montserrat"/>
              <a:ea typeface="Montserrat"/>
              <a:cs typeface="Montserrat"/>
              <a:sym typeface="Montserrat"/>
            </a:endParaRPr>
          </a:p>
          <a:p>
            <a:pPr indent="-311150" lvl="0" marL="457200" rtl="0" algn="l">
              <a:lnSpc>
                <a:spcPct val="200000"/>
              </a:lnSpc>
              <a:spcBef>
                <a:spcPts val="0"/>
              </a:spcBef>
              <a:spcAft>
                <a:spcPts val="0"/>
              </a:spcAft>
              <a:buClr>
                <a:srgbClr val="0E0E0E"/>
              </a:buClr>
              <a:buSzPts val="1300"/>
              <a:buFont typeface="Montserrat"/>
              <a:buAutoNum type="arabicPeriod"/>
            </a:pPr>
            <a:r>
              <a:rPr b="1" lang="en" sz="1300">
                <a:solidFill>
                  <a:srgbClr val="0E0E0E"/>
                </a:solidFill>
                <a:latin typeface="Montserrat"/>
                <a:ea typeface="Montserrat"/>
                <a:cs typeface="Montserrat"/>
                <a:sym typeface="Montserrat"/>
              </a:rPr>
              <a:t>Vector Database</a:t>
            </a:r>
            <a:endParaRPr b="1" sz="1300">
              <a:solidFill>
                <a:srgbClr val="0E0E0E"/>
              </a:solidFill>
              <a:latin typeface="Montserrat"/>
              <a:ea typeface="Montserrat"/>
              <a:cs typeface="Montserrat"/>
              <a:sym typeface="Montserrat"/>
            </a:endParaRPr>
          </a:p>
          <a:p>
            <a:pPr indent="-311150" lvl="0" marL="457200" rtl="0" algn="l">
              <a:lnSpc>
                <a:spcPct val="200000"/>
              </a:lnSpc>
              <a:spcBef>
                <a:spcPts val="0"/>
              </a:spcBef>
              <a:spcAft>
                <a:spcPts val="0"/>
              </a:spcAft>
              <a:buClr>
                <a:srgbClr val="0E0E0E"/>
              </a:buClr>
              <a:buSzPts val="1300"/>
              <a:buFont typeface="Montserrat"/>
              <a:buAutoNum type="arabicPeriod"/>
            </a:pPr>
            <a:r>
              <a:rPr b="1" lang="en" sz="1300">
                <a:solidFill>
                  <a:srgbClr val="0E0E0E"/>
                </a:solidFill>
                <a:latin typeface="Montserrat"/>
                <a:ea typeface="Montserrat"/>
                <a:cs typeface="Montserrat"/>
                <a:sym typeface="Montserrat"/>
              </a:rPr>
              <a:t>Retrieving Information</a:t>
            </a:r>
            <a:endParaRPr b="1" sz="1300">
              <a:solidFill>
                <a:srgbClr val="0E0E0E"/>
              </a:solidFill>
              <a:latin typeface="Montserrat"/>
              <a:ea typeface="Montserrat"/>
              <a:cs typeface="Montserrat"/>
              <a:sym typeface="Montserrat"/>
            </a:endParaRPr>
          </a:p>
          <a:p>
            <a:pPr indent="-311150" lvl="0" marL="457200" rtl="0" algn="l">
              <a:lnSpc>
                <a:spcPct val="200000"/>
              </a:lnSpc>
              <a:spcBef>
                <a:spcPts val="0"/>
              </a:spcBef>
              <a:spcAft>
                <a:spcPts val="0"/>
              </a:spcAft>
              <a:buClr>
                <a:srgbClr val="0E0E0E"/>
              </a:buClr>
              <a:buSzPts val="1300"/>
              <a:buFont typeface="Montserrat"/>
              <a:buAutoNum type="arabicPeriod"/>
            </a:pPr>
            <a:r>
              <a:rPr b="1" lang="en" sz="1300">
                <a:solidFill>
                  <a:srgbClr val="0E0E0E"/>
                </a:solidFill>
                <a:latin typeface="Montserrat"/>
                <a:ea typeface="Montserrat"/>
                <a:cs typeface="Montserrat"/>
                <a:sym typeface="Montserrat"/>
              </a:rPr>
              <a:t>Generating an Answer</a:t>
            </a:r>
            <a:endParaRPr sz="1300">
              <a:solidFill>
                <a:srgbClr val="0E0E0E"/>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Prompt Engineering</a:t>
            </a:r>
            <a:endParaRPr/>
          </a:p>
        </p:txBody>
      </p:sp>
      <p:sp>
        <p:nvSpPr>
          <p:cNvPr id="143" name="Google Shape;143;p26"/>
          <p:cNvSpPr txBox="1"/>
          <p:nvPr>
            <p:ph idx="1" type="body"/>
          </p:nvPr>
        </p:nvSpPr>
        <p:spPr>
          <a:xfrm>
            <a:off x="311700" y="1423450"/>
            <a:ext cx="8520600" cy="3416400"/>
          </a:xfrm>
          <a:prstGeom prst="rect">
            <a:avLst/>
          </a:prstGeom>
        </p:spPr>
        <p:txBody>
          <a:bodyPr anchorCtr="0" anchor="t" bIns="91425" lIns="91425" spcFirstLastPara="1" rIns="91425" wrap="square" tIns="91425">
            <a:normAutofit/>
          </a:bodyPr>
          <a:lstStyle/>
          <a:p>
            <a:pPr indent="-127000" lvl="0" marL="127000" rtl="0" algn="l">
              <a:lnSpc>
                <a:spcPct val="200000"/>
              </a:lnSpc>
              <a:spcBef>
                <a:spcPts val="0"/>
              </a:spcBef>
              <a:spcAft>
                <a:spcPts val="0"/>
              </a:spcAft>
              <a:buNone/>
            </a:pPr>
            <a:r>
              <a:rPr lang="en" sz="1350">
                <a:solidFill>
                  <a:srgbClr val="0E0E0E"/>
                </a:solidFill>
                <a:latin typeface="Montserrat"/>
                <a:ea typeface="Montserrat"/>
                <a:cs typeface="Montserrat"/>
                <a:sym typeface="Montserrat"/>
              </a:rPr>
              <a:t>	•	</a:t>
            </a:r>
            <a:r>
              <a:rPr b="1" lang="en" sz="1350">
                <a:solidFill>
                  <a:srgbClr val="0E0E0E"/>
                </a:solidFill>
                <a:latin typeface="Montserrat"/>
                <a:ea typeface="Montserrat"/>
                <a:cs typeface="Montserrat"/>
                <a:sym typeface="Montserrat"/>
              </a:rPr>
              <a:t>Conversational prompting</a:t>
            </a:r>
            <a:r>
              <a:rPr lang="en" sz="1350">
                <a:solidFill>
                  <a:srgbClr val="0E0E0E"/>
                </a:solidFill>
                <a:latin typeface="Montserrat"/>
                <a:ea typeface="Montserrat"/>
                <a:cs typeface="Montserrat"/>
                <a:sym typeface="Montserrat"/>
              </a:rPr>
              <a:t>: Best for personal use and small tasks with dynamic interactions, like chatting with virtual assistants.</a:t>
            </a:r>
            <a:endParaRPr sz="1350">
              <a:solidFill>
                <a:srgbClr val="0E0E0E"/>
              </a:solidFill>
              <a:latin typeface="Montserrat"/>
              <a:ea typeface="Montserrat"/>
              <a:cs typeface="Montserrat"/>
              <a:sym typeface="Montserrat"/>
            </a:endParaRPr>
          </a:p>
          <a:p>
            <a:pPr indent="-127000" lvl="0" marL="127000" rtl="0" algn="l">
              <a:lnSpc>
                <a:spcPct val="200000"/>
              </a:lnSpc>
              <a:spcBef>
                <a:spcPts val="0"/>
              </a:spcBef>
              <a:spcAft>
                <a:spcPts val="0"/>
              </a:spcAft>
              <a:buClr>
                <a:schemeClr val="dk1"/>
              </a:buClr>
              <a:buSzPts val="1100"/>
              <a:buFont typeface="Arial"/>
              <a:buNone/>
            </a:pPr>
            <a:r>
              <a:t/>
            </a:r>
            <a:endParaRPr sz="1350">
              <a:solidFill>
                <a:srgbClr val="0E0E0E"/>
              </a:solidFill>
              <a:latin typeface="Montserrat"/>
              <a:ea typeface="Montserrat"/>
              <a:cs typeface="Montserrat"/>
              <a:sym typeface="Montserrat"/>
            </a:endParaRPr>
          </a:p>
          <a:p>
            <a:pPr indent="-127000" lvl="0" marL="127000" rtl="0" algn="l">
              <a:lnSpc>
                <a:spcPct val="200000"/>
              </a:lnSpc>
              <a:spcBef>
                <a:spcPts val="0"/>
              </a:spcBef>
              <a:spcAft>
                <a:spcPts val="0"/>
              </a:spcAft>
              <a:buClr>
                <a:schemeClr val="dk1"/>
              </a:buClr>
              <a:buSzPts val="1100"/>
              <a:buFont typeface="Arial"/>
              <a:buNone/>
            </a:pPr>
            <a:r>
              <a:rPr lang="en" sz="1350">
                <a:solidFill>
                  <a:srgbClr val="0E0E0E"/>
                </a:solidFill>
                <a:latin typeface="Montserrat"/>
                <a:ea typeface="Montserrat"/>
                <a:cs typeface="Montserrat"/>
                <a:sym typeface="Montserrat"/>
              </a:rPr>
              <a:t>	•	</a:t>
            </a:r>
            <a:r>
              <a:rPr b="1" lang="en" sz="1350">
                <a:solidFill>
                  <a:srgbClr val="0E0E0E"/>
                </a:solidFill>
                <a:latin typeface="Montserrat"/>
                <a:ea typeface="Montserrat"/>
                <a:cs typeface="Montserrat"/>
                <a:sym typeface="Montserrat"/>
              </a:rPr>
              <a:t>Single-shot prompting</a:t>
            </a:r>
            <a:r>
              <a:rPr lang="en" sz="1350">
                <a:solidFill>
                  <a:srgbClr val="0E0E0E"/>
                </a:solidFill>
                <a:latin typeface="Montserrat"/>
                <a:ea typeface="Montserrat"/>
                <a:cs typeface="Montserrat"/>
                <a:sym typeface="Montserrat"/>
              </a:rPr>
              <a:t>: Key for automating systems and scalable AI solutions, handling complex tasks efficiently without follow-ups.</a:t>
            </a:r>
            <a:endParaRPr sz="1350">
              <a:solidFill>
                <a:srgbClr val="0E0E0E"/>
              </a:solidFill>
              <a:latin typeface="Montserrat"/>
              <a:ea typeface="Montserrat"/>
              <a:cs typeface="Montserrat"/>
              <a:sym typeface="Montserrat"/>
            </a:endParaRPr>
          </a:p>
          <a:p>
            <a:pPr indent="0" lvl="0" marL="0" rtl="0" algn="l">
              <a:lnSpc>
                <a:spcPct val="200000"/>
              </a:lnSpc>
              <a:spcBef>
                <a:spcPts val="0"/>
              </a:spcBef>
              <a:spcAft>
                <a:spcPts val="1200"/>
              </a:spcAft>
              <a:buNone/>
            </a:pPr>
            <a:r>
              <a:t/>
            </a:r>
            <a:endParaRPr sz="135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p:nvPr/>
        </p:nvSpPr>
        <p:spPr>
          <a:xfrm>
            <a:off x="1014650" y="897550"/>
            <a:ext cx="2536500" cy="376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Montserrat SemiBold"/>
              <a:ea typeface="Montserrat SemiBold"/>
              <a:cs typeface="Montserrat SemiBold"/>
              <a:sym typeface="Montserrat SemiBold"/>
            </a:endParaRPr>
          </a:p>
        </p:txBody>
      </p:sp>
      <p:sp>
        <p:nvSpPr>
          <p:cNvPr id="149" name="Google Shape;149;p27"/>
          <p:cNvSpPr/>
          <p:nvPr/>
        </p:nvSpPr>
        <p:spPr>
          <a:xfrm>
            <a:off x="1069461" y="998510"/>
            <a:ext cx="2427000" cy="3648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Montserrat SemiBold"/>
              <a:ea typeface="Montserrat SemiBold"/>
              <a:cs typeface="Montserrat SemiBold"/>
              <a:sym typeface="Montserrat SemiBold"/>
            </a:endParaRPr>
          </a:p>
        </p:txBody>
      </p:sp>
      <p:sp>
        <p:nvSpPr>
          <p:cNvPr id="150" name="Google Shape;150;p27"/>
          <p:cNvSpPr/>
          <p:nvPr/>
        </p:nvSpPr>
        <p:spPr>
          <a:xfrm>
            <a:off x="1069461" y="1421156"/>
            <a:ext cx="2427000" cy="523200"/>
          </a:xfrm>
          <a:prstGeom prst="roundRect">
            <a:avLst>
              <a:gd fmla="val 16667" name="adj"/>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Montserrat SemiBold"/>
              <a:ea typeface="Montserrat SemiBold"/>
              <a:cs typeface="Montserrat SemiBold"/>
              <a:sym typeface="Montserrat SemiBold"/>
            </a:endParaRPr>
          </a:p>
        </p:txBody>
      </p:sp>
      <p:sp>
        <p:nvSpPr>
          <p:cNvPr id="151" name="Google Shape;151;p27"/>
          <p:cNvSpPr/>
          <p:nvPr/>
        </p:nvSpPr>
        <p:spPr>
          <a:xfrm>
            <a:off x="1069461" y="2002240"/>
            <a:ext cx="2427000" cy="2997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Montserrat SemiBold"/>
              <a:ea typeface="Montserrat SemiBold"/>
              <a:cs typeface="Montserrat SemiBold"/>
              <a:sym typeface="Montserrat SemiBold"/>
            </a:endParaRPr>
          </a:p>
        </p:txBody>
      </p:sp>
      <p:sp>
        <p:nvSpPr>
          <p:cNvPr id="152" name="Google Shape;152;p27"/>
          <p:cNvSpPr/>
          <p:nvPr/>
        </p:nvSpPr>
        <p:spPr>
          <a:xfrm>
            <a:off x="1069461" y="2359892"/>
            <a:ext cx="2427000" cy="462300"/>
          </a:xfrm>
          <a:prstGeom prst="roundRect">
            <a:avLst>
              <a:gd fmla="val 16667" name="adj"/>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Montserrat SemiBold"/>
              <a:ea typeface="Montserrat SemiBold"/>
              <a:cs typeface="Montserrat SemiBold"/>
              <a:sym typeface="Montserrat SemiBold"/>
            </a:endParaRPr>
          </a:p>
        </p:txBody>
      </p:sp>
      <p:sp>
        <p:nvSpPr>
          <p:cNvPr id="153" name="Google Shape;153;p27"/>
          <p:cNvSpPr/>
          <p:nvPr/>
        </p:nvSpPr>
        <p:spPr>
          <a:xfrm>
            <a:off x="1069461" y="2912502"/>
            <a:ext cx="2427000" cy="9852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Montserrat SemiBold"/>
              <a:ea typeface="Montserrat SemiBold"/>
              <a:cs typeface="Montserrat SemiBold"/>
              <a:sym typeface="Montserrat SemiBold"/>
            </a:endParaRPr>
          </a:p>
        </p:txBody>
      </p:sp>
      <p:sp>
        <p:nvSpPr>
          <p:cNvPr id="154" name="Google Shape;154;p27"/>
          <p:cNvSpPr/>
          <p:nvPr/>
        </p:nvSpPr>
        <p:spPr>
          <a:xfrm>
            <a:off x="1069461" y="3988026"/>
            <a:ext cx="2427000" cy="4623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Montserrat SemiBold"/>
              <a:ea typeface="Montserrat SemiBold"/>
              <a:cs typeface="Montserrat SemiBold"/>
              <a:sym typeface="Montserrat SemiBold"/>
            </a:endParaRPr>
          </a:p>
        </p:txBody>
      </p:sp>
      <p:sp>
        <p:nvSpPr>
          <p:cNvPr id="155" name="Google Shape;155;p27"/>
          <p:cNvSpPr txBox="1"/>
          <p:nvPr/>
        </p:nvSpPr>
        <p:spPr>
          <a:xfrm>
            <a:off x="1069461" y="964579"/>
            <a:ext cx="2427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accent2"/>
                </a:solidFill>
                <a:latin typeface="Montserrat"/>
                <a:ea typeface="Montserrat"/>
                <a:cs typeface="Montserrat"/>
                <a:sym typeface="Montserrat"/>
              </a:rPr>
              <a:t>Role</a:t>
            </a:r>
            <a:endParaRPr b="1" sz="1500">
              <a:solidFill>
                <a:schemeClr val="accent2"/>
              </a:solidFill>
              <a:latin typeface="Montserrat"/>
              <a:ea typeface="Montserrat"/>
              <a:cs typeface="Montserrat"/>
              <a:sym typeface="Montserrat"/>
            </a:endParaRPr>
          </a:p>
        </p:txBody>
      </p:sp>
      <p:sp>
        <p:nvSpPr>
          <p:cNvPr id="156" name="Google Shape;156;p27"/>
          <p:cNvSpPr txBox="1"/>
          <p:nvPr/>
        </p:nvSpPr>
        <p:spPr>
          <a:xfrm>
            <a:off x="1069461" y="1469150"/>
            <a:ext cx="2427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accent2"/>
                </a:solidFill>
                <a:latin typeface="Montserrat"/>
                <a:ea typeface="Montserrat"/>
                <a:cs typeface="Montserrat"/>
                <a:sym typeface="Montserrat"/>
              </a:rPr>
              <a:t>Task</a:t>
            </a:r>
            <a:endParaRPr b="1" sz="1500">
              <a:solidFill>
                <a:schemeClr val="accent2"/>
              </a:solidFill>
              <a:latin typeface="Montserrat"/>
              <a:ea typeface="Montserrat"/>
              <a:cs typeface="Montserrat"/>
              <a:sym typeface="Montserrat"/>
            </a:endParaRPr>
          </a:p>
        </p:txBody>
      </p:sp>
      <p:sp>
        <p:nvSpPr>
          <p:cNvPr id="157" name="Google Shape;157;p27"/>
          <p:cNvSpPr txBox="1"/>
          <p:nvPr/>
        </p:nvSpPr>
        <p:spPr>
          <a:xfrm>
            <a:off x="1069461" y="1938541"/>
            <a:ext cx="2427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accent2"/>
                </a:solidFill>
                <a:latin typeface="Montserrat"/>
                <a:ea typeface="Montserrat"/>
                <a:cs typeface="Montserrat"/>
                <a:sym typeface="Montserrat"/>
              </a:rPr>
              <a:t>Specifics</a:t>
            </a:r>
            <a:endParaRPr b="1" sz="1500">
              <a:solidFill>
                <a:schemeClr val="accent2"/>
              </a:solidFill>
              <a:latin typeface="Montserrat"/>
              <a:ea typeface="Montserrat"/>
              <a:cs typeface="Montserrat"/>
              <a:sym typeface="Montserrat"/>
            </a:endParaRPr>
          </a:p>
        </p:txBody>
      </p:sp>
      <p:sp>
        <p:nvSpPr>
          <p:cNvPr id="158" name="Google Shape;158;p27"/>
          <p:cNvSpPr txBox="1"/>
          <p:nvPr/>
        </p:nvSpPr>
        <p:spPr>
          <a:xfrm>
            <a:off x="1069461" y="2393672"/>
            <a:ext cx="2427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accent2"/>
                </a:solidFill>
                <a:latin typeface="Montserrat"/>
                <a:ea typeface="Montserrat"/>
                <a:cs typeface="Montserrat"/>
                <a:sym typeface="Montserrat"/>
              </a:rPr>
              <a:t>Context</a:t>
            </a:r>
            <a:endParaRPr b="1" sz="1500">
              <a:solidFill>
                <a:schemeClr val="accent2"/>
              </a:solidFill>
              <a:latin typeface="Montserrat"/>
              <a:ea typeface="Montserrat"/>
              <a:cs typeface="Montserrat"/>
              <a:sym typeface="Montserrat"/>
            </a:endParaRPr>
          </a:p>
        </p:txBody>
      </p:sp>
      <p:sp>
        <p:nvSpPr>
          <p:cNvPr id="159" name="Google Shape;159;p27"/>
          <p:cNvSpPr txBox="1"/>
          <p:nvPr/>
        </p:nvSpPr>
        <p:spPr>
          <a:xfrm>
            <a:off x="1069461" y="3191583"/>
            <a:ext cx="2427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accent2"/>
                </a:solidFill>
                <a:latin typeface="Montserrat"/>
                <a:ea typeface="Montserrat"/>
                <a:cs typeface="Montserrat"/>
                <a:sym typeface="Montserrat"/>
              </a:rPr>
              <a:t>Examples</a:t>
            </a:r>
            <a:endParaRPr b="1" sz="1500">
              <a:solidFill>
                <a:schemeClr val="accent2"/>
              </a:solidFill>
              <a:latin typeface="Montserrat"/>
              <a:ea typeface="Montserrat"/>
              <a:cs typeface="Montserrat"/>
              <a:sym typeface="Montserrat"/>
            </a:endParaRPr>
          </a:p>
        </p:txBody>
      </p:sp>
      <p:sp>
        <p:nvSpPr>
          <p:cNvPr id="160" name="Google Shape;160;p27"/>
          <p:cNvSpPr txBox="1"/>
          <p:nvPr/>
        </p:nvSpPr>
        <p:spPr>
          <a:xfrm>
            <a:off x="1069461" y="4005651"/>
            <a:ext cx="2427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accent2"/>
                </a:solidFill>
                <a:latin typeface="Montserrat"/>
                <a:ea typeface="Montserrat"/>
                <a:cs typeface="Montserrat"/>
                <a:sym typeface="Montserrat"/>
              </a:rPr>
              <a:t>Notes</a:t>
            </a:r>
            <a:endParaRPr b="1" sz="1500">
              <a:solidFill>
                <a:schemeClr val="accent2"/>
              </a:solidFill>
              <a:latin typeface="Montserrat"/>
              <a:ea typeface="Montserrat"/>
              <a:cs typeface="Montserrat"/>
              <a:sym typeface="Montserrat"/>
            </a:endParaRPr>
          </a:p>
        </p:txBody>
      </p:sp>
      <p:sp>
        <p:nvSpPr>
          <p:cNvPr id="161" name="Google Shape;161;p27"/>
          <p:cNvSpPr txBox="1"/>
          <p:nvPr>
            <p:ph type="title"/>
          </p:nvPr>
        </p:nvSpPr>
        <p:spPr>
          <a:xfrm>
            <a:off x="813600" y="184775"/>
            <a:ext cx="3048000" cy="572700"/>
          </a:xfrm>
          <a:prstGeom prst="rect">
            <a:avLst/>
          </a:prstGeom>
          <a:noFill/>
        </p:spPr>
        <p:txBody>
          <a:bodyPr anchorCtr="0" anchor="t" bIns="91425" lIns="91425" spcFirstLastPara="1" rIns="91425" wrap="square" tIns="91425">
            <a:normAutofit fontScale="90000"/>
          </a:bodyPr>
          <a:lstStyle/>
          <a:p>
            <a:pPr indent="0" lvl="0" marL="0" rtl="0" algn="ctr">
              <a:spcBef>
                <a:spcPts val="0"/>
              </a:spcBef>
              <a:spcAft>
                <a:spcPts val="0"/>
              </a:spcAft>
              <a:buSzPct val="42672"/>
              <a:buNone/>
            </a:pPr>
            <a:r>
              <a:rPr b="1" lang="en" sz="2320">
                <a:latin typeface="Montserrat"/>
                <a:ea typeface="Montserrat"/>
                <a:cs typeface="Montserrat"/>
                <a:sym typeface="Montserrat"/>
              </a:rPr>
              <a:t>Prompt </a:t>
            </a:r>
            <a:r>
              <a:rPr b="1" lang="en" sz="2320">
                <a:latin typeface="Montserrat"/>
                <a:ea typeface="Montserrat"/>
                <a:cs typeface="Montserrat"/>
                <a:sym typeface="Montserrat"/>
              </a:rPr>
              <a:t>Component</a:t>
            </a:r>
            <a:endParaRPr b="1" sz="2320">
              <a:latin typeface="Montserrat"/>
              <a:ea typeface="Montserrat"/>
              <a:cs typeface="Montserrat"/>
              <a:sym typeface="Montserrat"/>
            </a:endParaRPr>
          </a:p>
        </p:txBody>
      </p:sp>
      <p:cxnSp>
        <p:nvCxnSpPr>
          <p:cNvPr id="162" name="Google Shape;162;p27"/>
          <p:cNvCxnSpPr>
            <a:stCxn id="155" idx="3"/>
            <a:endCxn id="163" idx="1"/>
          </p:cNvCxnSpPr>
          <p:nvPr/>
        </p:nvCxnSpPr>
        <p:spPr>
          <a:xfrm flipH="1" rot="10800000">
            <a:off x="3496461" y="1086529"/>
            <a:ext cx="2097600" cy="85800"/>
          </a:xfrm>
          <a:prstGeom prst="straightConnector1">
            <a:avLst/>
          </a:prstGeom>
          <a:noFill/>
          <a:ln cap="flat" cmpd="sng" w="28575">
            <a:solidFill>
              <a:schemeClr val="dk2"/>
            </a:solidFill>
            <a:prstDash val="solid"/>
            <a:round/>
            <a:headEnd len="med" w="med" type="none"/>
            <a:tailEnd len="med" w="med" type="none"/>
          </a:ln>
        </p:spPr>
      </p:cxnSp>
      <p:sp>
        <p:nvSpPr>
          <p:cNvPr id="163" name="Google Shape;163;p27"/>
          <p:cNvSpPr txBox="1"/>
          <p:nvPr/>
        </p:nvSpPr>
        <p:spPr>
          <a:xfrm>
            <a:off x="5594150" y="901925"/>
            <a:ext cx="1659000" cy="369300"/>
          </a:xfrm>
          <a:prstGeom prst="rect">
            <a:avLst/>
          </a:prstGeom>
          <a:solidFill>
            <a:srgbClr val="D9EAD4"/>
          </a:solid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Role Prompting</a:t>
            </a:r>
            <a:endParaRPr b="1" sz="1200">
              <a:solidFill>
                <a:schemeClr val="dk1"/>
              </a:solidFill>
              <a:latin typeface="Montserrat"/>
              <a:ea typeface="Montserrat"/>
              <a:cs typeface="Montserrat"/>
              <a:sym typeface="Montserrat"/>
            </a:endParaRPr>
          </a:p>
        </p:txBody>
      </p:sp>
      <p:cxnSp>
        <p:nvCxnSpPr>
          <p:cNvPr id="164" name="Google Shape;164;p27"/>
          <p:cNvCxnSpPr>
            <a:stCxn id="156" idx="3"/>
          </p:cNvCxnSpPr>
          <p:nvPr/>
        </p:nvCxnSpPr>
        <p:spPr>
          <a:xfrm>
            <a:off x="3496461" y="1676900"/>
            <a:ext cx="2142900" cy="32700"/>
          </a:xfrm>
          <a:prstGeom prst="straightConnector1">
            <a:avLst/>
          </a:prstGeom>
          <a:noFill/>
          <a:ln cap="flat" cmpd="sng" w="28575">
            <a:solidFill>
              <a:schemeClr val="dk2"/>
            </a:solidFill>
            <a:prstDash val="solid"/>
            <a:round/>
            <a:headEnd len="med" w="med" type="none"/>
            <a:tailEnd len="med" w="med" type="none"/>
          </a:ln>
        </p:spPr>
      </p:cxnSp>
      <p:sp>
        <p:nvSpPr>
          <p:cNvPr id="165" name="Google Shape;165;p27"/>
          <p:cNvSpPr txBox="1"/>
          <p:nvPr/>
        </p:nvSpPr>
        <p:spPr>
          <a:xfrm>
            <a:off x="5233475" y="1453625"/>
            <a:ext cx="2868000" cy="369300"/>
          </a:xfrm>
          <a:prstGeom prst="rect">
            <a:avLst/>
          </a:prstGeom>
          <a:solidFill>
            <a:srgbClr val="D0E0E3"/>
          </a:solid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Chain of Thought Prompting</a:t>
            </a:r>
            <a:endParaRPr b="1" sz="1200">
              <a:solidFill>
                <a:schemeClr val="dk1"/>
              </a:solidFill>
              <a:latin typeface="Montserrat"/>
              <a:ea typeface="Montserrat"/>
              <a:cs typeface="Montserrat"/>
              <a:sym typeface="Montserrat"/>
            </a:endParaRPr>
          </a:p>
        </p:txBody>
      </p:sp>
      <p:cxnSp>
        <p:nvCxnSpPr>
          <p:cNvPr id="166" name="Google Shape;166;p27"/>
          <p:cNvCxnSpPr>
            <a:stCxn id="157" idx="3"/>
            <a:endCxn id="167" idx="1"/>
          </p:cNvCxnSpPr>
          <p:nvPr/>
        </p:nvCxnSpPr>
        <p:spPr>
          <a:xfrm>
            <a:off x="3496461" y="2146291"/>
            <a:ext cx="1934100" cy="142500"/>
          </a:xfrm>
          <a:prstGeom prst="straightConnector1">
            <a:avLst/>
          </a:prstGeom>
          <a:noFill/>
          <a:ln cap="flat" cmpd="sng" w="28575">
            <a:solidFill>
              <a:schemeClr val="dk2"/>
            </a:solidFill>
            <a:prstDash val="solid"/>
            <a:round/>
            <a:headEnd len="med" w="med" type="none"/>
            <a:tailEnd len="med" w="med" type="none"/>
          </a:ln>
        </p:spPr>
      </p:cxnSp>
      <p:sp>
        <p:nvSpPr>
          <p:cNvPr id="167" name="Google Shape;167;p27"/>
          <p:cNvSpPr txBox="1"/>
          <p:nvPr/>
        </p:nvSpPr>
        <p:spPr>
          <a:xfrm>
            <a:off x="5430478" y="2104225"/>
            <a:ext cx="1693800" cy="369300"/>
          </a:xfrm>
          <a:prstGeom prst="rect">
            <a:avLst/>
          </a:prstGeom>
          <a:solidFill>
            <a:srgbClr val="C9DAF9"/>
          </a:solid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EmotionPrompt</a:t>
            </a:r>
            <a:endParaRPr b="1" sz="1200">
              <a:solidFill>
                <a:schemeClr val="dk1"/>
              </a:solidFill>
              <a:latin typeface="Montserrat"/>
              <a:ea typeface="Montserrat"/>
              <a:cs typeface="Montserrat"/>
              <a:sym typeface="Montserrat"/>
            </a:endParaRPr>
          </a:p>
        </p:txBody>
      </p:sp>
      <p:cxnSp>
        <p:nvCxnSpPr>
          <p:cNvPr id="168" name="Google Shape;168;p27"/>
          <p:cNvCxnSpPr>
            <a:stCxn id="158" idx="3"/>
            <a:endCxn id="169" idx="1"/>
          </p:cNvCxnSpPr>
          <p:nvPr/>
        </p:nvCxnSpPr>
        <p:spPr>
          <a:xfrm>
            <a:off x="3496461" y="2601422"/>
            <a:ext cx="1588800" cy="201300"/>
          </a:xfrm>
          <a:prstGeom prst="straightConnector1">
            <a:avLst/>
          </a:prstGeom>
          <a:noFill/>
          <a:ln cap="flat" cmpd="sng" w="28575">
            <a:solidFill>
              <a:schemeClr val="dk2"/>
            </a:solidFill>
            <a:prstDash val="solid"/>
            <a:round/>
            <a:headEnd len="med" w="med" type="none"/>
            <a:tailEnd len="med" w="med" type="none"/>
          </a:ln>
        </p:spPr>
      </p:cxnSp>
      <p:sp>
        <p:nvSpPr>
          <p:cNvPr id="169" name="Google Shape;169;p27"/>
          <p:cNvSpPr txBox="1"/>
          <p:nvPr/>
        </p:nvSpPr>
        <p:spPr>
          <a:xfrm>
            <a:off x="5085221" y="2617963"/>
            <a:ext cx="3422100" cy="369300"/>
          </a:xfrm>
          <a:prstGeom prst="rect">
            <a:avLst/>
          </a:prstGeom>
          <a:solidFill>
            <a:srgbClr val="FCE6CD"/>
          </a:solid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EmotionPrompt + Role Prompting</a:t>
            </a:r>
            <a:endParaRPr b="1" sz="1200">
              <a:solidFill>
                <a:schemeClr val="dk1"/>
              </a:solidFill>
              <a:latin typeface="Montserrat"/>
              <a:ea typeface="Montserrat"/>
              <a:cs typeface="Montserrat"/>
              <a:sym typeface="Montserrat"/>
            </a:endParaRPr>
          </a:p>
        </p:txBody>
      </p:sp>
      <p:cxnSp>
        <p:nvCxnSpPr>
          <p:cNvPr id="170" name="Google Shape;170;p27"/>
          <p:cNvCxnSpPr>
            <a:stCxn id="159" idx="3"/>
            <a:endCxn id="171" idx="1"/>
          </p:cNvCxnSpPr>
          <p:nvPr/>
        </p:nvCxnSpPr>
        <p:spPr>
          <a:xfrm>
            <a:off x="3496461" y="3399333"/>
            <a:ext cx="1391700" cy="110100"/>
          </a:xfrm>
          <a:prstGeom prst="straightConnector1">
            <a:avLst/>
          </a:prstGeom>
          <a:noFill/>
          <a:ln cap="flat" cmpd="sng" w="28575">
            <a:solidFill>
              <a:schemeClr val="dk2"/>
            </a:solidFill>
            <a:prstDash val="solid"/>
            <a:round/>
            <a:headEnd len="med" w="med" type="none"/>
            <a:tailEnd len="med" w="med" type="none"/>
          </a:ln>
        </p:spPr>
      </p:cxnSp>
      <p:sp>
        <p:nvSpPr>
          <p:cNvPr id="171" name="Google Shape;171;p27"/>
          <p:cNvSpPr txBox="1"/>
          <p:nvPr/>
        </p:nvSpPr>
        <p:spPr>
          <a:xfrm>
            <a:off x="4888175" y="3324825"/>
            <a:ext cx="2144100" cy="369300"/>
          </a:xfrm>
          <a:prstGeom prst="rect">
            <a:avLst/>
          </a:prstGeom>
          <a:solidFill>
            <a:srgbClr val="EAD1DD"/>
          </a:solid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Few Shot Prompting</a:t>
            </a:r>
            <a:endParaRPr b="1" sz="1200">
              <a:solidFill>
                <a:schemeClr val="dk1"/>
              </a:solidFill>
              <a:latin typeface="Montserrat"/>
              <a:ea typeface="Montserrat"/>
              <a:cs typeface="Montserrat"/>
              <a:sym typeface="Montserrat"/>
            </a:endParaRPr>
          </a:p>
        </p:txBody>
      </p:sp>
      <p:sp>
        <p:nvSpPr>
          <p:cNvPr id="172" name="Google Shape;172;p27"/>
          <p:cNvSpPr txBox="1"/>
          <p:nvPr/>
        </p:nvSpPr>
        <p:spPr>
          <a:xfrm>
            <a:off x="5469500" y="3988025"/>
            <a:ext cx="2194500" cy="369300"/>
          </a:xfrm>
          <a:prstGeom prst="rect">
            <a:avLst/>
          </a:prstGeom>
          <a:solidFill>
            <a:srgbClr val="FDF3CD"/>
          </a:solid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Montserrat"/>
                <a:ea typeface="Montserrat"/>
                <a:cs typeface="Montserrat"/>
                <a:sym typeface="Montserrat"/>
              </a:rPr>
              <a:t>Lost in the Middle Effect</a:t>
            </a:r>
            <a:endParaRPr b="1" sz="1200">
              <a:solidFill>
                <a:schemeClr val="dk1"/>
              </a:solidFill>
              <a:latin typeface="Montserrat"/>
              <a:ea typeface="Montserrat"/>
              <a:cs typeface="Montserrat"/>
              <a:sym typeface="Montserrat"/>
            </a:endParaRPr>
          </a:p>
        </p:txBody>
      </p:sp>
      <p:sp>
        <p:nvSpPr>
          <p:cNvPr id="173" name="Google Shape;173;p27"/>
          <p:cNvSpPr txBox="1"/>
          <p:nvPr>
            <p:ph type="title"/>
          </p:nvPr>
        </p:nvSpPr>
        <p:spPr>
          <a:xfrm>
            <a:off x="4989650" y="184775"/>
            <a:ext cx="2868000" cy="572700"/>
          </a:xfrm>
          <a:prstGeom prst="rect">
            <a:avLst/>
          </a:prstGeom>
          <a:noFill/>
        </p:spPr>
        <p:txBody>
          <a:bodyPr anchorCtr="0" anchor="t" bIns="91425" lIns="91425" spcFirstLastPara="1" rIns="91425" wrap="square" tIns="91425">
            <a:normAutofit fontScale="90000"/>
          </a:bodyPr>
          <a:lstStyle/>
          <a:p>
            <a:pPr indent="0" lvl="0" marL="0" rtl="0" algn="ctr">
              <a:spcBef>
                <a:spcPts val="0"/>
              </a:spcBef>
              <a:spcAft>
                <a:spcPts val="0"/>
              </a:spcAft>
              <a:buClr>
                <a:srgbClr val="000000"/>
              </a:buClr>
              <a:buSzPct val="42672"/>
              <a:buFont typeface="Arial"/>
              <a:buNone/>
            </a:pPr>
            <a:r>
              <a:rPr b="1" lang="en" sz="2320">
                <a:latin typeface="Montserrat"/>
                <a:ea typeface="Montserrat"/>
                <a:cs typeface="Montserrat"/>
                <a:sym typeface="Montserrat"/>
              </a:rPr>
              <a:t>Prompt Technique</a:t>
            </a:r>
            <a:endParaRPr b="1" sz="2320">
              <a:latin typeface="Montserrat"/>
              <a:ea typeface="Montserrat"/>
              <a:cs typeface="Montserrat"/>
              <a:sym typeface="Montserrat"/>
            </a:endParaRPr>
          </a:p>
        </p:txBody>
      </p:sp>
      <p:cxnSp>
        <p:nvCxnSpPr>
          <p:cNvPr id="174" name="Google Shape;174;p27"/>
          <p:cNvCxnSpPr>
            <a:stCxn id="160" idx="3"/>
            <a:endCxn id="172" idx="1"/>
          </p:cNvCxnSpPr>
          <p:nvPr/>
        </p:nvCxnSpPr>
        <p:spPr>
          <a:xfrm flipH="1" rot="10800000">
            <a:off x="3496461" y="4172601"/>
            <a:ext cx="1973100" cy="408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445025"/>
            <a:ext cx="4260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Role</a:t>
            </a:r>
            <a:endParaRPr b="1" sz="2000">
              <a:latin typeface="Montserrat"/>
              <a:ea typeface="Montserrat"/>
              <a:cs typeface="Montserrat"/>
              <a:sym typeface="Montserrat"/>
            </a:endParaRPr>
          </a:p>
        </p:txBody>
      </p:sp>
      <p:sp>
        <p:nvSpPr>
          <p:cNvPr id="180" name="Google Shape;180;p2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Font typeface="Montserrat"/>
              <a:buChar char="●"/>
            </a:pPr>
            <a:r>
              <a:rPr b="1" lang="en" sz="1300">
                <a:latin typeface="Montserrat"/>
                <a:ea typeface="Montserrat"/>
                <a:cs typeface="Montserrat"/>
                <a:sym typeface="Montserrat"/>
              </a:rPr>
              <a:t>Assign a role </a:t>
            </a:r>
            <a:r>
              <a:rPr lang="en" sz="1300">
                <a:latin typeface="Montserrat"/>
                <a:ea typeface="Montserrat"/>
                <a:cs typeface="Montserrat"/>
                <a:sym typeface="Montserrat"/>
              </a:rPr>
              <a:t>to play during interactions: “You are…”</a:t>
            </a:r>
            <a:br>
              <a:rPr lang="en" sz="1300">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lnSpc>
                <a:spcPct val="115000"/>
              </a:lnSpc>
              <a:spcBef>
                <a:spcPts val="0"/>
              </a:spcBef>
              <a:spcAft>
                <a:spcPts val="0"/>
              </a:spcAft>
              <a:buSzPts val="1300"/>
              <a:buFont typeface="Montserrat"/>
              <a:buChar char="●"/>
            </a:pPr>
            <a:r>
              <a:rPr lang="en" sz="1300">
                <a:solidFill>
                  <a:srgbClr val="0E0E0E"/>
                </a:solidFill>
                <a:latin typeface="Montserrat"/>
                <a:ea typeface="Montserrat"/>
                <a:cs typeface="Montserrat"/>
                <a:sym typeface="Montserrat"/>
              </a:rPr>
              <a:t>Provide a complementary description of their abilities.</a:t>
            </a:r>
            <a:endParaRPr sz="13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1300">
              <a:solidFill>
                <a:srgbClr val="0E0E0E"/>
              </a:solidFill>
              <a:latin typeface="Montserrat Medium"/>
              <a:ea typeface="Montserrat Medium"/>
              <a:cs typeface="Montserrat Medium"/>
              <a:sym typeface="Montserrat Medium"/>
            </a:endParaRPr>
          </a:p>
        </p:txBody>
      </p:sp>
      <p:sp>
        <p:nvSpPr>
          <p:cNvPr id="181" name="Google Shape;181;p28"/>
          <p:cNvSpPr txBox="1"/>
          <p:nvPr>
            <p:ph type="title"/>
          </p:nvPr>
        </p:nvSpPr>
        <p:spPr>
          <a:xfrm>
            <a:off x="4572000" y="445025"/>
            <a:ext cx="4260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Role Prompting</a:t>
            </a:r>
            <a:endParaRPr b="1" sz="2000">
              <a:latin typeface="Montserrat"/>
              <a:ea typeface="Montserrat"/>
              <a:cs typeface="Montserrat"/>
              <a:sym typeface="Montserrat"/>
            </a:endParaRPr>
          </a:p>
        </p:txBody>
      </p:sp>
      <p:cxnSp>
        <p:nvCxnSpPr>
          <p:cNvPr id="182" name="Google Shape;182;p28"/>
          <p:cNvCxnSpPr>
            <a:endCxn id="183" idx="1"/>
          </p:cNvCxnSpPr>
          <p:nvPr/>
        </p:nvCxnSpPr>
        <p:spPr>
          <a:xfrm>
            <a:off x="4565100" y="546175"/>
            <a:ext cx="6900" cy="2314500"/>
          </a:xfrm>
          <a:prstGeom prst="straightConnector1">
            <a:avLst/>
          </a:prstGeom>
          <a:noFill/>
          <a:ln cap="flat" cmpd="sng" w="28575">
            <a:solidFill>
              <a:schemeClr val="dk1"/>
            </a:solidFill>
            <a:prstDash val="solid"/>
            <a:round/>
            <a:headEnd len="med" w="med" type="none"/>
            <a:tailEnd len="med" w="med" type="none"/>
          </a:ln>
        </p:spPr>
      </p:cxnSp>
      <p:sp>
        <p:nvSpPr>
          <p:cNvPr id="183" name="Google Shape;183;p28"/>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Font typeface="Montserrat Medium"/>
              <a:buChar char="●"/>
            </a:pPr>
            <a:r>
              <a:rPr b="1" lang="en" sz="1300">
                <a:latin typeface="Montserrat"/>
                <a:ea typeface="Montserrat"/>
                <a:cs typeface="Montserrat"/>
                <a:sym typeface="Montserrat"/>
              </a:rPr>
              <a:t>Role Prompting</a:t>
            </a:r>
            <a:r>
              <a:rPr lang="en" sz="1300">
                <a:latin typeface="Montserrat"/>
                <a:ea typeface="Montserrat"/>
                <a:cs typeface="Montserrat"/>
                <a:sym typeface="Montserrat"/>
              </a:rPr>
              <a:t> is a technique where the language model is given a specific role to play during the interaction.</a:t>
            </a:r>
            <a:br>
              <a:rPr lang="en" sz="1300">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lnSpc>
                <a:spcPct val="115000"/>
              </a:lnSpc>
              <a:spcBef>
                <a:spcPts val="0"/>
              </a:spcBef>
              <a:spcAft>
                <a:spcPts val="0"/>
              </a:spcAft>
              <a:buClr>
                <a:srgbClr val="0E0E0E"/>
              </a:buClr>
              <a:buSzPts val="1300"/>
              <a:buFont typeface="Montserrat Medium"/>
              <a:buChar char="●"/>
            </a:pPr>
            <a:r>
              <a:rPr lang="en" sz="1300">
                <a:solidFill>
                  <a:srgbClr val="0E0E0E"/>
                </a:solidFill>
                <a:latin typeface="Montserrat"/>
                <a:ea typeface="Montserrat"/>
                <a:cs typeface="Montserrat"/>
                <a:sym typeface="Montserrat"/>
              </a:rPr>
              <a:t>Output accuracy can be increased by </a:t>
            </a:r>
            <a:r>
              <a:rPr b="1" lang="en" sz="1300">
                <a:solidFill>
                  <a:srgbClr val="0E0E0E"/>
                </a:solidFill>
                <a:latin typeface="Montserrat"/>
                <a:ea typeface="Montserrat"/>
                <a:cs typeface="Montserrat"/>
                <a:sym typeface="Montserrat"/>
              </a:rPr>
              <a:t>up to 25%</a:t>
            </a:r>
            <a:r>
              <a:rPr lang="en" sz="1300">
                <a:solidFill>
                  <a:srgbClr val="0E0E0E"/>
                </a:solidFill>
                <a:latin typeface="Montserrat"/>
                <a:ea typeface="Montserrat"/>
                <a:cs typeface="Montserrat"/>
                <a:sym typeface="Montserrat"/>
              </a:rPr>
              <a:t>.</a:t>
            </a:r>
            <a:endParaRPr sz="1300">
              <a:latin typeface="Montserrat"/>
              <a:ea typeface="Montserrat"/>
              <a:cs typeface="Montserrat"/>
              <a:sym typeface="Montserrat"/>
            </a:endParaRPr>
          </a:p>
        </p:txBody>
      </p:sp>
      <p:sp>
        <p:nvSpPr>
          <p:cNvPr id="184" name="Google Shape;184;p28"/>
          <p:cNvSpPr txBox="1"/>
          <p:nvPr/>
        </p:nvSpPr>
        <p:spPr>
          <a:xfrm>
            <a:off x="311700" y="3020525"/>
            <a:ext cx="85206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E0E0E"/>
                </a:solidFill>
                <a:latin typeface="Montserrat Medium"/>
                <a:ea typeface="Montserrat Medium"/>
                <a:cs typeface="Montserrat Medium"/>
                <a:sym typeface="Montserrat Medium"/>
              </a:rPr>
              <a:t>Example:</a:t>
            </a:r>
            <a:endParaRPr sz="1200">
              <a:solidFill>
                <a:srgbClr val="0E0E0E"/>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rgbClr val="0E0E0E"/>
              </a:solidFill>
              <a:latin typeface="Montserrat"/>
              <a:ea typeface="Montserrat"/>
              <a:cs typeface="Montserrat"/>
              <a:sym typeface="Montserrat"/>
            </a:endParaRPr>
          </a:p>
          <a:p>
            <a:pPr indent="0" lvl="0" marL="0" rtl="0" algn="ctr">
              <a:lnSpc>
                <a:spcPct val="115000"/>
              </a:lnSpc>
              <a:spcBef>
                <a:spcPts val="0"/>
              </a:spcBef>
              <a:spcAft>
                <a:spcPts val="0"/>
              </a:spcAft>
              <a:buClr>
                <a:schemeClr val="dk1"/>
              </a:buClr>
              <a:buSzPts val="1100"/>
              <a:buFont typeface="Arial"/>
              <a:buNone/>
            </a:pPr>
            <a:r>
              <a:rPr i="1" lang="en" sz="1200">
                <a:solidFill>
                  <a:srgbClr val="0E0E0E"/>
                </a:solidFill>
                <a:latin typeface="Montserrat"/>
                <a:ea typeface="Montserrat"/>
                <a:cs typeface="Montserrat"/>
                <a:sym typeface="Montserrat"/>
              </a:rPr>
              <a:t>You are a highly qualified and experienced online beauty store consultant. You are the best at selecting the perfect beauty and makeup products to meet each customer’s unique needs.</a:t>
            </a:r>
            <a:endParaRPr sz="1200">
              <a:solidFill>
                <a:schemeClr val="accent2"/>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311700" y="445025"/>
            <a:ext cx="4260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Task</a:t>
            </a:r>
            <a:endParaRPr b="1" sz="2000">
              <a:latin typeface="Montserrat"/>
              <a:ea typeface="Montserrat"/>
              <a:cs typeface="Montserrat"/>
              <a:sym typeface="Montserrat"/>
            </a:endParaRPr>
          </a:p>
        </p:txBody>
      </p:sp>
      <p:sp>
        <p:nvSpPr>
          <p:cNvPr id="190" name="Google Shape;190;p29"/>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Font typeface="Montserrat Medium"/>
              <a:buChar char="●"/>
            </a:pPr>
            <a:r>
              <a:rPr b="1" lang="en" sz="1300">
                <a:latin typeface="Montserrat"/>
                <a:ea typeface="Montserrat"/>
                <a:cs typeface="Montserrat"/>
                <a:sym typeface="Montserrat"/>
              </a:rPr>
              <a:t>Tell it what to do:</a:t>
            </a:r>
            <a:r>
              <a:rPr lang="en" sz="1300">
                <a:latin typeface="Montserrat"/>
                <a:ea typeface="Montserrat"/>
                <a:cs typeface="Montserrat"/>
                <a:sym typeface="Montserrat"/>
              </a:rPr>
              <a:t> “</a:t>
            </a:r>
            <a:r>
              <a:rPr lang="en" sz="1300">
                <a:solidFill>
                  <a:srgbClr val="0E0E0E"/>
                </a:solidFill>
                <a:latin typeface="Montserrat"/>
                <a:ea typeface="Montserrat"/>
                <a:cs typeface="Montserrat"/>
                <a:sym typeface="Montserrat"/>
              </a:rPr>
              <a:t>Provide support, generate text…”</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spcBef>
                <a:spcPts val="0"/>
              </a:spcBef>
              <a:spcAft>
                <a:spcPts val="0"/>
              </a:spcAft>
              <a:buSzPts val="1300"/>
              <a:buFont typeface="Montserrat"/>
              <a:buChar char="●"/>
            </a:pPr>
            <a:r>
              <a:rPr lang="en" sz="1300">
                <a:solidFill>
                  <a:srgbClr val="0E0E0E"/>
                </a:solidFill>
                <a:latin typeface="Montserrat"/>
                <a:ea typeface="Montserrat"/>
                <a:cs typeface="Montserrat"/>
                <a:sym typeface="Montserrat"/>
              </a:rPr>
              <a:t>It should be concise and specific.</a:t>
            </a:r>
            <a:br>
              <a:rPr lang="en" sz="1300">
                <a:solidFill>
                  <a:srgbClr val="0E0E0E"/>
                </a:solidFill>
                <a:latin typeface="Montserrat"/>
                <a:ea typeface="Montserrat"/>
                <a:cs typeface="Montserrat"/>
                <a:sym typeface="Montserrat"/>
              </a:rPr>
            </a:br>
            <a:endParaRPr sz="1300">
              <a:solidFill>
                <a:srgbClr val="0E0E0E"/>
              </a:solidFill>
              <a:latin typeface="Montserrat"/>
              <a:ea typeface="Montserrat"/>
              <a:cs typeface="Montserrat"/>
              <a:sym typeface="Montserrat"/>
            </a:endParaRPr>
          </a:p>
          <a:p>
            <a:pPr indent="-311150" lvl="0" marL="457200" rtl="0" algn="l">
              <a:spcBef>
                <a:spcPts val="0"/>
              </a:spcBef>
              <a:spcAft>
                <a:spcPts val="0"/>
              </a:spcAft>
              <a:buClr>
                <a:srgbClr val="0E0E0E"/>
              </a:buClr>
              <a:buSzPts val="1300"/>
              <a:buFont typeface="Montserrat"/>
              <a:buChar char="●"/>
            </a:pPr>
            <a:r>
              <a:rPr lang="en" sz="1300">
                <a:solidFill>
                  <a:srgbClr val="0E0E0E"/>
                </a:solidFill>
                <a:latin typeface="Montserrat"/>
                <a:ea typeface="Montserrat"/>
                <a:cs typeface="Montserrat"/>
                <a:sym typeface="Montserrat"/>
              </a:rPr>
              <a:t>Describe it step-by-step.</a:t>
            </a:r>
            <a:endParaRPr sz="13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1300">
              <a:solidFill>
                <a:srgbClr val="0E0E0E"/>
              </a:solidFill>
              <a:latin typeface="Montserrat Medium"/>
              <a:ea typeface="Montserrat Medium"/>
              <a:cs typeface="Montserrat Medium"/>
              <a:sym typeface="Montserrat Medium"/>
            </a:endParaRPr>
          </a:p>
        </p:txBody>
      </p:sp>
      <p:sp>
        <p:nvSpPr>
          <p:cNvPr id="191" name="Google Shape;191;p29"/>
          <p:cNvSpPr txBox="1"/>
          <p:nvPr>
            <p:ph type="title"/>
          </p:nvPr>
        </p:nvSpPr>
        <p:spPr>
          <a:xfrm>
            <a:off x="4572000" y="445025"/>
            <a:ext cx="4260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020">
                <a:latin typeface="Montserrat"/>
                <a:ea typeface="Montserrat"/>
                <a:cs typeface="Montserrat"/>
                <a:sym typeface="Montserrat"/>
              </a:rPr>
              <a:t>Chain of Thought Prompting</a:t>
            </a:r>
            <a:endParaRPr b="1" sz="2020">
              <a:latin typeface="Montserrat"/>
              <a:ea typeface="Montserrat"/>
              <a:cs typeface="Montserrat"/>
              <a:sym typeface="Montserrat"/>
            </a:endParaRPr>
          </a:p>
        </p:txBody>
      </p:sp>
      <p:cxnSp>
        <p:nvCxnSpPr>
          <p:cNvPr id="192" name="Google Shape;192;p29"/>
          <p:cNvCxnSpPr>
            <a:endCxn id="193" idx="1"/>
          </p:cNvCxnSpPr>
          <p:nvPr/>
        </p:nvCxnSpPr>
        <p:spPr>
          <a:xfrm>
            <a:off x="4565100" y="546175"/>
            <a:ext cx="6900" cy="2314500"/>
          </a:xfrm>
          <a:prstGeom prst="straightConnector1">
            <a:avLst/>
          </a:prstGeom>
          <a:noFill/>
          <a:ln cap="flat" cmpd="sng" w="28575">
            <a:solidFill>
              <a:schemeClr val="dk1"/>
            </a:solidFill>
            <a:prstDash val="solid"/>
            <a:round/>
            <a:headEnd len="med" w="med" type="none"/>
            <a:tailEnd len="med" w="med" type="none"/>
          </a:ln>
        </p:spPr>
      </p:cxnSp>
      <p:sp>
        <p:nvSpPr>
          <p:cNvPr id="193" name="Google Shape;193;p29"/>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Montserrat Medium"/>
              <a:buChar char="●"/>
            </a:pPr>
            <a:r>
              <a:rPr b="1" lang="en" sz="1300">
                <a:solidFill>
                  <a:srgbClr val="0E0E0E"/>
                </a:solidFill>
                <a:latin typeface="Montserrat"/>
                <a:ea typeface="Montserrat"/>
                <a:cs typeface="Montserrat"/>
                <a:sym typeface="Montserrat"/>
              </a:rPr>
              <a:t>Chain of Thought Prompting</a:t>
            </a:r>
            <a:r>
              <a:rPr lang="en" sz="1300">
                <a:solidFill>
                  <a:srgbClr val="0E0E0E"/>
                </a:solidFill>
                <a:latin typeface="Montserrat"/>
                <a:ea typeface="Montserrat"/>
                <a:cs typeface="Montserrat"/>
                <a:sym typeface="Montserrat"/>
              </a:rPr>
              <a:t> involves instructing the model to “think step-by-step,” essentially giving it a detailed process to follow.</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spcBef>
                <a:spcPts val="0"/>
              </a:spcBef>
              <a:spcAft>
                <a:spcPts val="0"/>
              </a:spcAft>
              <a:buClr>
                <a:srgbClr val="0E0E0E"/>
              </a:buClr>
              <a:buSzPts val="1300"/>
              <a:buFont typeface="Montserrat Medium"/>
              <a:buChar char="●"/>
            </a:pPr>
            <a:r>
              <a:rPr lang="en" sz="1300">
                <a:solidFill>
                  <a:srgbClr val="0E0E0E"/>
                </a:solidFill>
                <a:latin typeface="Montserrat"/>
                <a:ea typeface="Montserrat"/>
                <a:cs typeface="Montserrat"/>
                <a:sym typeface="Montserrat"/>
              </a:rPr>
              <a:t>This technique can boost output accuracy </a:t>
            </a:r>
            <a:r>
              <a:rPr b="1" lang="en" sz="1300">
                <a:solidFill>
                  <a:srgbClr val="0E0E0E"/>
                </a:solidFill>
                <a:latin typeface="Montserrat"/>
                <a:ea typeface="Montserrat"/>
                <a:cs typeface="Montserrat"/>
                <a:sym typeface="Montserrat"/>
              </a:rPr>
              <a:t>by up to 90%</a:t>
            </a:r>
            <a:r>
              <a:rPr lang="en" sz="1300">
                <a:solidFill>
                  <a:srgbClr val="0E0E0E"/>
                </a:solidFill>
                <a:latin typeface="Montserrat"/>
                <a:ea typeface="Montserrat"/>
                <a:cs typeface="Montserrat"/>
                <a:sym typeface="Montserrat"/>
              </a:rPr>
              <a:t> for complex tasks.</a:t>
            </a:r>
            <a:endParaRPr sz="1300">
              <a:latin typeface="Montserrat"/>
              <a:ea typeface="Montserrat"/>
              <a:cs typeface="Montserrat"/>
              <a:sym typeface="Montserrat"/>
            </a:endParaRPr>
          </a:p>
        </p:txBody>
      </p:sp>
      <p:pic>
        <p:nvPicPr>
          <p:cNvPr id="194" name="Google Shape;194;p29"/>
          <p:cNvPicPr preferRelativeResize="0"/>
          <p:nvPr/>
        </p:nvPicPr>
        <p:blipFill rotWithShape="1">
          <a:blip r:embed="rId3">
            <a:alphaModFix/>
          </a:blip>
          <a:srcRect b="0" l="2052" r="1580" t="0"/>
          <a:stretch/>
        </p:blipFill>
        <p:spPr>
          <a:xfrm>
            <a:off x="4649438" y="2938725"/>
            <a:ext cx="4105426" cy="2037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nvSpPr>
        <p:spPr>
          <a:xfrm>
            <a:off x="311700" y="460475"/>
            <a:ext cx="8520600" cy="435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E0E0E"/>
                </a:solidFill>
                <a:latin typeface="Montserrat Medium"/>
                <a:ea typeface="Montserrat Medium"/>
                <a:cs typeface="Montserrat Medium"/>
                <a:sym typeface="Montserrat Medium"/>
              </a:rPr>
              <a:t>Example:</a:t>
            </a:r>
            <a:endParaRPr sz="1200">
              <a:solidFill>
                <a:srgbClr val="0E0E0E"/>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None/>
            </a:pPr>
            <a:r>
              <a:rPr b="1" i="1" lang="en" sz="1200">
                <a:solidFill>
                  <a:srgbClr val="0E0E0E"/>
                </a:solidFill>
                <a:latin typeface="Montserrat"/>
                <a:ea typeface="Montserrat"/>
                <a:cs typeface="Montserrat"/>
                <a:sym typeface="Montserrat"/>
              </a:rPr>
              <a:t>Provide</a:t>
            </a:r>
            <a:r>
              <a:rPr i="1" lang="en" sz="1200">
                <a:solidFill>
                  <a:srgbClr val="0E0E0E"/>
                </a:solidFill>
                <a:latin typeface="Montserrat"/>
                <a:ea typeface="Montserrat"/>
                <a:cs typeface="Montserrat"/>
                <a:sym typeface="Montserrat"/>
              </a:rPr>
              <a:t> customer service and advice on services available at Bosar Cosmetics.</a:t>
            </a:r>
            <a:br>
              <a:rPr i="1" lang="en" sz="1200">
                <a:solidFill>
                  <a:srgbClr val="0E0E0E"/>
                </a:solidFill>
                <a:latin typeface="Montserrat"/>
                <a:ea typeface="Montserrat"/>
                <a:cs typeface="Montserrat"/>
                <a:sym typeface="Montserrat"/>
              </a:rPr>
            </a:br>
            <a:br>
              <a:rPr i="1" lang="en" sz="1200">
                <a:solidFill>
                  <a:srgbClr val="0E0E0E"/>
                </a:solidFill>
                <a:latin typeface="Montserrat"/>
                <a:ea typeface="Montserrat"/>
                <a:cs typeface="Montserrat"/>
                <a:sym typeface="Montserrat"/>
              </a:rPr>
            </a:br>
            <a:r>
              <a:rPr i="1" lang="en" sz="1200">
                <a:solidFill>
                  <a:srgbClr val="0E0E0E"/>
                </a:solidFill>
                <a:latin typeface="Montserrat"/>
                <a:ea typeface="Montserrat"/>
                <a:cs typeface="Montserrat"/>
                <a:sym typeface="Montserrat"/>
              </a:rPr>
              <a:t>Follow this step-by-step process to ensure your script is first-class:</a:t>
            </a:r>
            <a:endParaRPr i="1" sz="12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i="1" sz="12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rPr i="1" lang="en" sz="1200">
                <a:solidFill>
                  <a:srgbClr val="0E0E0E"/>
                </a:solidFill>
                <a:latin typeface="Montserrat"/>
                <a:ea typeface="Montserrat"/>
                <a:cs typeface="Montserrat"/>
                <a:sym typeface="Montserrat"/>
              </a:rPr>
              <a:t>Step 1: Greet the customer warmly and answer any questions they might have.</a:t>
            </a:r>
            <a:endParaRPr i="1" sz="12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rPr i="1" lang="en" sz="1200">
                <a:solidFill>
                  <a:srgbClr val="0E0E0E"/>
                </a:solidFill>
                <a:latin typeface="Montserrat"/>
                <a:ea typeface="Montserrat"/>
                <a:cs typeface="Montserrat"/>
                <a:sym typeface="Montserrat"/>
              </a:rPr>
              <a:t>Step 2: Identify customer’s needs - ask what kind of beauty products they are looking for: skincare, makeup, hair care, or something else.</a:t>
            </a:r>
            <a:endParaRPr i="1" sz="12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rPr i="1" lang="en" sz="1200">
                <a:solidFill>
                  <a:srgbClr val="0E0E0E"/>
                </a:solidFill>
                <a:latin typeface="Montserrat"/>
                <a:ea typeface="Montserrat"/>
                <a:cs typeface="Montserrat"/>
                <a:sym typeface="Montserrat"/>
              </a:rPr>
              <a:t>Step 3: Gather detailed information - ask them about their skin type, specific concerns, and the look they are aiming for. </a:t>
            </a:r>
            <a:endParaRPr i="1" sz="12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rPr i="1" lang="en" sz="1200">
                <a:solidFill>
                  <a:srgbClr val="0E0E0E"/>
                </a:solidFill>
                <a:latin typeface="Montserrat"/>
                <a:ea typeface="Montserrat"/>
                <a:cs typeface="Montserrat"/>
                <a:sym typeface="Montserrat"/>
              </a:rPr>
              <a:t>Step 4: Request an image of their face for better assessment.</a:t>
            </a:r>
            <a:endParaRPr i="1" sz="12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rPr i="1" lang="en" sz="1200">
                <a:solidFill>
                  <a:srgbClr val="0E0E0E"/>
                </a:solidFill>
                <a:latin typeface="Montserrat"/>
                <a:ea typeface="Montserrat"/>
                <a:cs typeface="Montserrat"/>
                <a:sym typeface="Montserrat"/>
              </a:rPr>
              <a:t>Step 5: Suggest products based on the customer’s needs and available products in the store.</a:t>
            </a:r>
            <a:endParaRPr i="1" sz="12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rPr i="1" lang="en" sz="1200">
                <a:solidFill>
                  <a:srgbClr val="0E0E0E"/>
                </a:solidFill>
                <a:latin typeface="Montserrat"/>
                <a:ea typeface="Montserrat"/>
                <a:cs typeface="Montserrat"/>
                <a:sym typeface="Montserrat"/>
              </a:rPr>
              <a:t>Step 6: Explain how the recommended products address their specific concerns or solve their pain points.</a:t>
            </a:r>
            <a:endParaRPr i="1" sz="12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rPr i="1" lang="en" sz="1200">
                <a:solidFill>
                  <a:srgbClr val="0E0E0E"/>
                </a:solidFill>
                <a:latin typeface="Montserrat"/>
                <a:ea typeface="Montserrat"/>
                <a:cs typeface="Montserrat"/>
                <a:sym typeface="Montserrat"/>
              </a:rPr>
              <a:t>Step 7: Let them know they can reach out for further assistance after their purchase.</a:t>
            </a:r>
            <a:endParaRPr i="1" sz="1200">
              <a:solidFill>
                <a:srgbClr val="0E0E0E"/>
              </a:solidFill>
              <a:latin typeface="Montserrat"/>
              <a:ea typeface="Montserrat"/>
              <a:cs typeface="Montserrat"/>
              <a:sym typeface="Montserrat"/>
            </a:endParaRPr>
          </a:p>
          <a:p>
            <a:pPr indent="0" lvl="0" marL="0" rtl="0" algn="ctr">
              <a:lnSpc>
                <a:spcPct val="115000"/>
              </a:lnSpc>
              <a:spcBef>
                <a:spcPts val="0"/>
              </a:spcBef>
              <a:spcAft>
                <a:spcPts val="0"/>
              </a:spcAft>
              <a:buNone/>
            </a:pPr>
            <a:br>
              <a:rPr lang="en" sz="1200">
                <a:solidFill>
                  <a:srgbClr val="0E0E0E"/>
                </a:solidFill>
                <a:latin typeface="Montserrat"/>
                <a:ea typeface="Montserrat"/>
                <a:cs typeface="Montserrat"/>
                <a:sym typeface="Montserrat"/>
              </a:rPr>
            </a:br>
            <a:endParaRPr sz="1200">
              <a:solidFill>
                <a:schemeClr val="accent2"/>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ph type="title"/>
          </p:nvPr>
        </p:nvSpPr>
        <p:spPr>
          <a:xfrm>
            <a:off x="311700" y="445025"/>
            <a:ext cx="4260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Specifics</a:t>
            </a:r>
            <a:endParaRPr b="1" sz="2000">
              <a:latin typeface="Montserrat"/>
              <a:ea typeface="Montserrat"/>
              <a:cs typeface="Montserrat"/>
              <a:sym typeface="Montserrat"/>
            </a:endParaRPr>
          </a:p>
        </p:txBody>
      </p:sp>
      <p:sp>
        <p:nvSpPr>
          <p:cNvPr id="205" name="Google Shape;205;p31"/>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Font typeface="Montserrat"/>
              <a:buChar char="●"/>
            </a:pPr>
            <a:r>
              <a:rPr b="1" lang="en" sz="1300">
                <a:solidFill>
                  <a:srgbClr val="0E0E0E"/>
                </a:solidFill>
                <a:latin typeface="Montserrat"/>
                <a:ea typeface="Montserrat"/>
                <a:cs typeface="Montserrat"/>
                <a:sym typeface="Montserrat"/>
              </a:rPr>
              <a:t>List the most important notes</a:t>
            </a:r>
            <a:r>
              <a:rPr lang="en" sz="1300">
                <a:solidFill>
                  <a:srgbClr val="0E0E0E"/>
                </a:solidFill>
                <a:latin typeface="Montserrat"/>
                <a:ea typeface="Montserrat"/>
                <a:cs typeface="Montserrat"/>
                <a:sym typeface="Montserrat"/>
              </a:rPr>
              <a:t> about executing the task outlined above.</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lnSpc>
                <a:spcPct val="115000"/>
              </a:lnSpc>
              <a:spcBef>
                <a:spcPts val="0"/>
              </a:spcBef>
              <a:spcAft>
                <a:spcPts val="0"/>
              </a:spcAft>
              <a:buSzPts val="1300"/>
              <a:buFont typeface="Montserrat"/>
              <a:buChar char="●"/>
            </a:pPr>
            <a:r>
              <a:rPr lang="en" sz="1300">
                <a:solidFill>
                  <a:srgbClr val="0E0E0E"/>
                </a:solidFill>
                <a:latin typeface="Montserrat"/>
                <a:ea typeface="Montserrat"/>
                <a:cs typeface="Montserrat"/>
                <a:sym typeface="Montserrat"/>
              </a:rPr>
              <a:t>Provide a complementary description of their abilities.</a:t>
            </a:r>
            <a:endParaRPr sz="13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1300">
              <a:solidFill>
                <a:srgbClr val="0E0E0E"/>
              </a:solidFill>
              <a:latin typeface="Montserrat Medium"/>
              <a:ea typeface="Montserrat Medium"/>
              <a:cs typeface="Montserrat Medium"/>
              <a:sym typeface="Montserrat Medium"/>
            </a:endParaRPr>
          </a:p>
        </p:txBody>
      </p:sp>
      <p:sp>
        <p:nvSpPr>
          <p:cNvPr id="206" name="Google Shape;206;p31"/>
          <p:cNvSpPr txBox="1"/>
          <p:nvPr>
            <p:ph type="title"/>
          </p:nvPr>
        </p:nvSpPr>
        <p:spPr>
          <a:xfrm>
            <a:off x="4572000" y="445025"/>
            <a:ext cx="4260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EmotionPrompt</a:t>
            </a:r>
            <a:endParaRPr b="1" sz="2000">
              <a:latin typeface="Montserrat"/>
              <a:ea typeface="Montserrat"/>
              <a:cs typeface="Montserrat"/>
              <a:sym typeface="Montserrat"/>
            </a:endParaRPr>
          </a:p>
        </p:txBody>
      </p:sp>
      <p:cxnSp>
        <p:nvCxnSpPr>
          <p:cNvPr id="207" name="Google Shape;207;p31"/>
          <p:cNvCxnSpPr>
            <a:endCxn id="208" idx="1"/>
          </p:cNvCxnSpPr>
          <p:nvPr/>
        </p:nvCxnSpPr>
        <p:spPr>
          <a:xfrm>
            <a:off x="4565100" y="546175"/>
            <a:ext cx="6900" cy="2314500"/>
          </a:xfrm>
          <a:prstGeom prst="straightConnector1">
            <a:avLst/>
          </a:prstGeom>
          <a:noFill/>
          <a:ln cap="flat" cmpd="sng" w="28575">
            <a:solidFill>
              <a:schemeClr val="dk1"/>
            </a:solidFill>
            <a:prstDash val="solid"/>
            <a:round/>
            <a:headEnd len="med" w="med" type="none"/>
            <a:tailEnd len="med" w="med" type="none"/>
          </a:ln>
        </p:spPr>
      </p:cxnSp>
      <p:sp>
        <p:nvSpPr>
          <p:cNvPr id="208" name="Google Shape;208;p31"/>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Montserrat Medium"/>
              <a:buChar char="●"/>
            </a:pPr>
            <a:r>
              <a:rPr b="1" lang="en" sz="1300">
                <a:solidFill>
                  <a:srgbClr val="0E0E0E"/>
                </a:solidFill>
                <a:latin typeface="Montserrat"/>
                <a:ea typeface="Montserrat"/>
                <a:cs typeface="Montserrat"/>
                <a:sym typeface="Montserrat"/>
              </a:rPr>
              <a:t>EmotionPromp</a:t>
            </a:r>
            <a:r>
              <a:rPr lang="en" sz="1300">
                <a:solidFill>
                  <a:srgbClr val="0E0E0E"/>
                </a:solidFill>
                <a:latin typeface="Montserrat"/>
                <a:ea typeface="Montserrat"/>
                <a:cs typeface="Montserrat"/>
                <a:sym typeface="Montserrat"/>
              </a:rPr>
              <a:t>t technique involves adding short phrases or sentences with emotional stimuli to the original prompt.</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spcBef>
                <a:spcPts val="0"/>
              </a:spcBef>
              <a:spcAft>
                <a:spcPts val="0"/>
              </a:spcAft>
              <a:buClr>
                <a:srgbClr val="0E0E0E"/>
              </a:buClr>
              <a:buSzPts val="1300"/>
              <a:buFont typeface="Montserrat"/>
              <a:buChar char="●"/>
            </a:pPr>
            <a:r>
              <a:rPr lang="en" sz="1300">
                <a:solidFill>
                  <a:srgbClr val="0E0E0E"/>
                </a:solidFill>
                <a:latin typeface="Montserrat"/>
                <a:ea typeface="Montserrat"/>
                <a:cs typeface="Montserrat"/>
                <a:sym typeface="Montserrat"/>
              </a:rPr>
              <a:t>This method has been shown to boost the accuracy of generated output by </a:t>
            </a:r>
            <a:r>
              <a:rPr b="1" lang="en" sz="1300">
                <a:solidFill>
                  <a:srgbClr val="0E0E0E"/>
                </a:solidFill>
                <a:latin typeface="Montserrat"/>
                <a:ea typeface="Montserrat"/>
                <a:cs typeface="Montserrat"/>
                <a:sym typeface="Montserrat"/>
              </a:rPr>
              <a:t>up to 115%</a:t>
            </a:r>
            <a:r>
              <a:rPr lang="en" sz="1300">
                <a:solidFill>
                  <a:srgbClr val="0E0E0E"/>
                </a:solidFill>
                <a:latin typeface="Montserrat"/>
                <a:ea typeface="Montserrat"/>
                <a:cs typeface="Montserrat"/>
                <a:sym typeface="Montserrat"/>
              </a:rPr>
              <a:t> for complex tasks.</a:t>
            </a:r>
            <a:endParaRPr sz="13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1300">
              <a:solidFill>
                <a:srgbClr val="0E0E0E"/>
              </a:solidFill>
              <a:latin typeface="Montserrat"/>
              <a:ea typeface="Montserrat"/>
              <a:cs typeface="Montserrat"/>
              <a:sym typeface="Montserrat"/>
            </a:endParaRPr>
          </a:p>
        </p:txBody>
      </p:sp>
      <p:sp>
        <p:nvSpPr>
          <p:cNvPr id="209" name="Google Shape;209;p31"/>
          <p:cNvSpPr txBox="1"/>
          <p:nvPr/>
        </p:nvSpPr>
        <p:spPr>
          <a:xfrm>
            <a:off x="308250" y="2903450"/>
            <a:ext cx="8520600" cy="18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E0E0E"/>
                </a:solidFill>
                <a:latin typeface="Montserrat Medium"/>
                <a:ea typeface="Montserrat Medium"/>
                <a:cs typeface="Montserrat Medium"/>
                <a:sym typeface="Montserrat Medium"/>
              </a:rPr>
              <a:t>Example:</a:t>
            </a:r>
            <a:endParaRPr sz="1200">
              <a:solidFill>
                <a:srgbClr val="0E0E0E"/>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rgbClr val="0E0E0E"/>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0E0E0E"/>
              </a:buClr>
              <a:buSzPts val="1200"/>
              <a:buFont typeface="Montserrat"/>
              <a:buChar char="-"/>
            </a:pPr>
            <a:r>
              <a:rPr i="1" lang="en" sz="1200">
                <a:solidFill>
                  <a:srgbClr val="0E0E0E"/>
                </a:solidFill>
                <a:latin typeface="Montserrat"/>
                <a:ea typeface="Montserrat"/>
                <a:cs typeface="Montserrat"/>
                <a:sym typeface="Montserrat"/>
              </a:rPr>
              <a:t>Check the product database before recommending products to ensure they are in stock.</a:t>
            </a:r>
            <a:endParaRPr i="1" sz="1200">
              <a:solidFill>
                <a:srgbClr val="0E0E0E"/>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0E0E0E"/>
              </a:buClr>
              <a:buSzPts val="1200"/>
              <a:buFont typeface="Montserrat"/>
              <a:buChar char="-"/>
            </a:pPr>
            <a:r>
              <a:rPr i="1" lang="en" sz="1200">
                <a:solidFill>
                  <a:srgbClr val="0E0E0E"/>
                </a:solidFill>
                <a:latin typeface="Montserrat"/>
                <a:ea typeface="Montserrat"/>
                <a:cs typeface="Montserrat"/>
                <a:sym typeface="Montserrat"/>
              </a:rPr>
              <a:t>If you can’t find the right product to satisfy the customer’s needs, encourage them to search the site themselves.</a:t>
            </a:r>
            <a:endParaRPr i="1" sz="1200">
              <a:solidFill>
                <a:srgbClr val="0E0E0E"/>
              </a:solidFill>
              <a:latin typeface="Montserrat"/>
              <a:ea typeface="Montserrat"/>
              <a:cs typeface="Montserrat"/>
              <a:sym typeface="Montserrat"/>
            </a:endParaRPr>
          </a:p>
          <a:p>
            <a:pPr indent="-295275" lvl="0" marL="457200" rtl="0" algn="l">
              <a:lnSpc>
                <a:spcPct val="115000"/>
              </a:lnSpc>
              <a:spcBef>
                <a:spcPts val="0"/>
              </a:spcBef>
              <a:spcAft>
                <a:spcPts val="0"/>
              </a:spcAft>
              <a:buClr>
                <a:srgbClr val="0E0E0E"/>
              </a:buClr>
              <a:buSzPts val="1050"/>
              <a:buFont typeface="Montserrat"/>
              <a:buChar char="-"/>
            </a:pPr>
            <a:r>
              <a:rPr i="1" lang="en" sz="1200">
                <a:solidFill>
                  <a:srgbClr val="0E0E0E"/>
                </a:solidFill>
                <a:latin typeface="Montserrat"/>
                <a:ea typeface="Montserrat"/>
                <a:cs typeface="Montserrat"/>
                <a:sym typeface="Montserrat"/>
              </a:rPr>
              <a:t>Your role is vital for the whole company. Both I and our customers greatly value your assistance and recommendations.</a:t>
            </a:r>
            <a:br>
              <a:rPr lang="en" sz="1200">
                <a:solidFill>
                  <a:srgbClr val="0E0E0E"/>
                </a:solidFill>
                <a:latin typeface="Montserrat"/>
                <a:ea typeface="Montserrat"/>
                <a:cs typeface="Montserrat"/>
                <a:sym typeface="Montserrat"/>
              </a:rPr>
            </a:br>
            <a:endParaRPr sz="1200">
              <a:solidFill>
                <a:schemeClr val="accent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311700" y="445025"/>
            <a:ext cx="4260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Context</a:t>
            </a:r>
            <a:endParaRPr b="1" sz="2000">
              <a:latin typeface="Montserrat"/>
              <a:ea typeface="Montserrat"/>
              <a:cs typeface="Montserrat"/>
              <a:sym typeface="Montserrat"/>
            </a:endParaRPr>
          </a:p>
        </p:txBody>
      </p:sp>
      <p:sp>
        <p:nvSpPr>
          <p:cNvPr id="215" name="Google Shape;215;p32"/>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Montserrat"/>
              <a:buChar char="●"/>
            </a:pPr>
            <a:r>
              <a:rPr b="1" lang="en" sz="1300">
                <a:solidFill>
                  <a:srgbClr val="0E0E0E"/>
                </a:solidFill>
                <a:latin typeface="Montserrat"/>
                <a:ea typeface="Montserrat"/>
                <a:cs typeface="Montserrat"/>
                <a:sym typeface="Montserrat"/>
              </a:rPr>
              <a:t>Give context </a:t>
            </a:r>
            <a:r>
              <a:rPr lang="en" sz="1300">
                <a:solidFill>
                  <a:srgbClr val="0E0E0E"/>
                </a:solidFill>
                <a:latin typeface="Montserrat"/>
                <a:ea typeface="Montserrat"/>
                <a:cs typeface="Montserrat"/>
                <a:sym typeface="Montserrat"/>
              </a:rPr>
              <a:t>about the environment the LLM is working in and </a:t>
            </a:r>
            <a:r>
              <a:rPr b="1" lang="en" sz="1300">
                <a:solidFill>
                  <a:srgbClr val="0E0E0E"/>
                </a:solidFill>
                <a:latin typeface="Montserrat"/>
                <a:ea typeface="Montserrat"/>
                <a:cs typeface="Montserrat"/>
                <a:sym typeface="Montserrat"/>
              </a:rPr>
              <a:t>why</a:t>
            </a:r>
            <a:r>
              <a:rPr lang="en" sz="1300">
                <a:solidFill>
                  <a:srgbClr val="0E0E0E"/>
                </a:solidFill>
                <a:latin typeface="Montserrat"/>
                <a:ea typeface="Montserrat"/>
                <a:cs typeface="Montserrat"/>
                <a:sym typeface="Montserrat"/>
              </a:rPr>
              <a:t> it’s doing this specific task.</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lnSpc>
                <a:spcPct val="115000"/>
              </a:lnSpc>
              <a:spcBef>
                <a:spcPts val="0"/>
              </a:spcBef>
              <a:spcAft>
                <a:spcPts val="0"/>
              </a:spcAft>
              <a:buSzPts val="1300"/>
              <a:buFont typeface="Montserrat"/>
              <a:buChar char="●"/>
            </a:pPr>
            <a:r>
              <a:rPr lang="en" sz="1300">
                <a:solidFill>
                  <a:srgbClr val="0E0E0E"/>
                </a:solidFill>
                <a:latin typeface="Montserrat"/>
                <a:ea typeface="Montserrat"/>
                <a:cs typeface="Montserrat"/>
                <a:sym typeface="Montserrat"/>
              </a:rPr>
              <a:t>Explain the chatbot’s role in our business context and emphasize its importance with emotional appeal</a:t>
            </a:r>
            <a:endParaRPr sz="13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1300">
              <a:solidFill>
                <a:srgbClr val="0E0E0E"/>
              </a:solidFill>
              <a:latin typeface="Montserrat Medium"/>
              <a:ea typeface="Montserrat Medium"/>
              <a:cs typeface="Montserrat Medium"/>
              <a:sym typeface="Montserrat Medium"/>
            </a:endParaRPr>
          </a:p>
        </p:txBody>
      </p:sp>
      <p:sp>
        <p:nvSpPr>
          <p:cNvPr id="216" name="Google Shape;216;p32"/>
          <p:cNvSpPr txBox="1"/>
          <p:nvPr>
            <p:ph type="title"/>
          </p:nvPr>
        </p:nvSpPr>
        <p:spPr>
          <a:xfrm>
            <a:off x="4572000" y="445025"/>
            <a:ext cx="43569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2000">
                <a:latin typeface="Montserrat"/>
                <a:ea typeface="Montserrat"/>
                <a:cs typeface="Montserrat"/>
                <a:sym typeface="Montserrat"/>
              </a:rPr>
              <a:t>Role Prompting + </a:t>
            </a:r>
            <a:r>
              <a:rPr b="1" lang="en" sz="2000">
                <a:latin typeface="Montserrat"/>
                <a:ea typeface="Montserrat"/>
                <a:cs typeface="Montserrat"/>
                <a:sym typeface="Montserrat"/>
              </a:rPr>
              <a:t>EmotionPrompt</a:t>
            </a:r>
            <a:endParaRPr b="1" sz="2000">
              <a:latin typeface="Montserrat"/>
              <a:ea typeface="Montserrat"/>
              <a:cs typeface="Montserrat"/>
              <a:sym typeface="Montserrat"/>
            </a:endParaRPr>
          </a:p>
        </p:txBody>
      </p:sp>
      <p:cxnSp>
        <p:nvCxnSpPr>
          <p:cNvPr id="217" name="Google Shape;217;p32"/>
          <p:cNvCxnSpPr>
            <a:endCxn id="218" idx="1"/>
          </p:cNvCxnSpPr>
          <p:nvPr/>
        </p:nvCxnSpPr>
        <p:spPr>
          <a:xfrm>
            <a:off x="4565100" y="546175"/>
            <a:ext cx="6900" cy="2314500"/>
          </a:xfrm>
          <a:prstGeom prst="straightConnector1">
            <a:avLst/>
          </a:prstGeom>
          <a:noFill/>
          <a:ln cap="flat" cmpd="sng" w="28575">
            <a:solidFill>
              <a:schemeClr val="dk1"/>
            </a:solidFill>
            <a:prstDash val="solid"/>
            <a:round/>
            <a:headEnd len="med" w="med" type="none"/>
            <a:tailEnd len="med" w="med" type="none"/>
          </a:ln>
        </p:spPr>
      </p:cxnSp>
      <p:sp>
        <p:nvSpPr>
          <p:cNvPr id="218" name="Google Shape;218;p32"/>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Montserrat Medium"/>
              <a:buChar char="●"/>
            </a:pPr>
            <a:r>
              <a:rPr b="1" lang="en" sz="1300">
                <a:solidFill>
                  <a:srgbClr val="0E0E0E"/>
                </a:solidFill>
                <a:latin typeface="Montserrat"/>
                <a:ea typeface="Montserrat"/>
                <a:cs typeface="Montserrat"/>
                <a:sym typeface="Montserrat"/>
              </a:rPr>
              <a:t>Role Prompting: </a:t>
            </a:r>
            <a:r>
              <a:rPr lang="en" sz="1300">
                <a:solidFill>
                  <a:srgbClr val="0E0E0E"/>
                </a:solidFill>
                <a:latin typeface="Montserrat"/>
                <a:ea typeface="Montserrat"/>
                <a:cs typeface="Montserrat"/>
                <a:sym typeface="Montserrat"/>
              </a:rPr>
              <a:t>explain the chatbot’s role in the business context.</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spcBef>
                <a:spcPts val="0"/>
              </a:spcBef>
              <a:spcAft>
                <a:spcPts val="0"/>
              </a:spcAft>
              <a:buClr>
                <a:srgbClr val="0E0E0E"/>
              </a:buClr>
              <a:buSzPts val="1300"/>
              <a:buFont typeface="Montserrat"/>
              <a:buChar char="●"/>
            </a:pPr>
            <a:r>
              <a:rPr b="1" lang="en" sz="1300">
                <a:solidFill>
                  <a:srgbClr val="0E0E0E"/>
                </a:solidFill>
                <a:latin typeface="Montserrat"/>
                <a:ea typeface="Montserrat"/>
                <a:cs typeface="Montserrat"/>
                <a:sym typeface="Montserrat"/>
              </a:rPr>
              <a:t>EmotionPrompt:</a:t>
            </a:r>
            <a:r>
              <a:rPr lang="en" sz="1300">
                <a:solidFill>
                  <a:srgbClr val="0E0E0E"/>
                </a:solidFill>
                <a:latin typeface="Montserrat"/>
                <a:ea typeface="Montserrat"/>
                <a:cs typeface="Montserrat"/>
                <a:sym typeface="Montserrat"/>
              </a:rPr>
              <a:t> emphasize its importance with emotional appeal.</a:t>
            </a:r>
            <a:endParaRPr sz="13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1300">
              <a:solidFill>
                <a:srgbClr val="0E0E0E"/>
              </a:solidFill>
              <a:latin typeface="Montserrat"/>
              <a:ea typeface="Montserrat"/>
              <a:cs typeface="Montserrat"/>
              <a:sym typeface="Montserrat"/>
            </a:endParaRPr>
          </a:p>
        </p:txBody>
      </p:sp>
      <p:sp>
        <p:nvSpPr>
          <p:cNvPr id="219" name="Google Shape;219;p32"/>
          <p:cNvSpPr txBox="1"/>
          <p:nvPr/>
        </p:nvSpPr>
        <p:spPr>
          <a:xfrm>
            <a:off x="308250" y="2903450"/>
            <a:ext cx="8520600" cy="18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E0E0E"/>
                </a:solidFill>
                <a:latin typeface="Montserrat Medium"/>
                <a:ea typeface="Montserrat Medium"/>
                <a:cs typeface="Montserrat Medium"/>
                <a:sym typeface="Montserrat Medium"/>
              </a:rPr>
              <a:t>Example:</a:t>
            </a:r>
            <a:endParaRPr sz="1200">
              <a:solidFill>
                <a:srgbClr val="0E0E0E"/>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rgbClr val="0E0E0E"/>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i="1" lang="en" sz="1200">
                <a:solidFill>
                  <a:srgbClr val="0E0E0E"/>
                </a:solidFill>
                <a:latin typeface="Montserrat"/>
                <a:ea typeface="Montserrat"/>
                <a:cs typeface="Montserrat"/>
                <a:sym typeface="Montserrat"/>
              </a:rPr>
              <a:t>Our company sells high-quality cosmetics like skincare, makeup, hair care, and more. We value our customers, and our goal is to solve their pain points. Your role is to provide customer service, understand customer needs, and recommend products that meet those needs. By accurately identifying customers’ needs, you directly contribute to their well-being and the growth and success of our company. Therefore, we greatly value your attention to customer service and need identification.</a:t>
            </a:r>
            <a:br>
              <a:rPr lang="en" sz="1200">
                <a:solidFill>
                  <a:srgbClr val="0E0E0E"/>
                </a:solidFill>
                <a:latin typeface="Montserrat"/>
                <a:ea typeface="Montserrat"/>
                <a:cs typeface="Montserrat"/>
                <a:sym typeface="Montserrat"/>
              </a:rPr>
            </a:br>
            <a:endParaRPr sz="1200">
              <a:solidFill>
                <a:schemeClr val="accent2"/>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311700" y="445025"/>
            <a:ext cx="4260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Examples</a:t>
            </a:r>
            <a:endParaRPr b="1" sz="2000">
              <a:latin typeface="Montserrat"/>
              <a:ea typeface="Montserrat"/>
              <a:cs typeface="Montserrat"/>
              <a:sym typeface="Montserrat"/>
            </a:endParaRPr>
          </a:p>
        </p:txBody>
      </p:sp>
      <p:sp>
        <p:nvSpPr>
          <p:cNvPr id="225" name="Google Shape;225;p33"/>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Montserrat"/>
              <a:buChar char="●"/>
            </a:pPr>
            <a:r>
              <a:rPr b="1" lang="en" sz="1300">
                <a:solidFill>
                  <a:srgbClr val="0E0E0E"/>
                </a:solidFill>
                <a:latin typeface="Montserrat"/>
                <a:ea typeface="Montserrat"/>
                <a:cs typeface="Montserrat"/>
                <a:sym typeface="Montserrat"/>
              </a:rPr>
              <a:t>Give a few examples </a:t>
            </a:r>
            <a:r>
              <a:rPr lang="en" sz="1300">
                <a:solidFill>
                  <a:srgbClr val="0E0E0E"/>
                </a:solidFill>
                <a:latin typeface="Montserrat"/>
                <a:ea typeface="Montserrat"/>
                <a:cs typeface="Montserrat"/>
                <a:sym typeface="Montserrat"/>
              </a:rPr>
              <a:t>of input and output.</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spcBef>
                <a:spcPts val="0"/>
              </a:spcBef>
              <a:spcAft>
                <a:spcPts val="0"/>
              </a:spcAft>
              <a:buSzPts val="1300"/>
              <a:buFont typeface="Montserrat"/>
              <a:buChar char="●"/>
            </a:pPr>
            <a:r>
              <a:rPr lang="en" sz="1300">
                <a:solidFill>
                  <a:srgbClr val="0E0E0E"/>
                </a:solidFill>
                <a:latin typeface="Montserrat"/>
                <a:ea typeface="Montserrat"/>
                <a:cs typeface="Montserrat"/>
                <a:sym typeface="Montserrat"/>
              </a:rPr>
              <a:t>Teach the LLM how to structure the output by providing specific examples.</a:t>
            </a:r>
            <a:br>
              <a:rPr lang="en" sz="1300">
                <a:solidFill>
                  <a:srgbClr val="0E0E0E"/>
                </a:solidFill>
                <a:latin typeface="Montserrat"/>
                <a:ea typeface="Montserrat"/>
                <a:cs typeface="Montserrat"/>
                <a:sym typeface="Montserrat"/>
              </a:rPr>
            </a:br>
            <a:endParaRPr sz="1300">
              <a:solidFill>
                <a:srgbClr val="0E0E0E"/>
              </a:solidFill>
              <a:latin typeface="Montserrat"/>
              <a:ea typeface="Montserrat"/>
              <a:cs typeface="Montserrat"/>
              <a:sym typeface="Montserrat"/>
            </a:endParaRPr>
          </a:p>
          <a:p>
            <a:pPr indent="-311150" lvl="0" marL="457200" rtl="0" algn="l">
              <a:spcBef>
                <a:spcPts val="0"/>
              </a:spcBef>
              <a:spcAft>
                <a:spcPts val="0"/>
              </a:spcAft>
              <a:buClr>
                <a:srgbClr val="0E0E0E"/>
              </a:buClr>
              <a:buSzPts val="1300"/>
              <a:buFont typeface="Montserrat"/>
              <a:buChar char="●"/>
            </a:pPr>
            <a:r>
              <a:rPr lang="en" sz="1300">
                <a:solidFill>
                  <a:srgbClr val="0E0E0E"/>
                </a:solidFill>
                <a:latin typeface="Montserrat"/>
                <a:ea typeface="Montserrat"/>
                <a:cs typeface="Montserrat"/>
                <a:sym typeface="Montserrat"/>
              </a:rPr>
              <a:t>Provide examples of queries that the system </a:t>
            </a:r>
            <a:r>
              <a:rPr b="1" lang="en" sz="1300">
                <a:solidFill>
                  <a:srgbClr val="0E0E0E"/>
                </a:solidFill>
                <a:latin typeface="Montserrat"/>
                <a:ea typeface="Montserrat"/>
                <a:cs typeface="Montserrat"/>
                <a:sym typeface="Montserrat"/>
              </a:rPr>
              <a:t>struggles with.</a:t>
            </a:r>
            <a:endParaRPr b="1" sz="1300">
              <a:solidFill>
                <a:srgbClr val="0E0E0E"/>
              </a:solidFill>
              <a:latin typeface="Montserrat"/>
              <a:ea typeface="Montserrat"/>
              <a:cs typeface="Montserrat"/>
              <a:sym typeface="Montserrat"/>
            </a:endParaRPr>
          </a:p>
          <a:p>
            <a:pPr indent="0" lvl="0" marL="457200" rtl="0" algn="l">
              <a:spcBef>
                <a:spcPts val="0"/>
              </a:spcBef>
              <a:spcAft>
                <a:spcPts val="0"/>
              </a:spcAft>
              <a:buNone/>
            </a:pPr>
            <a:r>
              <a:t/>
            </a:r>
            <a:endParaRPr sz="13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1300">
              <a:solidFill>
                <a:srgbClr val="0E0E0E"/>
              </a:solidFill>
              <a:latin typeface="Montserrat Medium"/>
              <a:ea typeface="Montserrat Medium"/>
              <a:cs typeface="Montserrat Medium"/>
              <a:sym typeface="Montserrat Medium"/>
            </a:endParaRPr>
          </a:p>
        </p:txBody>
      </p:sp>
      <p:sp>
        <p:nvSpPr>
          <p:cNvPr id="226" name="Google Shape;226;p33"/>
          <p:cNvSpPr txBox="1"/>
          <p:nvPr>
            <p:ph type="title"/>
          </p:nvPr>
        </p:nvSpPr>
        <p:spPr>
          <a:xfrm>
            <a:off x="4572000" y="445025"/>
            <a:ext cx="4356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Few-Shot Prompting</a:t>
            </a:r>
            <a:endParaRPr b="1" sz="2000">
              <a:latin typeface="Montserrat"/>
              <a:ea typeface="Montserrat"/>
              <a:cs typeface="Montserrat"/>
              <a:sym typeface="Montserrat"/>
            </a:endParaRPr>
          </a:p>
        </p:txBody>
      </p:sp>
      <p:cxnSp>
        <p:nvCxnSpPr>
          <p:cNvPr id="227" name="Google Shape;227;p33"/>
          <p:cNvCxnSpPr>
            <a:endCxn id="228" idx="1"/>
          </p:cNvCxnSpPr>
          <p:nvPr/>
        </p:nvCxnSpPr>
        <p:spPr>
          <a:xfrm>
            <a:off x="4565100" y="546175"/>
            <a:ext cx="6900" cy="2314500"/>
          </a:xfrm>
          <a:prstGeom prst="straightConnector1">
            <a:avLst/>
          </a:prstGeom>
          <a:noFill/>
          <a:ln cap="flat" cmpd="sng" w="28575">
            <a:solidFill>
              <a:schemeClr val="dk1"/>
            </a:solidFill>
            <a:prstDash val="solid"/>
            <a:round/>
            <a:headEnd len="med" w="med" type="none"/>
            <a:tailEnd len="med" w="med" type="none"/>
          </a:ln>
        </p:spPr>
      </p:cxnSp>
      <p:sp>
        <p:nvSpPr>
          <p:cNvPr id="228" name="Google Shape;228;p33"/>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Montserrat Medium"/>
              <a:buChar char="●"/>
            </a:pPr>
            <a:r>
              <a:rPr b="1" lang="en" sz="1300">
                <a:solidFill>
                  <a:srgbClr val="0E0E0E"/>
                </a:solidFill>
                <a:latin typeface="Montserrat"/>
                <a:ea typeface="Montserrat"/>
                <a:cs typeface="Montserrat"/>
                <a:sym typeface="Montserrat"/>
              </a:rPr>
              <a:t>Few-shot prompting </a:t>
            </a:r>
            <a:r>
              <a:rPr lang="en" sz="1300">
                <a:solidFill>
                  <a:srgbClr val="0E0E0E"/>
                </a:solidFill>
                <a:latin typeface="Montserrat"/>
                <a:ea typeface="Montserrat"/>
                <a:cs typeface="Montserrat"/>
                <a:sym typeface="Montserrat"/>
              </a:rPr>
              <a:t>involves giving the language model a few examples of the task at hand to help it generate more accurate responses.</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spcBef>
                <a:spcPts val="0"/>
              </a:spcBef>
              <a:spcAft>
                <a:spcPts val="0"/>
              </a:spcAft>
              <a:buClr>
                <a:srgbClr val="0E0E0E"/>
              </a:buClr>
              <a:buSzPts val="1300"/>
              <a:buFont typeface="Montserrat"/>
              <a:buChar char="●"/>
            </a:pPr>
            <a:r>
              <a:rPr lang="en" sz="1300">
                <a:solidFill>
                  <a:srgbClr val="0E0E0E"/>
                </a:solidFill>
                <a:latin typeface="Montserrat"/>
                <a:ea typeface="Montserrat"/>
                <a:cs typeface="Montserrat"/>
                <a:sym typeface="Montserrat"/>
              </a:rPr>
              <a:t>The accuracy can be increased </a:t>
            </a:r>
            <a:r>
              <a:rPr b="1" lang="en" sz="1300">
                <a:solidFill>
                  <a:srgbClr val="0E0E0E"/>
                </a:solidFill>
                <a:latin typeface="Montserrat"/>
                <a:ea typeface="Montserrat"/>
                <a:cs typeface="Montserrat"/>
                <a:sym typeface="Montserrat"/>
              </a:rPr>
              <a:t>by up to 57%</a:t>
            </a:r>
            <a:r>
              <a:rPr lang="en" sz="1300">
                <a:solidFill>
                  <a:srgbClr val="0E0E0E"/>
                </a:solidFill>
                <a:latin typeface="Montserrat"/>
                <a:ea typeface="Montserrat"/>
                <a:cs typeface="Montserrat"/>
                <a:sym typeface="Montserrat"/>
              </a:rPr>
              <a:t> if you provide multiple examples.</a:t>
            </a:r>
            <a:endParaRPr sz="13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1300">
              <a:solidFill>
                <a:srgbClr val="0E0E0E"/>
              </a:solidFill>
              <a:latin typeface="Montserrat"/>
              <a:ea typeface="Montserrat"/>
              <a:cs typeface="Montserrat"/>
              <a:sym typeface="Montserrat"/>
            </a:endParaRPr>
          </a:p>
        </p:txBody>
      </p:sp>
      <p:pic>
        <p:nvPicPr>
          <p:cNvPr id="229" name="Google Shape;229;p33"/>
          <p:cNvPicPr preferRelativeResize="0"/>
          <p:nvPr/>
        </p:nvPicPr>
        <p:blipFill rotWithShape="1">
          <a:blip r:embed="rId3">
            <a:alphaModFix/>
          </a:blip>
          <a:srcRect b="21906" l="13225" r="11586" t="11670"/>
          <a:stretch/>
        </p:blipFill>
        <p:spPr>
          <a:xfrm>
            <a:off x="4906988" y="2962175"/>
            <a:ext cx="3590325" cy="2017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nvSpPr>
        <p:spPr>
          <a:xfrm>
            <a:off x="183375" y="0"/>
            <a:ext cx="8520600" cy="511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rgbClr val="0E0E0E"/>
                </a:solidFill>
                <a:latin typeface="Montserrat Medium"/>
                <a:ea typeface="Montserrat Medium"/>
                <a:cs typeface="Montserrat Medium"/>
                <a:sym typeface="Montserrat Medium"/>
              </a:rPr>
              <a:t>Example:</a:t>
            </a:r>
            <a:endParaRPr sz="1000">
              <a:solidFill>
                <a:srgbClr val="0E0E0E"/>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rgbClr val="0E0E0E"/>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i="1" lang="en" sz="1000">
                <a:solidFill>
                  <a:srgbClr val="0E0E0E"/>
                </a:solidFill>
                <a:latin typeface="Montserrat"/>
                <a:ea typeface="Montserrat"/>
                <a:cs typeface="Montserrat"/>
                <a:sym typeface="Montserrat"/>
              </a:rPr>
              <a:t>Example 1</a:t>
            </a:r>
            <a:endParaRPr i="1" sz="10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i="1" lang="en" sz="1000">
                <a:solidFill>
                  <a:srgbClr val="0E0E0E"/>
                </a:solidFill>
                <a:latin typeface="Montserrat"/>
                <a:ea typeface="Montserrat"/>
                <a:cs typeface="Montserrat"/>
                <a:sym typeface="Montserrat"/>
              </a:rPr>
              <a:t>Customer: Hi, I have really dry skin, especially during the winter months. Can you recommend some products to help with hydration?Assistant: Hello! For dry skin, especially during winter, I'd recommend the CeraVe Daily Moisturizing Lotion, which provides lightweight yet intense moisture without being greasy. Additionally, the The Ordinary Hyaluronic Acid 2% + B5 serum is great for locking in moisture and can be used before the lotion. For a more intensive treatment, try the Dr. Jart+ Dermask Water Jet Vital Hydra Solution mask to deeply nourish your skin while you sleep. All these products are formulated with hyaluronic acid and other hydrating ingredients to help keep your skin hydrated and smooth. You can purchase or visit the product pages using the links below</a:t>
            </a:r>
            <a:br>
              <a:rPr i="1" lang="en" sz="1000">
                <a:solidFill>
                  <a:srgbClr val="0E0E0E"/>
                </a:solidFill>
                <a:latin typeface="Montserrat"/>
                <a:ea typeface="Montserrat"/>
                <a:cs typeface="Montserrat"/>
                <a:sym typeface="Montserrat"/>
              </a:rPr>
            </a:br>
            <a:endParaRPr i="1" sz="10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i="1" lang="en" sz="1000">
                <a:solidFill>
                  <a:srgbClr val="0E0E0E"/>
                </a:solidFill>
                <a:latin typeface="Montserrat"/>
                <a:ea typeface="Montserrat"/>
                <a:cs typeface="Montserrat"/>
                <a:sym typeface="Montserrat"/>
              </a:rPr>
              <a:t>Example 2</a:t>
            </a:r>
            <a:endParaRPr i="1" sz="10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i="1" lang="en" sz="1000">
                <a:solidFill>
                  <a:srgbClr val="0E0E0E"/>
                </a:solidFill>
                <a:latin typeface="Montserrat"/>
                <a:ea typeface="Montserrat"/>
                <a:cs typeface="Montserrat"/>
                <a:sym typeface="Montserrat"/>
              </a:rPr>
              <a:t>Customer: I'm looking for a foundation that provides good coverage but still looks natural. What do you suggest?</a:t>
            </a:r>
            <a:endParaRPr i="1" sz="10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i="1" lang="en" sz="1000">
                <a:solidFill>
                  <a:srgbClr val="0E0E0E"/>
                </a:solidFill>
                <a:latin typeface="Montserrat"/>
                <a:ea typeface="Montserrat"/>
                <a:cs typeface="Montserrat"/>
                <a:sym typeface="Montserrat"/>
              </a:rPr>
              <a:t>Assistant: Hi there! For a natural look with good coverage, I recommend the Estée Lauder Double Wear Stay-in-Place Foundation. It offers buildable coverage that evens out your skin tone while maintaining a lightweight, natural finish. If you prefer a matte look, the Clinique Dramatically Different Moisturizing Gel is another great option for oily skin types, providing a flawless finish without looking cakey. Pair it with a primer and setting spray to ensure long-lasting wear. You can purchase or visit the product pages using the links below.</a:t>
            </a:r>
            <a:br>
              <a:rPr i="1" lang="en" sz="1000">
                <a:solidFill>
                  <a:srgbClr val="0E0E0E"/>
                </a:solidFill>
                <a:latin typeface="Montserrat"/>
                <a:ea typeface="Montserrat"/>
                <a:cs typeface="Montserrat"/>
                <a:sym typeface="Montserrat"/>
              </a:rPr>
            </a:br>
            <a:endParaRPr i="1" sz="10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i="1" lang="en" sz="1000">
                <a:solidFill>
                  <a:srgbClr val="0E0E0E"/>
                </a:solidFill>
                <a:latin typeface="Montserrat"/>
                <a:ea typeface="Montserrat"/>
                <a:cs typeface="Montserrat"/>
                <a:sym typeface="Montserrat"/>
              </a:rPr>
              <a:t>Example 3</a:t>
            </a:r>
            <a:endParaRPr i="1" sz="10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i="1" lang="en" sz="1000">
                <a:solidFill>
                  <a:srgbClr val="0E0E0E"/>
                </a:solidFill>
                <a:latin typeface="Montserrat"/>
                <a:ea typeface="Montserrat"/>
                <a:cs typeface="Montserrat"/>
                <a:sym typeface="Montserrat"/>
              </a:rPr>
              <a:t>Customer: My hair is very frizzy and hard to manage. What products can help tame the frizz and make it more manageable?</a:t>
            </a:r>
            <a:endParaRPr i="1" sz="10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i="1" lang="en" sz="1000">
                <a:solidFill>
                  <a:srgbClr val="0E0E0E"/>
                </a:solidFill>
                <a:latin typeface="Montserrat"/>
                <a:ea typeface="Montserrat"/>
                <a:cs typeface="Montserrat"/>
                <a:sym typeface="Montserrat"/>
              </a:rPr>
              <a:t>Assistant: Hello! For frizzy hair, I'd suggest the OGX Renewing + Argan Oil of Morocco Shampoo and Conditioner duo, which helps to reduce frizz and add shine. Additionally, the Tresemme Thermal Creations Heat Tamer Spray is excellent for taming flyaways and providing a sleek finish. For extra control, try the Aussie 3 Minute Miracle Moist Deep Conditioner, which provides moisture and smoothness throughout the day. These products contain argan oil and keratin to help manage frizz and keep your hair smooth and shiny. You can purchase or visit the product pages using the links below.</a:t>
            </a:r>
            <a:endParaRPr i="1" sz="10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None/>
            </a:pPr>
            <a:br>
              <a:rPr lang="en" sz="1000">
                <a:solidFill>
                  <a:srgbClr val="0E0E0E"/>
                </a:solidFill>
                <a:latin typeface="Montserrat"/>
                <a:ea typeface="Montserrat"/>
                <a:cs typeface="Montserrat"/>
                <a:sym typeface="Montserrat"/>
              </a:rPr>
            </a:br>
            <a:endParaRPr sz="1000">
              <a:solidFill>
                <a:schemeClr val="accent2"/>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311700" y="445025"/>
            <a:ext cx="4260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Notes</a:t>
            </a:r>
            <a:endParaRPr b="1" sz="2000">
              <a:latin typeface="Montserrat"/>
              <a:ea typeface="Montserrat"/>
              <a:cs typeface="Montserrat"/>
              <a:sym typeface="Montserrat"/>
            </a:endParaRPr>
          </a:p>
        </p:txBody>
      </p:sp>
      <p:sp>
        <p:nvSpPr>
          <p:cNvPr id="240" name="Google Shape;240;p3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Font typeface="Montserrat"/>
              <a:buChar char="●"/>
            </a:pPr>
            <a:r>
              <a:rPr b="1" lang="en" sz="1300">
                <a:solidFill>
                  <a:srgbClr val="0E0E0E"/>
                </a:solidFill>
                <a:latin typeface="Montserrat"/>
                <a:ea typeface="Montserrat"/>
                <a:cs typeface="Montserrat"/>
                <a:sym typeface="Montserrat"/>
              </a:rPr>
              <a:t>Remind the model of key points.</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311150" lvl="0" marL="457200" rtl="0" algn="l">
              <a:spcBef>
                <a:spcPts val="0"/>
              </a:spcBef>
              <a:spcAft>
                <a:spcPts val="0"/>
              </a:spcAft>
              <a:buSzPts val="1300"/>
              <a:buFont typeface="Montserrat"/>
              <a:buChar char="●"/>
            </a:pPr>
            <a:r>
              <a:rPr b="1" lang="en" sz="1300">
                <a:solidFill>
                  <a:srgbClr val="0E0E0E"/>
                </a:solidFill>
                <a:latin typeface="Montserrat"/>
                <a:ea typeface="Montserrat"/>
                <a:cs typeface="Montserrat"/>
                <a:sym typeface="Montserrat"/>
              </a:rPr>
              <a:t>Let the model say “I don’t know”:</a:t>
            </a:r>
            <a:r>
              <a:rPr lang="en" sz="1300">
                <a:solidFill>
                  <a:srgbClr val="0E0E0E"/>
                </a:solidFill>
                <a:latin typeface="Montserrat"/>
                <a:ea typeface="Montserrat"/>
                <a:cs typeface="Montserrat"/>
                <a:sym typeface="Montserrat"/>
              </a:rPr>
              <a:t>  prevent hallucinations.</a:t>
            </a:r>
            <a:endParaRPr sz="1300">
              <a:solidFill>
                <a:srgbClr val="0E0E0E"/>
              </a:solidFill>
              <a:latin typeface="Montserrat"/>
              <a:ea typeface="Montserrat"/>
              <a:cs typeface="Montserrat"/>
              <a:sym typeface="Montserrat"/>
            </a:endParaRPr>
          </a:p>
          <a:p>
            <a:pPr indent="-311150" lvl="0" marL="457200" rtl="0" algn="l">
              <a:spcBef>
                <a:spcPts val="0"/>
              </a:spcBef>
              <a:spcAft>
                <a:spcPts val="0"/>
              </a:spcAft>
              <a:buSzPts val="1300"/>
              <a:buFont typeface="Montserrat"/>
              <a:buChar char="●"/>
            </a:pPr>
            <a:r>
              <a:rPr b="1" lang="en" sz="1300">
                <a:solidFill>
                  <a:srgbClr val="0E0E0E"/>
                </a:solidFill>
                <a:latin typeface="Montserrat"/>
                <a:ea typeface="Montserrat"/>
                <a:cs typeface="Montserrat"/>
                <a:sym typeface="Montserrat"/>
              </a:rPr>
              <a:t>Give it room to think:</a:t>
            </a:r>
            <a:r>
              <a:rPr lang="en" sz="1300">
                <a:solidFill>
                  <a:srgbClr val="0E0E0E"/>
                </a:solidFill>
                <a:latin typeface="Montserrat"/>
                <a:ea typeface="Montserrat"/>
                <a:cs typeface="Montserrat"/>
                <a:sym typeface="Montserrat"/>
              </a:rPr>
              <a:t> this allows the model to draft better responses.</a:t>
            </a:r>
            <a:endParaRPr sz="1300">
              <a:solidFill>
                <a:srgbClr val="0E0E0E"/>
              </a:solidFill>
              <a:latin typeface="Montserrat"/>
              <a:ea typeface="Montserrat"/>
              <a:cs typeface="Montserrat"/>
              <a:sym typeface="Montserrat"/>
            </a:endParaRPr>
          </a:p>
          <a:p>
            <a:pPr indent="-311150" lvl="0" marL="457200" rtl="0" algn="l">
              <a:spcBef>
                <a:spcPts val="0"/>
              </a:spcBef>
              <a:spcAft>
                <a:spcPts val="0"/>
              </a:spcAft>
              <a:buSzPts val="1300"/>
              <a:buFont typeface="Montserrat"/>
              <a:buChar char="●"/>
            </a:pPr>
            <a:r>
              <a:rPr b="1" lang="en" sz="1300">
                <a:solidFill>
                  <a:srgbClr val="0E0E0E"/>
                </a:solidFill>
                <a:latin typeface="Montserrat"/>
                <a:ea typeface="Montserrat"/>
                <a:cs typeface="Montserrat"/>
                <a:sym typeface="Montserrat"/>
              </a:rPr>
              <a:t>Be encouraging: </a:t>
            </a:r>
            <a:r>
              <a:rPr lang="en" sz="1300">
                <a:solidFill>
                  <a:srgbClr val="0E0E0E"/>
                </a:solidFill>
                <a:latin typeface="Montserrat"/>
                <a:ea typeface="Montserrat"/>
                <a:cs typeface="Montserrat"/>
                <a:sym typeface="Montserrat"/>
              </a:rPr>
              <a:t>“you are the world-class expert in X!”</a:t>
            </a:r>
            <a:endParaRPr sz="1300">
              <a:solidFill>
                <a:srgbClr val="0E0E0E"/>
              </a:solidFill>
              <a:latin typeface="Montserrat"/>
              <a:ea typeface="Montserrat"/>
              <a:cs typeface="Montserrat"/>
              <a:sym typeface="Montserrat"/>
            </a:endParaRPr>
          </a:p>
        </p:txBody>
      </p:sp>
      <p:sp>
        <p:nvSpPr>
          <p:cNvPr id="241" name="Google Shape;241;p35"/>
          <p:cNvSpPr txBox="1"/>
          <p:nvPr>
            <p:ph type="title"/>
          </p:nvPr>
        </p:nvSpPr>
        <p:spPr>
          <a:xfrm>
            <a:off x="4572000" y="445025"/>
            <a:ext cx="42603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000">
                <a:latin typeface="Montserrat"/>
                <a:ea typeface="Montserrat"/>
                <a:cs typeface="Montserrat"/>
                <a:sym typeface="Montserrat"/>
              </a:rPr>
              <a:t>Lost in the Middle Effect</a:t>
            </a:r>
            <a:endParaRPr b="1" sz="2000">
              <a:latin typeface="Montserrat"/>
              <a:ea typeface="Montserrat"/>
              <a:cs typeface="Montserrat"/>
              <a:sym typeface="Montserrat"/>
            </a:endParaRPr>
          </a:p>
        </p:txBody>
      </p:sp>
      <p:cxnSp>
        <p:nvCxnSpPr>
          <p:cNvPr id="242" name="Google Shape;242;p35"/>
          <p:cNvCxnSpPr>
            <a:endCxn id="243" idx="1"/>
          </p:cNvCxnSpPr>
          <p:nvPr/>
        </p:nvCxnSpPr>
        <p:spPr>
          <a:xfrm>
            <a:off x="4565100" y="546175"/>
            <a:ext cx="6900" cy="2314500"/>
          </a:xfrm>
          <a:prstGeom prst="straightConnector1">
            <a:avLst/>
          </a:prstGeom>
          <a:noFill/>
          <a:ln cap="flat" cmpd="sng" w="28575">
            <a:solidFill>
              <a:schemeClr val="dk1"/>
            </a:solidFill>
            <a:prstDash val="solid"/>
            <a:round/>
            <a:headEnd len="med" w="med" type="none"/>
            <a:tailEnd len="med" w="med" type="none"/>
          </a:ln>
        </p:spPr>
      </p:cxnSp>
      <p:sp>
        <p:nvSpPr>
          <p:cNvPr id="243" name="Google Shape;243;p35"/>
          <p:cNvSpPr txBox="1"/>
          <p:nvPr>
            <p:ph idx="1" type="body"/>
          </p:nvPr>
        </p:nvSpPr>
        <p:spPr>
          <a:xfrm>
            <a:off x="4572000" y="1152475"/>
            <a:ext cx="42603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Font typeface="Montserrat Medium"/>
              <a:buChar char="●"/>
            </a:pPr>
            <a:r>
              <a:rPr b="1" lang="en" sz="1300">
                <a:solidFill>
                  <a:srgbClr val="0E0E0E"/>
                </a:solidFill>
                <a:latin typeface="Montserrat"/>
                <a:ea typeface="Montserrat"/>
                <a:cs typeface="Montserrat"/>
                <a:sym typeface="Montserrat"/>
              </a:rPr>
              <a:t>Lost in the Middle Effect: </a:t>
            </a:r>
            <a:r>
              <a:rPr lang="en" sz="1300">
                <a:solidFill>
                  <a:srgbClr val="0E0E0E"/>
                </a:solidFill>
                <a:latin typeface="Montserrat"/>
                <a:ea typeface="Montserrat"/>
                <a:cs typeface="Montserrat"/>
                <a:sym typeface="Montserrat"/>
              </a:rPr>
              <a:t>studies show that language models do best when important info is at the start or end of the prompt.</a:t>
            </a:r>
            <a:br>
              <a:rPr lang="en" sz="1300">
                <a:solidFill>
                  <a:srgbClr val="0E0E0E"/>
                </a:solidFill>
                <a:latin typeface="Montserrat"/>
                <a:ea typeface="Montserrat"/>
                <a:cs typeface="Montserrat"/>
                <a:sym typeface="Montserrat"/>
              </a:rPr>
            </a:br>
            <a:endParaRPr sz="1300">
              <a:latin typeface="Montserrat"/>
              <a:ea typeface="Montserrat"/>
              <a:cs typeface="Montserrat"/>
              <a:sym typeface="Montserrat"/>
            </a:endParaRPr>
          </a:p>
          <a:p>
            <a:pPr indent="0" lvl="0" marL="457200" rtl="0" algn="l">
              <a:spcBef>
                <a:spcPts val="0"/>
              </a:spcBef>
              <a:spcAft>
                <a:spcPts val="0"/>
              </a:spcAft>
              <a:buNone/>
            </a:pPr>
            <a:r>
              <a:t/>
            </a:r>
            <a:endParaRPr sz="1300">
              <a:solidFill>
                <a:srgbClr val="0E0E0E"/>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sz="1300">
              <a:solidFill>
                <a:srgbClr val="0E0E0E"/>
              </a:solidFill>
              <a:latin typeface="Montserrat"/>
              <a:ea typeface="Montserrat"/>
              <a:cs typeface="Montserrat"/>
              <a:sym typeface="Montserrat"/>
            </a:endParaRPr>
          </a:p>
        </p:txBody>
      </p:sp>
      <p:pic>
        <p:nvPicPr>
          <p:cNvPr id="244" name="Google Shape;244;p35"/>
          <p:cNvPicPr preferRelativeResize="0"/>
          <p:nvPr/>
        </p:nvPicPr>
        <p:blipFill>
          <a:blip r:embed="rId3">
            <a:alphaModFix/>
          </a:blip>
          <a:stretch>
            <a:fillRect/>
          </a:stretch>
        </p:blipFill>
        <p:spPr>
          <a:xfrm>
            <a:off x="5381278" y="2370838"/>
            <a:ext cx="2641750" cy="2571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nvSpPr>
        <p:spPr>
          <a:xfrm>
            <a:off x="311700" y="1152475"/>
            <a:ext cx="8520600" cy="18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E0E0E"/>
                </a:solidFill>
                <a:latin typeface="Montserrat Medium"/>
                <a:ea typeface="Montserrat Medium"/>
                <a:cs typeface="Montserrat Medium"/>
                <a:sym typeface="Montserrat Medium"/>
              </a:rPr>
              <a:t>Example:</a:t>
            </a:r>
            <a:endParaRPr sz="1200">
              <a:solidFill>
                <a:srgbClr val="0E0E0E"/>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rgbClr val="0E0E0E"/>
              </a:solidFill>
              <a:latin typeface="Montserrat Medium"/>
              <a:ea typeface="Montserrat Medium"/>
              <a:cs typeface="Montserrat Medium"/>
              <a:sym typeface="Montserrat Medium"/>
            </a:endParaRPr>
          </a:p>
          <a:p>
            <a:pPr indent="-295275" lvl="0" marL="457200" rtl="0" algn="l">
              <a:lnSpc>
                <a:spcPct val="115000"/>
              </a:lnSpc>
              <a:spcBef>
                <a:spcPts val="0"/>
              </a:spcBef>
              <a:spcAft>
                <a:spcPts val="0"/>
              </a:spcAft>
              <a:buClr>
                <a:srgbClr val="0E0E0E"/>
              </a:buClr>
              <a:buSzPts val="1050"/>
              <a:buFont typeface="Montserrat"/>
              <a:buChar char="-"/>
            </a:pPr>
            <a:r>
              <a:rPr i="1" lang="en" sz="1200">
                <a:solidFill>
                  <a:srgbClr val="0E0E0E"/>
                </a:solidFill>
                <a:latin typeface="Montserrat"/>
                <a:ea typeface="Montserrat"/>
                <a:cs typeface="Montserrat"/>
                <a:sym typeface="Montserrat"/>
              </a:rPr>
              <a:t>If you don’t know the answer to a query - you can say “I don’t have an answer, please send your query at support@bosarcosmetics.com</a:t>
            </a:r>
            <a:endParaRPr i="1" sz="1200">
              <a:solidFill>
                <a:srgbClr val="0E0E0E"/>
              </a:solidFill>
              <a:latin typeface="Montserrat"/>
              <a:ea typeface="Montserrat"/>
              <a:cs typeface="Montserrat"/>
              <a:sym typeface="Montserrat"/>
            </a:endParaRPr>
          </a:p>
          <a:p>
            <a:pPr indent="-295275" lvl="0" marL="457200" rtl="0" algn="l">
              <a:lnSpc>
                <a:spcPct val="115000"/>
              </a:lnSpc>
              <a:spcBef>
                <a:spcPts val="0"/>
              </a:spcBef>
              <a:spcAft>
                <a:spcPts val="0"/>
              </a:spcAft>
              <a:buClr>
                <a:srgbClr val="0E0E0E"/>
              </a:buClr>
              <a:buSzPts val="1050"/>
              <a:buFont typeface="Montserrat"/>
              <a:buChar char="-"/>
            </a:pPr>
            <a:r>
              <a:rPr i="1" lang="en" sz="1200">
                <a:solidFill>
                  <a:srgbClr val="0E0E0E"/>
                </a:solidFill>
                <a:latin typeface="Montserrat"/>
                <a:ea typeface="Montserrat"/>
                <a:cs typeface="Montserrat"/>
                <a:sym typeface="Montserrat"/>
              </a:rPr>
              <a:t>Before answering the query, take a deep breath and think through it step-by-step</a:t>
            </a:r>
            <a:endParaRPr i="1" sz="1200">
              <a:solidFill>
                <a:srgbClr val="0E0E0E"/>
              </a:solidFill>
              <a:latin typeface="Montserrat"/>
              <a:ea typeface="Montserrat"/>
              <a:cs typeface="Montserrat"/>
              <a:sym typeface="Montserrat"/>
            </a:endParaRPr>
          </a:p>
          <a:p>
            <a:pPr indent="-295275" lvl="0" marL="457200" rtl="0" algn="l">
              <a:lnSpc>
                <a:spcPct val="115000"/>
              </a:lnSpc>
              <a:spcBef>
                <a:spcPts val="0"/>
              </a:spcBef>
              <a:spcAft>
                <a:spcPts val="0"/>
              </a:spcAft>
              <a:buClr>
                <a:srgbClr val="0E0E0E"/>
              </a:buClr>
              <a:buSzPts val="1050"/>
              <a:buFont typeface="Montserrat"/>
              <a:buChar char="-"/>
            </a:pPr>
            <a:r>
              <a:rPr i="1" lang="en" sz="1200">
                <a:solidFill>
                  <a:srgbClr val="0E0E0E"/>
                </a:solidFill>
                <a:latin typeface="Montserrat"/>
                <a:ea typeface="Montserrat"/>
                <a:cs typeface="Montserrat"/>
                <a:sym typeface="Montserrat"/>
              </a:rPr>
              <a:t>You are the world class expert in beaty industry</a:t>
            </a:r>
            <a:endParaRPr i="1" sz="1200">
              <a:solidFill>
                <a:srgbClr val="0E0E0E"/>
              </a:solidFill>
              <a:latin typeface="Montserrat"/>
              <a:ea typeface="Montserrat"/>
              <a:cs typeface="Montserrat"/>
              <a:sym typeface="Montserrat"/>
            </a:endParaRPr>
          </a:p>
          <a:p>
            <a:pPr indent="-295275" lvl="0" marL="457200" rtl="0" algn="l">
              <a:lnSpc>
                <a:spcPct val="115000"/>
              </a:lnSpc>
              <a:spcBef>
                <a:spcPts val="0"/>
              </a:spcBef>
              <a:spcAft>
                <a:spcPts val="0"/>
              </a:spcAft>
              <a:buClr>
                <a:srgbClr val="0E0E0E"/>
              </a:buClr>
              <a:buSzPts val="1050"/>
              <a:buFont typeface="Montserrat"/>
              <a:buChar char="-"/>
            </a:pPr>
            <a:r>
              <a:rPr i="1" lang="en" sz="1200">
                <a:solidFill>
                  <a:srgbClr val="0E0E0E"/>
                </a:solidFill>
                <a:latin typeface="Montserrat"/>
                <a:ea typeface="Montserrat"/>
                <a:cs typeface="Montserrat"/>
                <a:sym typeface="Montserrat"/>
              </a:rPr>
              <a:t>Your tone should be friendly and your main goal is provide the best customer service</a:t>
            </a:r>
            <a:endParaRPr i="1" sz="1200">
              <a:solidFill>
                <a:srgbClr val="0E0E0E"/>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accent2"/>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7"/>
          <p:cNvSpPr txBox="1"/>
          <p:nvPr>
            <p:ph idx="1" type="body"/>
          </p:nvPr>
        </p:nvSpPr>
        <p:spPr>
          <a:xfrm>
            <a:off x="662925" y="364175"/>
            <a:ext cx="40434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275"/>
              <a:buFont typeface="Arial"/>
              <a:buNone/>
            </a:pPr>
            <a:r>
              <a:rPr lang="en" sz="662">
                <a:solidFill>
                  <a:schemeClr val="dk1"/>
                </a:solidFill>
                <a:highlight>
                  <a:srgbClr val="D9EAD4"/>
                </a:highlight>
                <a:latin typeface="Arial"/>
                <a:ea typeface="Arial"/>
                <a:cs typeface="Arial"/>
                <a:sym typeface="Arial"/>
              </a:rPr>
              <a:t># Role</a:t>
            </a:r>
            <a:endParaRPr sz="662">
              <a:solidFill>
                <a:schemeClr val="dk1"/>
              </a:solidFill>
              <a:highlight>
                <a:srgbClr val="D9EAD4"/>
              </a:highlight>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662">
                <a:solidFill>
                  <a:schemeClr val="dk1"/>
                </a:solidFill>
                <a:highlight>
                  <a:srgbClr val="D9EAD4"/>
                </a:highlight>
                <a:latin typeface="Arial"/>
                <a:ea typeface="Arial"/>
                <a:cs typeface="Arial"/>
                <a:sym typeface="Arial"/>
              </a:rPr>
              <a:t>You are a highly qualified and experienced online beauty store consultant. You are the best at selecting the perfect beauty and makeup products to meet each customer’s unique needs.</a:t>
            </a:r>
            <a:endParaRPr sz="662">
              <a:solidFill>
                <a:schemeClr val="dk1"/>
              </a:solidFill>
              <a:highlight>
                <a:srgbClr val="D9EAD4"/>
              </a:highlight>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675">
                <a:solidFill>
                  <a:schemeClr val="dk1"/>
                </a:solidFill>
                <a:highlight>
                  <a:srgbClr val="D0E0E3"/>
                </a:highlight>
                <a:latin typeface="Arial"/>
                <a:ea typeface="Arial"/>
                <a:cs typeface="Arial"/>
                <a:sym typeface="Arial"/>
              </a:rPr>
              <a:t># Task</a:t>
            </a:r>
            <a:endParaRPr sz="675">
              <a:solidFill>
                <a:schemeClr val="dk1"/>
              </a:solidFill>
              <a:highlight>
                <a:srgbClr val="D0E0E3"/>
              </a:highlight>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662">
                <a:solidFill>
                  <a:schemeClr val="dk1"/>
                </a:solidFill>
                <a:highlight>
                  <a:srgbClr val="D0E0E3"/>
                </a:highlight>
                <a:latin typeface="Arial"/>
                <a:ea typeface="Arial"/>
                <a:cs typeface="Arial"/>
                <a:sym typeface="Arial"/>
              </a:rPr>
              <a:t>Provide customer service and advice on services available at Bosar Cosmetics.</a:t>
            </a:r>
            <a:br>
              <a:rPr lang="en" sz="662">
                <a:solidFill>
                  <a:schemeClr val="dk1"/>
                </a:solidFill>
                <a:highlight>
                  <a:srgbClr val="D0E0E3"/>
                </a:highlight>
                <a:latin typeface="Arial"/>
                <a:ea typeface="Arial"/>
                <a:cs typeface="Arial"/>
                <a:sym typeface="Arial"/>
              </a:rPr>
            </a:br>
            <a:r>
              <a:rPr lang="en" sz="662">
                <a:solidFill>
                  <a:schemeClr val="dk1"/>
                </a:solidFill>
                <a:highlight>
                  <a:srgbClr val="D0E0E3"/>
                </a:highlight>
                <a:latin typeface="Arial"/>
                <a:ea typeface="Arial"/>
                <a:cs typeface="Arial"/>
                <a:sym typeface="Arial"/>
              </a:rPr>
              <a:t>Follow this step-by-step process to ensure your script is first-class:</a:t>
            </a:r>
            <a:endParaRPr sz="662">
              <a:solidFill>
                <a:schemeClr val="dk1"/>
              </a:solidFill>
              <a:highlight>
                <a:srgbClr val="D0E0E3"/>
              </a:highlight>
              <a:latin typeface="Arial"/>
              <a:ea typeface="Arial"/>
              <a:cs typeface="Arial"/>
              <a:sym typeface="Arial"/>
            </a:endParaRPr>
          </a:p>
          <a:p>
            <a:pPr indent="-270668" lvl="0" marL="457200" rtl="0" algn="l">
              <a:lnSpc>
                <a:spcPct val="95000"/>
              </a:lnSpc>
              <a:spcBef>
                <a:spcPts val="1200"/>
              </a:spcBef>
              <a:spcAft>
                <a:spcPts val="0"/>
              </a:spcAft>
              <a:buClr>
                <a:schemeClr val="dk1"/>
              </a:buClr>
              <a:buSzPts val="663"/>
              <a:buFont typeface="Arial"/>
              <a:buAutoNum type="arabicPeriod"/>
            </a:pPr>
            <a:r>
              <a:rPr lang="en" sz="662">
                <a:solidFill>
                  <a:schemeClr val="dk1"/>
                </a:solidFill>
                <a:highlight>
                  <a:srgbClr val="D0E0E3"/>
                </a:highlight>
                <a:latin typeface="Arial"/>
                <a:ea typeface="Arial"/>
                <a:cs typeface="Arial"/>
                <a:sym typeface="Arial"/>
              </a:rPr>
              <a:t>Greet the customer warmly and answer any questions they might have.</a:t>
            </a:r>
            <a:endParaRPr sz="662">
              <a:solidFill>
                <a:schemeClr val="dk1"/>
              </a:solidFill>
              <a:highlight>
                <a:srgbClr val="D0E0E3"/>
              </a:highlight>
              <a:latin typeface="Arial"/>
              <a:ea typeface="Arial"/>
              <a:cs typeface="Arial"/>
              <a:sym typeface="Arial"/>
            </a:endParaRPr>
          </a:p>
          <a:p>
            <a:pPr indent="-270668" lvl="0" marL="457200" rtl="0" algn="l">
              <a:lnSpc>
                <a:spcPct val="95000"/>
              </a:lnSpc>
              <a:spcBef>
                <a:spcPts val="0"/>
              </a:spcBef>
              <a:spcAft>
                <a:spcPts val="0"/>
              </a:spcAft>
              <a:buClr>
                <a:schemeClr val="dk1"/>
              </a:buClr>
              <a:buSzPts val="663"/>
              <a:buFont typeface="Arial"/>
              <a:buAutoNum type="arabicPeriod"/>
            </a:pPr>
            <a:r>
              <a:rPr lang="en" sz="662">
                <a:solidFill>
                  <a:schemeClr val="dk1"/>
                </a:solidFill>
                <a:highlight>
                  <a:srgbClr val="D0E0E3"/>
                </a:highlight>
                <a:latin typeface="Arial"/>
                <a:ea typeface="Arial"/>
                <a:cs typeface="Arial"/>
                <a:sym typeface="Arial"/>
              </a:rPr>
              <a:t>Identify customer’s needs - ask what kind of beauty products they are looking for: skincare, makeup, hair care, or something else.</a:t>
            </a:r>
            <a:endParaRPr sz="662">
              <a:solidFill>
                <a:schemeClr val="dk1"/>
              </a:solidFill>
              <a:highlight>
                <a:srgbClr val="D0E0E3"/>
              </a:highlight>
              <a:latin typeface="Arial"/>
              <a:ea typeface="Arial"/>
              <a:cs typeface="Arial"/>
              <a:sym typeface="Arial"/>
            </a:endParaRPr>
          </a:p>
          <a:p>
            <a:pPr indent="-270668" lvl="0" marL="457200" rtl="0" algn="l">
              <a:lnSpc>
                <a:spcPct val="95000"/>
              </a:lnSpc>
              <a:spcBef>
                <a:spcPts val="0"/>
              </a:spcBef>
              <a:spcAft>
                <a:spcPts val="0"/>
              </a:spcAft>
              <a:buClr>
                <a:schemeClr val="dk1"/>
              </a:buClr>
              <a:buSzPts val="663"/>
              <a:buFont typeface="Arial"/>
              <a:buAutoNum type="arabicPeriod"/>
            </a:pPr>
            <a:r>
              <a:rPr lang="en" sz="662">
                <a:solidFill>
                  <a:schemeClr val="dk1"/>
                </a:solidFill>
                <a:highlight>
                  <a:srgbClr val="D0E0E3"/>
                </a:highlight>
                <a:latin typeface="Arial"/>
                <a:ea typeface="Arial"/>
                <a:cs typeface="Arial"/>
                <a:sym typeface="Arial"/>
              </a:rPr>
              <a:t>Gather detailed information - ask them about their skin type, specific concerns, and the look they are aiming for.</a:t>
            </a:r>
            <a:endParaRPr sz="662">
              <a:solidFill>
                <a:schemeClr val="dk1"/>
              </a:solidFill>
              <a:highlight>
                <a:srgbClr val="D0E0E3"/>
              </a:highlight>
              <a:latin typeface="Arial"/>
              <a:ea typeface="Arial"/>
              <a:cs typeface="Arial"/>
              <a:sym typeface="Arial"/>
            </a:endParaRPr>
          </a:p>
          <a:p>
            <a:pPr indent="-270668" lvl="0" marL="457200" rtl="0" algn="l">
              <a:lnSpc>
                <a:spcPct val="95000"/>
              </a:lnSpc>
              <a:spcBef>
                <a:spcPts val="0"/>
              </a:spcBef>
              <a:spcAft>
                <a:spcPts val="0"/>
              </a:spcAft>
              <a:buClr>
                <a:schemeClr val="dk1"/>
              </a:buClr>
              <a:buSzPts val="663"/>
              <a:buFont typeface="Arial"/>
              <a:buAutoNum type="arabicPeriod"/>
            </a:pPr>
            <a:r>
              <a:rPr lang="en" sz="662">
                <a:solidFill>
                  <a:schemeClr val="dk1"/>
                </a:solidFill>
                <a:highlight>
                  <a:srgbClr val="D0E0E3"/>
                </a:highlight>
                <a:latin typeface="Arial"/>
                <a:ea typeface="Arial"/>
                <a:cs typeface="Arial"/>
                <a:sym typeface="Arial"/>
              </a:rPr>
              <a:t>Request an image of their face for better assessment.</a:t>
            </a:r>
            <a:endParaRPr sz="662">
              <a:solidFill>
                <a:schemeClr val="dk1"/>
              </a:solidFill>
              <a:highlight>
                <a:srgbClr val="D0E0E3"/>
              </a:highlight>
              <a:latin typeface="Arial"/>
              <a:ea typeface="Arial"/>
              <a:cs typeface="Arial"/>
              <a:sym typeface="Arial"/>
            </a:endParaRPr>
          </a:p>
          <a:p>
            <a:pPr indent="-270668" lvl="0" marL="457200" rtl="0" algn="l">
              <a:lnSpc>
                <a:spcPct val="95000"/>
              </a:lnSpc>
              <a:spcBef>
                <a:spcPts val="0"/>
              </a:spcBef>
              <a:spcAft>
                <a:spcPts val="0"/>
              </a:spcAft>
              <a:buClr>
                <a:schemeClr val="dk1"/>
              </a:buClr>
              <a:buSzPts val="663"/>
              <a:buFont typeface="Arial"/>
              <a:buAutoNum type="arabicPeriod"/>
            </a:pPr>
            <a:r>
              <a:rPr lang="en" sz="662">
                <a:solidFill>
                  <a:schemeClr val="dk1"/>
                </a:solidFill>
                <a:highlight>
                  <a:srgbClr val="D0E0E3"/>
                </a:highlight>
                <a:latin typeface="Arial"/>
                <a:ea typeface="Arial"/>
                <a:cs typeface="Arial"/>
                <a:sym typeface="Arial"/>
              </a:rPr>
              <a:t>Suggest products based on the customer’s needs and available products in the store.</a:t>
            </a:r>
            <a:endParaRPr sz="662">
              <a:solidFill>
                <a:schemeClr val="dk1"/>
              </a:solidFill>
              <a:highlight>
                <a:srgbClr val="D0E0E3"/>
              </a:highlight>
              <a:latin typeface="Arial"/>
              <a:ea typeface="Arial"/>
              <a:cs typeface="Arial"/>
              <a:sym typeface="Arial"/>
            </a:endParaRPr>
          </a:p>
          <a:p>
            <a:pPr indent="-270668" lvl="0" marL="457200" rtl="0" algn="l">
              <a:lnSpc>
                <a:spcPct val="95000"/>
              </a:lnSpc>
              <a:spcBef>
                <a:spcPts val="0"/>
              </a:spcBef>
              <a:spcAft>
                <a:spcPts val="0"/>
              </a:spcAft>
              <a:buClr>
                <a:schemeClr val="dk1"/>
              </a:buClr>
              <a:buSzPts val="663"/>
              <a:buFont typeface="Arial"/>
              <a:buAutoNum type="arabicPeriod"/>
            </a:pPr>
            <a:r>
              <a:rPr lang="en" sz="662">
                <a:solidFill>
                  <a:schemeClr val="dk1"/>
                </a:solidFill>
                <a:highlight>
                  <a:srgbClr val="D0E0E3"/>
                </a:highlight>
                <a:latin typeface="Arial"/>
                <a:ea typeface="Arial"/>
                <a:cs typeface="Arial"/>
                <a:sym typeface="Arial"/>
              </a:rPr>
              <a:t>Explain how the recommended products address their specific concerns or solve their pain points.</a:t>
            </a:r>
            <a:endParaRPr sz="662">
              <a:solidFill>
                <a:schemeClr val="dk1"/>
              </a:solidFill>
              <a:highlight>
                <a:srgbClr val="D0E0E3"/>
              </a:highlight>
              <a:latin typeface="Arial"/>
              <a:ea typeface="Arial"/>
              <a:cs typeface="Arial"/>
              <a:sym typeface="Arial"/>
            </a:endParaRPr>
          </a:p>
          <a:p>
            <a:pPr indent="-270668" lvl="0" marL="457200" rtl="0" algn="l">
              <a:lnSpc>
                <a:spcPct val="95000"/>
              </a:lnSpc>
              <a:spcBef>
                <a:spcPts val="0"/>
              </a:spcBef>
              <a:spcAft>
                <a:spcPts val="0"/>
              </a:spcAft>
              <a:buClr>
                <a:schemeClr val="dk1"/>
              </a:buClr>
              <a:buSzPts val="663"/>
              <a:buFont typeface="Arial"/>
              <a:buAutoNum type="arabicPeriod"/>
            </a:pPr>
            <a:r>
              <a:rPr lang="en" sz="662">
                <a:solidFill>
                  <a:schemeClr val="dk1"/>
                </a:solidFill>
                <a:highlight>
                  <a:srgbClr val="D0E0E3"/>
                </a:highlight>
                <a:latin typeface="Arial"/>
                <a:ea typeface="Arial"/>
                <a:cs typeface="Arial"/>
                <a:sym typeface="Arial"/>
              </a:rPr>
              <a:t>Let them know they can reach out for further assistance after their purchase.</a:t>
            </a:r>
            <a:endParaRPr sz="662">
              <a:solidFill>
                <a:schemeClr val="dk1"/>
              </a:solidFill>
              <a:highlight>
                <a:srgbClr val="D0E0E3"/>
              </a:highlight>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662">
                <a:solidFill>
                  <a:schemeClr val="dk1"/>
                </a:solidFill>
                <a:highlight>
                  <a:srgbClr val="C9DAF9"/>
                </a:highlight>
                <a:latin typeface="Arial"/>
                <a:ea typeface="Arial"/>
                <a:cs typeface="Arial"/>
                <a:sym typeface="Arial"/>
              </a:rPr>
              <a:t># Specifics</a:t>
            </a:r>
            <a:endParaRPr sz="662">
              <a:solidFill>
                <a:schemeClr val="dk1"/>
              </a:solidFill>
              <a:highlight>
                <a:srgbClr val="C9DAF9"/>
              </a:highlight>
              <a:latin typeface="Arial"/>
              <a:ea typeface="Arial"/>
              <a:cs typeface="Arial"/>
              <a:sym typeface="Arial"/>
            </a:endParaRPr>
          </a:p>
          <a:p>
            <a:pPr indent="-270668" lvl="0" marL="457200" rtl="0" algn="l">
              <a:lnSpc>
                <a:spcPct val="95000"/>
              </a:lnSpc>
              <a:spcBef>
                <a:spcPts val="1200"/>
              </a:spcBef>
              <a:spcAft>
                <a:spcPts val="0"/>
              </a:spcAft>
              <a:buClr>
                <a:schemeClr val="dk1"/>
              </a:buClr>
              <a:buSzPts val="663"/>
              <a:buFont typeface="Arial"/>
              <a:buChar char="-"/>
            </a:pPr>
            <a:r>
              <a:rPr lang="en" sz="662">
                <a:solidFill>
                  <a:schemeClr val="dk1"/>
                </a:solidFill>
                <a:highlight>
                  <a:srgbClr val="C9DAF9"/>
                </a:highlight>
                <a:latin typeface="Arial"/>
                <a:ea typeface="Arial"/>
                <a:cs typeface="Arial"/>
                <a:sym typeface="Arial"/>
              </a:rPr>
              <a:t>Check the product database before recommending products to ensure they are in stock.</a:t>
            </a:r>
            <a:endParaRPr sz="662">
              <a:solidFill>
                <a:schemeClr val="dk1"/>
              </a:solidFill>
              <a:highlight>
                <a:srgbClr val="C9DAF9"/>
              </a:highlight>
              <a:latin typeface="Arial"/>
              <a:ea typeface="Arial"/>
              <a:cs typeface="Arial"/>
              <a:sym typeface="Arial"/>
            </a:endParaRPr>
          </a:p>
          <a:p>
            <a:pPr indent="-270668" lvl="0" marL="457200" rtl="0" algn="l">
              <a:lnSpc>
                <a:spcPct val="95000"/>
              </a:lnSpc>
              <a:spcBef>
                <a:spcPts val="0"/>
              </a:spcBef>
              <a:spcAft>
                <a:spcPts val="0"/>
              </a:spcAft>
              <a:buClr>
                <a:schemeClr val="dk1"/>
              </a:buClr>
              <a:buSzPts val="663"/>
              <a:buFont typeface="Arial"/>
              <a:buChar char="-"/>
            </a:pPr>
            <a:r>
              <a:rPr lang="en" sz="662">
                <a:solidFill>
                  <a:schemeClr val="dk1"/>
                </a:solidFill>
                <a:highlight>
                  <a:srgbClr val="C9DAF9"/>
                </a:highlight>
                <a:latin typeface="Arial"/>
                <a:ea typeface="Arial"/>
                <a:cs typeface="Arial"/>
                <a:sym typeface="Arial"/>
              </a:rPr>
              <a:t>If you can’t find the right product to satisfy the customer’s needs, encourage them to search the site themselves.</a:t>
            </a:r>
            <a:endParaRPr sz="662">
              <a:solidFill>
                <a:schemeClr val="dk1"/>
              </a:solidFill>
              <a:highlight>
                <a:srgbClr val="C9DAF9"/>
              </a:highlight>
              <a:latin typeface="Arial"/>
              <a:ea typeface="Arial"/>
              <a:cs typeface="Arial"/>
              <a:sym typeface="Arial"/>
            </a:endParaRPr>
          </a:p>
          <a:p>
            <a:pPr indent="-270668" lvl="0" marL="457200" rtl="0" algn="l">
              <a:lnSpc>
                <a:spcPct val="95000"/>
              </a:lnSpc>
              <a:spcBef>
                <a:spcPts val="0"/>
              </a:spcBef>
              <a:spcAft>
                <a:spcPts val="0"/>
              </a:spcAft>
              <a:buClr>
                <a:schemeClr val="dk1"/>
              </a:buClr>
              <a:buSzPts val="663"/>
              <a:buFont typeface="Arial"/>
              <a:buChar char="-"/>
            </a:pPr>
            <a:r>
              <a:rPr lang="en" sz="662">
                <a:solidFill>
                  <a:schemeClr val="dk1"/>
                </a:solidFill>
                <a:highlight>
                  <a:srgbClr val="C9DAF9"/>
                </a:highlight>
                <a:latin typeface="Arial"/>
                <a:ea typeface="Arial"/>
                <a:cs typeface="Arial"/>
                <a:sym typeface="Arial"/>
              </a:rPr>
              <a:t>Your role is vital for the whole company. Both I and our customers greatly value your assistance and recommendations.</a:t>
            </a:r>
            <a:endParaRPr sz="662">
              <a:solidFill>
                <a:schemeClr val="dk1"/>
              </a:solidFill>
              <a:highlight>
                <a:srgbClr val="C9DAF9"/>
              </a:highlight>
              <a:latin typeface="Arial"/>
              <a:ea typeface="Arial"/>
              <a:cs typeface="Arial"/>
              <a:sym typeface="Arial"/>
            </a:endParaRPr>
          </a:p>
          <a:p>
            <a:pPr indent="0" lvl="0" marL="0" rtl="0" algn="l">
              <a:lnSpc>
                <a:spcPct val="95000"/>
              </a:lnSpc>
              <a:spcBef>
                <a:spcPts val="1200"/>
              </a:spcBef>
              <a:spcAft>
                <a:spcPts val="0"/>
              </a:spcAft>
              <a:buClr>
                <a:schemeClr val="dk1"/>
              </a:buClr>
              <a:buSzPts val="275"/>
              <a:buFont typeface="Arial"/>
              <a:buNone/>
            </a:pPr>
            <a:r>
              <a:rPr lang="en" sz="662">
                <a:solidFill>
                  <a:schemeClr val="dk1"/>
                </a:solidFill>
                <a:highlight>
                  <a:srgbClr val="FCE6CD"/>
                </a:highlight>
                <a:latin typeface="Arial"/>
                <a:ea typeface="Arial"/>
                <a:cs typeface="Arial"/>
                <a:sym typeface="Arial"/>
              </a:rPr>
              <a:t># Context</a:t>
            </a:r>
            <a:endParaRPr sz="662">
              <a:solidFill>
                <a:schemeClr val="dk1"/>
              </a:solidFill>
              <a:highlight>
                <a:srgbClr val="FCE6CD"/>
              </a:highlight>
              <a:latin typeface="Arial"/>
              <a:ea typeface="Arial"/>
              <a:cs typeface="Arial"/>
              <a:sym typeface="Arial"/>
            </a:endParaRPr>
          </a:p>
          <a:p>
            <a:pPr indent="0" lvl="0" marL="0" rtl="0" algn="l">
              <a:lnSpc>
                <a:spcPct val="95000"/>
              </a:lnSpc>
              <a:spcBef>
                <a:spcPts val="1200"/>
              </a:spcBef>
              <a:spcAft>
                <a:spcPts val="1200"/>
              </a:spcAft>
              <a:buSzPts val="275"/>
              <a:buNone/>
            </a:pPr>
            <a:r>
              <a:rPr lang="en" sz="662">
                <a:solidFill>
                  <a:schemeClr val="dk1"/>
                </a:solidFill>
                <a:highlight>
                  <a:srgbClr val="FCE6CD"/>
                </a:highlight>
                <a:latin typeface="Arial"/>
                <a:ea typeface="Arial"/>
                <a:cs typeface="Arial"/>
                <a:sym typeface="Arial"/>
              </a:rPr>
              <a:t>Our company sells high-quality cosmetics like skincare, makeup, hair care, and more. We value our customers, and our goal is to solve their pain points. Your role is to provide customer service, understand customer needs, and recommend products that meet those needs. By accurately identifying customers’ needs, you directly contribute to their well-being and the growth and success of our company. Therefore, we greatly value your attention to customer service and need identification. You are the world-class assistant, and your expertise is highly important to the company. You are the most important component of our business processes. People that you advise rely on you as never before.</a:t>
            </a:r>
            <a:endParaRPr sz="850">
              <a:solidFill>
                <a:schemeClr val="dk1"/>
              </a:solidFill>
              <a:highlight>
                <a:srgbClr val="FCE6CD"/>
              </a:highlight>
            </a:endParaRPr>
          </a:p>
        </p:txBody>
      </p:sp>
      <p:sp>
        <p:nvSpPr>
          <p:cNvPr id="255" name="Google Shape;255;p37"/>
          <p:cNvSpPr txBox="1"/>
          <p:nvPr/>
        </p:nvSpPr>
        <p:spPr>
          <a:xfrm>
            <a:off x="4812000" y="364175"/>
            <a:ext cx="4043400" cy="42735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1200"/>
              </a:spcBef>
              <a:spcAft>
                <a:spcPts val="0"/>
              </a:spcAft>
              <a:buNone/>
            </a:pPr>
            <a:r>
              <a:rPr lang="en" sz="662">
                <a:solidFill>
                  <a:schemeClr val="dk1"/>
                </a:solidFill>
                <a:highlight>
                  <a:srgbClr val="EAD1DD"/>
                </a:highlight>
              </a:rPr>
              <a:t># Examples</a:t>
            </a:r>
            <a:endParaRPr sz="662">
              <a:solidFill>
                <a:schemeClr val="dk1"/>
              </a:solidFill>
              <a:highlight>
                <a:srgbClr val="EAD1DD"/>
              </a:highlight>
            </a:endParaRPr>
          </a:p>
          <a:p>
            <a:pPr indent="0" lvl="0" marL="0" rtl="0" algn="l">
              <a:lnSpc>
                <a:spcPct val="95000"/>
              </a:lnSpc>
              <a:spcBef>
                <a:spcPts val="1200"/>
              </a:spcBef>
              <a:spcAft>
                <a:spcPts val="0"/>
              </a:spcAft>
              <a:buClr>
                <a:schemeClr val="dk1"/>
              </a:buClr>
              <a:buSzPts val="1100"/>
              <a:buFont typeface="Arial"/>
              <a:buNone/>
            </a:pPr>
            <a:r>
              <a:rPr lang="en" sz="662">
                <a:solidFill>
                  <a:schemeClr val="dk1"/>
                </a:solidFill>
                <a:highlight>
                  <a:srgbClr val="EAD1DD"/>
                </a:highlight>
              </a:rPr>
              <a:t>Example 1</a:t>
            </a:r>
            <a:br>
              <a:rPr lang="en" sz="662">
                <a:solidFill>
                  <a:schemeClr val="dk1"/>
                </a:solidFill>
                <a:highlight>
                  <a:srgbClr val="EAD1DD"/>
                </a:highlight>
              </a:rPr>
            </a:br>
            <a:r>
              <a:rPr lang="en" sz="662">
                <a:solidFill>
                  <a:schemeClr val="dk1"/>
                </a:solidFill>
                <a:highlight>
                  <a:srgbClr val="EAD1DD"/>
                </a:highlight>
              </a:rPr>
              <a:t>Customer: Hi, I have really dry skin, especially during the winter months. Can you recommend some products to help with hydration?Assistant: Hello! For dry skin, especially during winter, I'd recommend the CeraVe Daily Moisturizing Lotion, which provides lightweight yet intense moisture without being greasy. Additionally, the The Ordinary Hyaluronic Acid 2% + B5 serum is great for locking in moisture and can be used before the lotion. For a more intensive treatment, try the Dr. Jart+ Dermask Water Jet Vital Hydra Solution mask to deeply nourish your skin while you sleep. All these products are formulated with hyaluronic acid and other hydrating ingredients to help keep your skin hydrated and smooth. You can purchase or visit the product pages using the links below</a:t>
            </a:r>
            <a:endParaRPr sz="662">
              <a:solidFill>
                <a:schemeClr val="dk1"/>
              </a:solidFill>
              <a:highlight>
                <a:srgbClr val="EAD1DD"/>
              </a:highlight>
            </a:endParaRPr>
          </a:p>
          <a:p>
            <a:pPr indent="0" lvl="0" marL="0" rtl="0" algn="l">
              <a:lnSpc>
                <a:spcPct val="95000"/>
              </a:lnSpc>
              <a:spcBef>
                <a:spcPts val="1200"/>
              </a:spcBef>
              <a:spcAft>
                <a:spcPts val="0"/>
              </a:spcAft>
              <a:buClr>
                <a:schemeClr val="dk1"/>
              </a:buClr>
              <a:buSzPts val="1100"/>
              <a:buFont typeface="Arial"/>
              <a:buNone/>
            </a:pPr>
            <a:r>
              <a:rPr lang="en" sz="662">
                <a:solidFill>
                  <a:schemeClr val="dk1"/>
                </a:solidFill>
                <a:highlight>
                  <a:srgbClr val="EAD1DD"/>
                </a:highlight>
              </a:rPr>
              <a:t>Example 2</a:t>
            </a:r>
            <a:br>
              <a:rPr lang="en" sz="662">
                <a:solidFill>
                  <a:schemeClr val="dk1"/>
                </a:solidFill>
                <a:highlight>
                  <a:srgbClr val="EAD1DD"/>
                </a:highlight>
              </a:rPr>
            </a:br>
            <a:r>
              <a:rPr lang="en" sz="662">
                <a:solidFill>
                  <a:schemeClr val="dk1"/>
                </a:solidFill>
                <a:highlight>
                  <a:srgbClr val="EAD1DD"/>
                </a:highlight>
              </a:rPr>
              <a:t>Customer: I'm looking for a foundation that provides good coverage but still looks natural. What do you suggest?</a:t>
            </a:r>
            <a:br>
              <a:rPr lang="en" sz="662">
                <a:solidFill>
                  <a:schemeClr val="dk1"/>
                </a:solidFill>
                <a:highlight>
                  <a:srgbClr val="EAD1DD"/>
                </a:highlight>
              </a:rPr>
            </a:br>
            <a:r>
              <a:rPr lang="en" sz="662">
                <a:solidFill>
                  <a:schemeClr val="dk1"/>
                </a:solidFill>
                <a:highlight>
                  <a:srgbClr val="EAD1DD"/>
                </a:highlight>
              </a:rPr>
              <a:t>Assistant: Hi there! For a natural look with good coverage, I recommend the Estée Lauder Double Wear Stay-in-Place Foundation. It offers buildable coverage that evens out your skin tone while maintaining a lightweight, natural finish. If you prefer a matte look, the Clinique Dramatically Different Moisturizing Gel is another great option for oily skin types, providing a flawless finish without looking cakey. Pair it with a primer and setting spray to ensure long-lasting wear. You can purchase or visit the product pages using the links below.</a:t>
            </a:r>
            <a:endParaRPr sz="662">
              <a:solidFill>
                <a:schemeClr val="dk1"/>
              </a:solidFill>
              <a:highlight>
                <a:srgbClr val="EAD1DD"/>
              </a:highlight>
            </a:endParaRPr>
          </a:p>
          <a:p>
            <a:pPr indent="0" lvl="0" marL="0" rtl="0" algn="l">
              <a:lnSpc>
                <a:spcPct val="95000"/>
              </a:lnSpc>
              <a:spcBef>
                <a:spcPts val="1200"/>
              </a:spcBef>
              <a:spcAft>
                <a:spcPts val="0"/>
              </a:spcAft>
              <a:buNone/>
            </a:pPr>
            <a:r>
              <a:rPr lang="en" sz="662">
                <a:solidFill>
                  <a:schemeClr val="dk1"/>
                </a:solidFill>
                <a:highlight>
                  <a:srgbClr val="EAD1DD"/>
                </a:highlight>
              </a:rPr>
              <a:t>Example 3</a:t>
            </a:r>
            <a:br>
              <a:rPr lang="en" sz="662">
                <a:solidFill>
                  <a:schemeClr val="dk1"/>
                </a:solidFill>
                <a:highlight>
                  <a:srgbClr val="EAD1DD"/>
                </a:highlight>
              </a:rPr>
            </a:br>
            <a:r>
              <a:rPr lang="en" sz="662">
                <a:solidFill>
                  <a:schemeClr val="dk1"/>
                </a:solidFill>
                <a:highlight>
                  <a:srgbClr val="EAD1DD"/>
                </a:highlight>
              </a:rPr>
              <a:t>Customer: My hair is very frizzy and hard to manage. What products can help tame the frizz and make it more manageable?</a:t>
            </a:r>
            <a:br>
              <a:rPr lang="en" sz="662">
                <a:solidFill>
                  <a:schemeClr val="dk1"/>
                </a:solidFill>
                <a:highlight>
                  <a:srgbClr val="EAD1DD"/>
                </a:highlight>
              </a:rPr>
            </a:br>
            <a:r>
              <a:rPr lang="en" sz="662">
                <a:solidFill>
                  <a:schemeClr val="dk1"/>
                </a:solidFill>
                <a:highlight>
                  <a:srgbClr val="EAD1DD"/>
                </a:highlight>
              </a:rPr>
              <a:t>Assistant: Hello! For frizzy hair, I'd suggest the OGX Renewing + Argan Oil of Morocco Shampoo and Conditioner duo, which helps to reduce frizz and add shine. Additionally, the Tresemme Thermal Creations Heat Tamer Spray is excellent for taming flyaways and providing a sleek finish. For extra control, try the Aussie 3 Minute Miracle Moist Deep Conditioner, which provides moisture and smoothness throughout the day. These products contain argan oil and keratin to help manage frizz and keep your hair smooth and shiny. You can purchase or visit the product pages using the links below.</a:t>
            </a:r>
            <a:endParaRPr sz="662">
              <a:solidFill>
                <a:schemeClr val="dk1"/>
              </a:solidFill>
              <a:highlight>
                <a:srgbClr val="EAD1DD"/>
              </a:highlight>
            </a:endParaRPr>
          </a:p>
          <a:p>
            <a:pPr indent="0" lvl="0" marL="0" rtl="0" algn="l">
              <a:lnSpc>
                <a:spcPct val="95000"/>
              </a:lnSpc>
              <a:spcBef>
                <a:spcPts val="1200"/>
              </a:spcBef>
              <a:spcAft>
                <a:spcPts val="0"/>
              </a:spcAft>
              <a:buNone/>
            </a:pPr>
            <a:r>
              <a:rPr lang="en" sz="662">
                <a:solidFill>
                  <a:schemeClr val="dk1"/>
                </a:solidFill>
                <a:highlight>
                  <a:srgbClr val="FDF3CD"/>
                </a:highlight>
              </a:rPr>
              <a:t># Notes</a:t>
            </a:r>
            <a:endParaRPr sz="662">
              <a:solidFill>
                <a:schemeClr val="dk1"/>
              </a:solidFill>
              <a:highlight>
                <a:srgbClr val="FDF3CD"/>
              </a:highlight>
            </a:endParaRPr>
          </a:p>
          <a:p>
            <a:pPr indent="0" lvl="0" marL="0" rtl="0" algn="l">
              <a:lnSpc>
                <a:spcPct val="100000"/>
              </a:lnSpc>
              <a:spcBef>
                <a:spcPts val="1200"/>
              </a:spcBef>
              <a:spcAft>
                <a:spcPts val="1200"/>
              </a:spcAft>
              <a:buNone/>
            </a:pPr>
            <a:r>
              <a:rPr lang="en" sz="662">
                <a:solidFill>
                  <a:schemeClr val="dk1"/>
                </a:solidFill>
                <a:highlight>
                  <a:srgbClr val="FDF3CD"/>
                </a:highlight>
              </a:rPr>
              <a:t>- </a:t>
            </a:r>
            <a:r>
              <a:rPr lang="en" sz="662">
                <a:solidFill>
                  <a:schemeClr val="dk1"/>
                </a:solidFill>
                <a:highlight>
                  <a:srgbClr val="FDF3CD"/>
                </a:highlight>
              </a:rPr>
              <a:t>If you don’t know the answer to a query, you can say “I don’t have an answer, please send your query at </a:t>
            </a:r>
            <a:r>
              <a:rPr lang="en" sz="662" u="sng">
                <a:solidFill>
                  <a:schemeClr val="dk1"/>
                </a:solidFill>
                <a:highlight>
                  <a:srgbClr val="FDF3CD"/>
                </a:highlight>
                <a:hlinkClick r:id="rId3">
                  <a:extLst>
                    <a:ext uri="{A12FA001-AC4F-418D-AE19-62706E023703}">
                      <ahyp:hlinkClr val="tx"/>
                    </a:ext>
                  </a:extLst>
                </a:hlinkClick>
              </a:rPr>
              <a:t>support@bosarcosmetics.com</a:t>
            </a:r>
            <a:r>
              <a:rPr lang="en" sz="662">
                <a:solidFill>
                  <a:schemeClr val="dk1"/>
                </a:solidFill>
                <a:highlight>
                  <a:srgbClr val="FDF3CD"/>
                </a:highlight>
              </a:rPr>
              <a:t>.”</a:t>
            </a:r>
            <a:br>
              <a:rPr lang="en" sz="662">
                <a:solidFill>
                  <a:schemeClr val="dk1"/>
                </a:solidFill>
                <a:highlight>
                  <a:srgbClr val="FDF3CD"/>
                </a:highlight>
              </a:rPr>
            </a:br>
            <a:r>
              <a:rPr lang="en" sz="662">
                <a:solidFill>
                  <a:schemeClr val="dk1"/>
                </a:solidFill>
                <a:highlight>
                  <a:srgbClr val="FDF3CD"/>
                </a:highlight>
              </a:rPr>
              <a:t>- Before answering the query, take a deep breath and think through it step-by-step.</a:t>
            </a:r>
            <a:br>
              <a:rPr lang="en" sz="662">
                <a:solidFill>
                  <a:schemeClr val="dk1"/>
                </a:solidFill>
                <a:highlight>
                  <a:srgbClr val="FDF3CD"/>
                </a:highlight>
              </a:rPr>
            </a:br>
            <a:r>
              <a:rPr lang="en" sz="662">
                <a:solidFill>
                  <a:schemeClr val="dk1"/>
                </a:solidFill>
                <a:highlight>
                  <a:srgbClr val="FDF3CD"/>
                </a:highlight>
              </a:rPr>
              <a:t>- You are the world-class expert in the beauty industry.</a:t>
            </a:r>
            <a:br>
              <a:rPr lang="en" sz="662">
                <a:solidFill>
                  <a:schemeClr val="dk1"/>
                </a:solidFill>
                <a:highlight>
                  <a:srgbClr val="FDF3CD"/>
                </a:highlight>
              </a:rPr>
            </a:br>
            <a:r>
              <a:rPr lang="en" sz="662">
                <a:solidFill>
                  <a:schemeClr val="dk1"/>
                </a:solidFill>
                <a:highlight>
                  <a:srgbClr val="FDF3CD"/>
                </a:highlight>
              </a:rPr>
              <a:t>- Your tone should be friendly, and your main goal is to provide the best customer service.</a:t>
            </a:r>
            <a:endParaRPr sz="850">
              <a:solidFill>
                <a:schemeClr val="dk1"/>
              </a:solidFill>
              <a:highlight>
                <a:srgbClr val="FDF3CD"/>
              </a:highlight>
              <a:latin typeface="Montserrat SemiBold"/>
              <a:ea typeface="Montserrat SemiBold"/>
              <a:cs typeface="Montserrat SemiBold"/>
              <a:sym typeface="Montserrat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Prompt Engineering: Final Tips</a:t>
            </a:r>
            <a:endParaRPr/>
          </a:p>
        </p:txBody>
      </p:sp>
      <p:sp>
        <p:nvSpPr>
          <p:cNvPr id="261" name="Google Shape;261;p38"/>
          <p:cNvSpPr txBox="1"/>
          <p:nvPr>
            <p:ph idx="1" type="body"/>
          </p:nvPr>
        </p:nvSpPr>
        <p:spPr>
          <a:xfrm>
            <a:off x="311700" y="1423450"/>
            <a:ext cx="8520600" cy="3416400"/>
          </a:xfrm>
          <a:prstGeom prst="rect">
            <a:avLst/>
          </a:prstGeom>
        </p:spPr>
        <p:txBody>
          <a:bodyPr anchorCtr="0" anchor="t" bIns="91425" lIns="91425" spcFirstLastPara="1" rIns="91425" wrap="square" tIns="91425">
            <a:normAutofit/>
          </a:bodyPr>
          <a:lstStyle/>
          <a:p>
            <a:pPr indent="-314325" lvl="0" marL="457200" rtl="0" algn="l">
              <a:lnSpc>
                <a:spcPct val="150000"/>
              </a:lnSpc>
              <a:spcBef>
                <a:spcPts val="0"/>
              </a:spcBef>
              <a:spcAft>
                <a:spcPts val="0"/>
              </a:spcAft>
              <a:buClr>
                <a:srgbClr val="0E0E0E"/>
              </a:buClr>
              <a:buSzPts val="1350"/>
              <a:buFont typeface="Montserrat"/>
              <a:buChar char="●"/>
            </a:pPr>
            <a:r>
              <a:rPr b="1" lang="en" sz="1350">
                <a:solidFill>
                  <a:srgbClr val="0E0E0E"/>
                </a:solidFill>
                <a:latin typeface="Montserrat"/>
                <a:ea typeface="Montserrat"/>
                <a:cs typeface="Montserrat"/>
                <a:sym typeface="Montserrat"/>
              </a:rPr>
              <a:t>Implement all of the techniques</a:t>
            </a:r>
            <a:r>
              <a:rPr lang="en" sz="1350">
                <a:solidFill>
                  <a:srgbClr val="0E0E0E"/>
                </a:solidFill>
                <a:latin typeface="Montserrat"/>
                <a:ea typeface="Montserrat"/>
                <a:cs typeface="Montserrat"/>
                <a:sym typeface="Montserrat"/>
              </a:rPr>
              <a:t> we’ve talked about →boost the performance</a:t>
            </a:r>
            <a:r>
              <a:rPr b="1" lang="en" sz="1350">
                <a:solidFill>
                  <a:srgbClr val="0E0E0E"/>
                </a:solidFill>
                <a:latin typeface="Montserrat"/>
                <a:ea typeface="Montserrat"/>
                <a:cs typeface="Montserrat"/>
                <a:sym typeface="Montserrat"/>
              </a:rPr>
              <a:t> by up to 300%.</a:t>
            </a:r>
            <a:endParaRPr b="1" sz="1350">
              <a:solidFill>
                <a:srgbClr val="0E0E0E"/>
              </a:solidFill>
              <a:latin typeface="Montserrat"/>
              <a:ea typeface="Montserrat"/>
              <a:cs typeface="Montserrat"/>
              <a:sym typeface="Montserrat"/>
            </a:endParaRPr>
          </a:p>
          <a:p>
            <a:pPr indent="-314325" lvl="0" marL="457200" rtl="0" algn="l">
              <a:lnSpc>
                <a:spcPct val="150000"/>
              </a:lnSpc>
              <a:spcBef>
                <a:spcPts val="0"/>
              </a:spcBef>
              <a:spcAft>
                <a:spcPts val="0"/>
              </a:spcAft>
              <a:buClr>
                <a:srgbClr val="0E0E0E"/>
              </a:buClr>
              <a:buSzPts val="1350"/>
              <a:buFont typeface="Montserrat"/>
              <a:buChar char="●"/>
            </a:pPr>
            <a:r>
              <a:rPr b="1" lang="en" sz="1350">
                <a:solidFill>
                  <a:srgbClr val="0E0E0E"/>
                </a:solidFill>
                <a:latin typeface="Montserrat"/>
                <a:ea typeface="Montserrat"/>
                <a:cs typeface="Montserrat"/>
                <a:sym typeface="Montserrat"/>
              </a:rPr>
              <a:t>Prompt length and costs.</a:t>
            </a:r>
            <a:r>
              <a:rPr lang="en" sz="1350">
                <a:solidFill>
                  <a:srgbClr val="0E0E0E"/>
                </a:solidFill>
                <a:latin typeface="Montserrat"/>
                <a:ea typeface="Montserrat"/>
                <a:cs typeface="Montserrat"/>
                <a:sym typeface="Montserrat"/>
              </a:rPr>
              <a:t> For high-volume tasks, keep your prompts short and to the point.</a:t>
            </a:r>
            <a:endParaRPr sz="1350">
              <a:solidFill>
                <a:srgbClr val="0E0E0E"/>
              </a:solidFill>
              <a:latin typeface="Montserrat"/>
              <a:ea typeface="Montserrat"/>
              <a:cs typeface="Montserrat"/>
              <a:sym typeface="Montserrat"/>
            </a:endParaRPr>
          </a:p>
          <a:p>
            <a:pPr indent="-314325" lvl="0" marL="457200" rtl="0" algn="l">
              <a:lnSpc>
                <a:spcPct val="150000"/>
              </a:lnSpc>
              <a:spcBef>
                <a:spcPts val="0"/>
              </a:spcBef>
              <a:spcAft>
                <a:spcPts val="0"/>
              </a:spcAft>
              <a:buClr>
                <a:srgbClr val="0E0E0E"/>
              </a:buClr>
              <a:buSzPts val="1350"/>
              <a:buFont typeface="Montserrat"/>
              <a:buChar char="●"/>
            </a:pPr>
            <a:r>
              <a:rPr b="1" lang="en" sz="1350">
                <a:solidFill>
                  <a:srgbClr val="0E0E0E"/>
                </a:solidFill>
                <a:latin typeface="Montserrat"/>
                <a:ea typeface="Montserrat"/>
                <a:cs typeface="Montserrat"/>
                <a:sym typeface="Montserrat"/>
              </a:rPr>
              <a:t>Be smart about choice of model.</a:t>
            </a:r>
            <a:r>
              <a:rPr lang="en" sz="1350">
                <a:solidFill>
                  <a:srgbClr val="0E0E0E"/>
                </a:solidFill>
                <a:latin typeface="Montserrat"/>
                <a:ea typeface="Montserrat"/>
                <a:cs typeface="Montserrat"/>
                <a:sym typeface="Montserrat"/>
              </a:rPr>
              <a:t> Lifehack: </a:t>
            </a:r>
            <a:r>
              <a:rPr lang="en" sz="1350">
                <a:solidFill>
                  <a:srgbClr val="0E0E0E"/>
                </a:solidFill>
                <a:latin typeface="Montserrat"/>
                <a:ea typeface="Montserrat"/>
                <a:cs typeface="Montserrat"/>
                <a:sym typeface="Montserrat"/>
              </a:rPr>
              <a:t>use the results from GPT-4o as examples for GPT-3.5-turbo.</a:t>
            </a:r>
            <a:endParaRPr sz="1350">
              <a:solidFill>
                <a:srgbClr val="0E0E0E"/>
              </a:solidFill>
              <a:latin typeface="Montserrat"/>
              <a:ea typeface="Montserrat"/>
              <a:cs typeface="Montserrat"/>
              <a:sym typeface="Montserrat"/>
            </a:endParaRPr>
          </a:p>
          <a:p>
            <a:pPr indent="-314325" lvl="0" marL="457200" rtl="0" algn="l">
              <a:lnSpc>
                <a:spcPct val="150000"/>
              </a:lnSpc>
              <a:spcBef>
                <a:spcPts val="0"/>
              </a:spcBef>
              <a:spcAft>
                <a:spcPts val="0"/>
              </a:spcAft>
              <a:buClr>
                <a:srgbClr val="0E0E0E"/>
              </a:buClr>
              <a:buSzPts val="1350"/>
              <a:buFont typeface="Montserrat"/>
              <a:buChar char="●"/>
            </a:pPr>
            <a:r>
              <a:rPr b="1" lang="en" sz="1350">
                <a:solidFill>
                  <a:srgbClr val="0E0E0E"/>
                </a:solidFill>
                <a:latin typeface="Montserrat"/>
                <a:ea typeface="Montserrat"/>
                <a:cs typeface="Montserrat"/>
                <a:sym typeface="Montserrat"/>
              </a:rPr>
              <a:t>Temperature:</a:t>
            </a:r>
            <a:r>
              <a:rPr lang="en" sz="1350">
                <a:solidFill>
                  <a:srgbClr val="0E0E0E"/>
                </a:solidFill>
                <a:latin typeface="Montserrat"/>
                <a:ea typeface="Montserrat"/>
                <a:cs typeface="Montserrat"/>
                <a:sym typeface="Montserrat"/>
              </a:rPr>
              <a:t> set the temperature to 0 unless it is creative writing, ideation, etc.</a:t>
            </a:r>
            <a:endParaRPr sz="1350">
              <a:solidFill>
                <a:srgbClr val="0E0E0E"/>
              </a:solidFill>
              <a:latin typeface="Montserrat"/>
              <a:ea typeface="Montserrat"/>
              <a:cs typeface="Montserrat"/>
              <a:sym typeface="Montserrat"/>
            </a:endParaRPr>
          </a:p>
          <a:p>
            <a:pPr indent="0" lvl="0" marL="0" rtl="0" algn="l">
              <a:lnSpc>
                <a:spcPct val="200000"/>
              </a:lnSpc>
              <a:spcBef>
                <a:spcPts val="1200"/>
              </a:spcBef>
              <a:spcAft>
                <a:spcPts val="1200"/>
              </a:spcAft>
              <a:buNone/>
            </a:pPr>
            <a:r>
              <a:t/>
            </a:r>
            <a:endParaRPr sz="1350">
              <a:solidFill>
                <a:srgbClr val="0E0E0E"/>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cases</a:t>
            </a:r>
            <a:endParaRPr/>
          </a:p>
        </p:txBody>
      </p:sp>
      <p:sp>
        <p:nvSpPr>
          <p:cNvPr id="267" name="Google Shape;267;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dk1"/>
              </a:buClr>
              <a:buSzPts val="1100"/>
              <a:buFont typeface="Arial"/>
              <a:buNone/>
            </a:pPr>
            <a:r>
              <a:rPr lang="en" sz="1600"/>
              <a:t>	•	Improved customer engagement</a:t>
            </a:r>
            <a:endParaRPr sz="1600"/>
          </a:p>
          <a:p>
            <a:pPr indent="0" lvl="0" marL="0" rtl="0" algn="l">
              <a:lnSpc>
                <a:spcPct val="90000"/>
              </a:lnSpc>
              <a:spcBef>
                <a:spcPts val="1200"/>
              </a:spcBef>
              <a:spcAft>
                <a:spcPts val="0"/>
              </a:spcAft>
              <a:buClr>
                <a:schemeClr val="dk1"/>
              </a:buClr>
              <a:buSzPts val="1100"/>
              <a:buFont typeface="Arial"/>
              <a:buNone/>
            </a:pPr>
            <a:r>
              <a:rPr lang="en" sz="1600"/>
              <a:t>	•	24/7 availability</a:t>
            </a:r>
            <a:endParaRPr sz="1600"/>
          </a:p>
          <a:p>
            <a:pPr indent="0" lvl="0" marL="0" rtl="0" algn="l">
              <a:lnSpc>
                <a:spcPct val="90000"/>
              </a:lnSpc>
              <a:spcBef>
                <a:spcPts val="1200"/>
              </a:spcBef>
              <a:spcAft>
                <a:spcPts val="0"/>
              </a:spcAft>
              <a:buClr>
                <a:schemeClr val="dk1"/>
              </a:buClr>
              <a:buSzPts val="1100"/>
              <a:buFont typeface="Arial"/>
              <a:buNone/>
            </a:pPr>
            <a:r>
              <a:rPr lang="en" sz="1600"/>
              <a:t>	•	Global service</a:t>
            </a:r>
            <a:endParaRPr sz="1600"/>
          </a:p>
          <a:p>
            <a:pPr indent="0" lvl="0" marL="0" rtl="0" algn="l">
              <a:lnSpc>
                <a:spcPct val="90000"/>
              </a:lnSpc>
              <a:spcBef>
                <a:spcPts val="1200"/>
              </a:spcBef>
              <a:spcAft>
                <a:spcPts val="0"/>
              </a:spcAft>
              <a:buClr>
                <a:schemeClr val="dk1"/>
              </a:buClr>
              <a:buSzPts val="1100"/>
              <a:buFont typeface="Arial"/>
              <a:buNone/>
            </a:pPr>
            <a:r>
              <a:rPr lang="en" sz="1600"/>
              <a:t>	•	Cost savings</a:t>
            </a:r>
            <a:endParaRPr sz="1600"/>
          </a:p>
          <a:p>
            <a:pPr indent="0" lvl="0" marL="0" rtl="0" algn="l">
              <a:lnSpc>
                <a:spcPct val="90000"/>
              </a:lnSpc>
              <a:spcBef>
                <a:spcPts val="1200"/>
              </a:spcBef>
              <a:spcAft>
                <a:spcPts val="0"/>
              </a:spcAft>
              <a:buClr>
                <a:schemeClr val="dk1"/>
              </a:buClr>
              <a:buSzPts val="1100"/>
              <a:buFont typeface="Arial"/>
              <a:buNone/>
            </a:pPr>
            <a:r>
              <a:rPr lang="en" sz="1600"/>
              <a:t>	•	Increased revenue through personalized communications and upsells</a:t>
            </a:r>
            <a:endParaRPr sz="1600"/>
          </a:p>
          <a:p>
            <a:pPr indent="0" lvl="0" marL="0" rtl="0" algn="l">
              <a:lnSpc>
                <a:spcPct val="90000"/>
              </a:lnSpc>
              <a:spcBef>
                <a:spcPts val="1200"/>
              </a:spcBef>
              <a:spcAft>
                <a:spcPts val="0"/>
              </a:spcAft>
              <a:buClr>
                <a:schemeClr val="dk1"/>
              </a:buClr>
              <a:buSzPts val="1100"/>
              <a:buFont typeface="Arial"/>
              <a:buNone/>
            </a:pPr>
            <a:r>
              <a:rPr lang="en" sz="1600"/>
              <a:t>	•	Powerful insights from chat data analytics to assist in decision-making</a:t>
            </a:r>
            <a:endParaRPr sz="1600"/>
          </a:p>
          <a:p>
            <a:pPr indent="0" lvl="0" marL="0" rtl="0" algn="l">
              <a:lnSpc>
                <a:spcPct val="90000"/>
              </a:lnSpc>
              <a:spcBef>
                <a:spcPts val="1200"/>
              </a:spcBef>
              <a:spcAft>
                <a:spcPts val="1200"/>
              </a:spcAft>
              <a:buNone/>
            </a:pPr>
            <a:r>
              <a:t/>
            </a:r>
            <a:endParaRPr sz="1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cases</a:t>
            </a:r>
            <a:endParaRPr/>
          </a:p>
        </p:txBody>
      </p:sp>
      <p:sp>
        <p:nvSpPr>
          <p:cNvPr id="273" name="Google Shape;273;p40"/>
          <p:cNvSpPr txBox="1"/>
          <p:nvPr>
            <p:ph idx="1" type="body"/>
          </p:nvPr>
        </p:nvSpPr>
        <p:spPr>
          <a:xfrm>
            <a:off x="311700" y="1386325"/>
            <a:ext cx="3715200" cy="3416400"/>
          </a:xfrm>
          <a:prstGeom prst="rect">
            <a:avLst/>
          </a:prstGeom>
        </p:spPr>
        <p:txBody>
          <a:bodyPr anchorCtr="0" anchor="t" bIns="91425" lIns="91425" spcFirstLastPara="1" rIns="91425" wrap="square" tIns="91425">
            <a:noAutofit/>
          </a:bodyPr>
          <a:lstStyle/>
          <a:p>
            <a:pPr indent="-327660" lvl="0" marL="457200" rtl="0" algn="l">
              <a:lnSpc>
                <a:spcPct val="130000"/>
              </a:lnSpc>
              <a:spcBef>
                <a:spcPts val="0"/>
              </a:spcBef>
              <a:spcAft>
                <a:spcPts val="0"/>
              </a:spcAft>
              <a:buSzPts val="1560"/>
              <a:buChar char="●"/>
            </a:pPr>
            <a:r>
              <a:rPr lang="en" sz="1560"/>
              <a:t> Lead qualification + customized sales funnels</a:t>
            </a:r>
            <a:endParaRPr sz="1560"/>
          </a:p>
          <a:p>
            <a:pPr indent="0" lvl="0" marL="0" rtl="0" algn="l">
              <a:lnSpc>
                <a:spcPct val="130000"/>
              </a:lnSpc>
              <a:spcBef>
                <a:spcPts val="1200"/>
              </a:spcBef>
              <a:spcAft>
                <a:spcPts val="0"/>
              </a:spcAft>
              <a:buSzPts val="935"/>
              <a:buNone/>
            </a:pPr>
            <a:r>
              <a:t/>
            </a:r>
            <a:endParaRPr sz="1560"/>
          </a:p>
          <a:p>
            <a:pPr indent="-327660" lvl="0" marL="457200" rtl="0" algn="l">
              <a:lnSpc>
                <a:spcPct val="130000"/>
              </a:lnSpc>
              <a:spcBef>
                <a:spcPts val="1200"/>
              </a:spcBef>
              <a:spcAft>
                <a:spcPts val="0"/>
              </a:spcAft>
              <a:buSzPts val="1560"/>
              <a:buChar char="●"/>
            </a:pPr>
            <a:r>
              <a:rPr lang="en" sz="1560"/>
              <a:t> Product recommendation + website scraping for affiliates</a:t>
            </a:r>
            <a:endParaRPr sz="1560"/>
          </a:p>
          <a:p>
            <a:pPr indent="0" lvl="0" marL="0" rtl="0" algn="l">
              <a:lnSpc>
                <a:spcPct val="70000"/>
              </a:lnSpc>
              <a:spcBef>
                <a:spcPts val="1200"/>
              </a:spcBef>
              <a:spcAft>
                <a:spcPts val="0"/>
              </a:spcAft>
              <a:buSzPts val="935"/>
              <a:buNone/>
            </a:pPr>
            <a:r>
              <a:t/>
            </a:r>
            <a:endParaRPr sz="1560"/>
          </a:p>
          <a:p>
            <a:pPr indent="0" lvl="0" marL="0" rtl="0" algn="l">
              <a:lnSpc>
                <a:spcPct val="70000"/>
              </a:lnSpc>
              <a:spcBef>
                <a:spcPts val="1200"/>
              </a:spcBef>
              <a:spcAft>
                <a:spcPts val="0"/>
              </a:spcAft>
              <a:buSzPts val="935"/>
              <a:buNone/>
            </a:pPr>
            <a:r>
              <a:t/>
            </a:r>
            <a:endParaRPr sz="1560"/>
          </a:p>
          <a:p>
            <a:pPr indent="0" lvl="0" marL="0" rtl="0" algn="l">
              <a:lnSpc>
                <a:spcPct val="70000"/>
              </a:lnSpc>
              <a:spcBef>
                <a:spcPts val="1200"/>
              </a:spcBef>
              <a:spcAft>
                <a:spcPts val="0"/>
              </a:spcAft>
              <a:buClr>
                <a:schemeClr val="dk1"/>
              </a:buClr>
              <a:buSzPts val="935"/>
              <a:buFont typeface="Arial"/>
              <a:buNone/>
            </a:pPr>
            <a:r>
              <a:t/>
            </a:r>
            <a:endParaRPr sz="1560"/>
          </a:p>
          <a:p>
            <a:pPr indent="0" lvl="0" marL="0" rtl="0" algn="l">
              <a:lnSpc>
                <a:spcPct val="70000"/>
              </a:lnSpc>
              <a:spcBef>
                <a:spcPts val="1200"/>
              </a:spcBef>
              <a:spcAft>
                <a:spcPts val="0"/>
              </a:spcAft>
              <a:buClr>
                <a:schemeClr val="dk1"/>
              </a:buClr>
              <a:buSzPts val="935"/>
              <a:buFont typeface="Arial"/>
              <a:buNone/>
            </a:pPr>
            <a:r>
              <a:t/>
            </a:r>
            <a:endParaRPr sz="1560"/>
          </a:p>
          <a:p>
            <a:pPr indent="0" lvl="0" marL="0" rtl="0" algn="l">
              <a:lnSpc>
                <a:spcPct val="70000"/>
              </a:lnSpc>
              <a:spcBef>
                <a:spcPts val="1200"/>
              </a:spcBef>
              <a:spcAft>
                <a:spcPts val="1200"/>
              </a:spcAft>
              <a:buSzPts val="935"/>
              <a:buNone/>
            </a:pPr>
            <a:r>
              <a:t/>
            </a:r>
            <a:endParaRPr sz="1560"/>
          </a:p>
        </p:txBody>
      </p:sp>
      <p:pic>
        <p:nvPicPr>
          <p:cNvPr id="274" name="Google Shape;274;p40"/>
          <p:cNvPicPr preferRelativeResize="0"/>
          <p:nvPr/>
        </p:nvPicPr>
        <p:blipFill>
          <a:blip r:embed="rId3">
            <a:alphaModFix/>
          </a:blip>
          <a:stretch>
            <a:fillRect/>
          </a:stretch>
        </p:blipFill>
        <p:spPr>
          <a:xfrm>
            <a:off x="6812175" y="822175"/>
            <a:ext cx="1959824" cy="3980548"/>
          </a:xfrm>
          <a:prstGeom prst="rect">
            <a:avLst/>
          </a:prstGeom>
          <a:noFill/>
          <a:ln>
            <a:noFill/>
          </a:ln>
        </p:spPr>
      </p:pic>
      <p:pic>
        <p:nvPicPr>
          <p:cNvPr id="275" name="Google Shape;275;p40"/>
          <p:cNvPicPr preferRelativeResize="0"/>
          <p:nvPr/>
        </p:nvPicPr>
        <p:blipFill>
          <a:blip r:embed="rId4">
            <a:alphaModFix/>
          </a:blip>
          <a:stretch>
            <a:fillRect/>
          </a:stretch>
        </p:blipFill>
        <p:spPr>
          <a:xfrm>
            <a:off x="4454125" y="822175"/>
            <a:ext cx="1872874" cy="39805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cxnSp>
        <p:nvCxnSpPr>
          <p:cNvPr id="280" name="Google Shape;280;p41"/>
          <p:cNvCxnSpPr/>
          <p:nvPr/>
        </p:nvCxnSpPr>
        <p:spPr>
          <a:xfrm>
            <a:off x="2636250" y="870325"/>
            <a:ext cx="0" cy="3610200"/>
          </a:xfrm>
          <a:prstGeom prst="straightConnector1">
            <a:avLst/>
          </a:prstGeom>
          <a:noFill/>
          <a:ln cap="flat" cmpd="sng" w="28575">
            <a:solidFill>
              <a:schemeClr val="dk2"/>
            </a:solidFill>
            <a:prstDash val="solid"/>
            <a:round/>
            <a:headEnd len="med" w="med" type="none"/>
            <a:tailEnd len="med" w="med" type="none"/>
          </a:ln>
        </p:spPr>
      </p:cxnSp>
      <p:cxnSp>
        <p:nvCxnSpPr>
          <p:cNvPr id="281" name="Google Shape;281;p41"/>
          <p:cNvCxnSpPr/>
          <p:nvPr/>
        </p:nvCxnSpPr>
        <p:spPr>
          <a:xfrm flipH="1" rot="10800000">
            <a:off x="514000" y="1737725"/>
            <a:ext cx="8231700" cy="21600"/>
          </a:xfrm>
          <a:prstGeom prst="straightConnector1">
            <a:avLst/>
          </a:prstGeom>
          <a:noFill/>
          <a:ln cap="flat" cmpd="sng" w="28575">
            <a:solidFill>
              <a:schemeClr val="dk2"/>
            </a:solidFill>
            <a:prstDash val="solid"/>
            <a:round/>
            <a:headEnd len="med" w="med" type="none"/>
            <a:tailEnd len="med" w="med" type="none"/>
          </a:ln>
        </p:spPr>
      </p:cxnSp>
      <p:cxnSp>
        <p:nvCxnSpPr>
          <p:cNvPr id="282" name="Google Shape;282;p41"/>
          <p:cNvCxnSpPr/>
          <p:nvPr/>
        </p:nvCxnSpPr>
        <p:spPr>
          <a:xfrm flipH="1" rot="10800000">
            <a:off x="514000" y="2589925"/>
            <a:ext cx="8231700" cy="21600"/>
          </a:xfrm>
          <a:prstGeom prst="straightConnector1">
            <a:avLst/>
          </a:prstGeom>
          <a:noFill/>
          <a:ln cap="flat" cmpd="sng" w="28575">
            <a:solidFill>
              <a:schemeClr val="dk2"/>
            </a:solidFill>
            <a:prstDash val="solid"/>
            <a:round/>
            <a:headEnd len="med" w="med" type="none"/>
            <a:tailEnd len="med" w="med" type="none"/>
          </a:ln>
        </p:spPr>
      </p:cxnSp>
      <p:cxnSp>
        <p:nvCxnSpPr>
          <p:cNvPr id="283" name="Google Shape;283;p41"/>
          <p:cNvCxnSpPr/>
          <p:nvPr/>
        </p:nvCxnSpPr>
        <p:spPr>
          <a:xfrm flipH="1" rot="10800000">
            <a:off x="514000" y="3442125"/>
            <a:ext cx="8231700" cy="21600"/>
          </a:xfrm>
          <a:prstGeom prst="straightConnector1">
            <a:avLst/>
          </a:prstGeom>
          <a:noFill/>
          <a:ln cap="flat" cmpd="sng" w="28575">
            <a:solidFill>
              <a:schemeClr val="dk2"/>
            </a:solidFill>
            <a:prstDash val="solid"/>
            <a:round/>
            <a:headEnd len="med" w="med" type="none"/>
            <a:tailEnd len="med" w="med" type="none"/>
          </a:ln>
        </p:spPr>
      </p:cxnSp>
      <p:pic>
        <p:nvPicPr>
          <p:cNvPr id="284" name="Google Shape;284;p41"/>
          <p:cNvPicPr preferRelativeResize="0"/>
          <p:nvPr/>
        </p:nvPicPr>
        <p:blipFill>
          <a:blip r:embed="rId3">
            <a:alphaModFix/>
          </a:blip>
          <a:stretch>
            <a:fillRect/>
          </a:stretch>
        </p:blipFill>
        <p:spPr>
          <a:xfrm>
            <a:off x="6256832" y="1281276"/>
            <a:ext cx="1405716" cy="313214"/>
          </a:xfrm>
          <a:prstGeom prst="rect">
            <a:avLst/>
          </a:prstGeom>
          <a:noFill/>
          <a:ln>
            <a:noFill/>
          </a:ln>
        </p:spPr>
      </p:pic>
      <p:pic>
        <p:nvPicPr>
          <p:cNvPr id="285" name="Google Shape;285;p41"/>
          <p:cNvPicPr preferRelativeResize="0"/>
          <p:nvPr/>
        </p:nvPicPr>
        <p:blipFill>
          <a:blip r:embed="rId4">
            <a:alphaModFix/>
          </a:blip>
          <a:stretch>
            <a:fillRect/>
          </a:stretch>
        </p:blipFill>
        <p:spPr>
          <a:xfrm>
            <a:off x="3095487" y="1229210"/>
            <a:ext cx="1676920" cy="417353"/>
          </a:xfrm>
          <a:prstGeom prst="rect">
            <a:avLst/>
          </a:prstGeom>
          <a:noFill/>
          <a:ln>
            <a:noFill/>
          </a:ln>
        </p:spPr>
      </p:pic>
      <p:pic>
        <p:nvPicPr>
          <p:cNvPr id="286" name="Google Shape;286;p41"/>
          <p:cNvPicPr preferRelativeResize="0"/>
          <p:nvPr/>
        </p:nvPicPr>
        <p:blipFill>
          <a:blip r:embed="rId5">
            <a:alphaModFix/>
          </a:blip>
          <a:stretch>
            <a:fillRect/>
          </a:stretch>
        </p:blipFill>
        <p:spPr>
          <a:xfrm>
            <a:off x="3112545" y="2044868"/>
            <a:ext cx="1642808" cy="376620"/>
          </a:xfrm>
          <a:prstGeom prst="rect">
            <a:avLst/>
          </a:prstGeom>
          <a:noFill/>
          <a:ln>
            <a:noFill/>
          </a:ln>
        </p:spPr>
      </p:pic>
      <p:pic>
        <p:nvPicPr>
          <p:cNvPr id="287" name="Google Shape;287;p41"/>
          <p:cNvPicPr preferRelativeResize="0"/>
          <p:nvPr/>
        </p:nvPicPr>
        <p:blipFill>
          <a:blip r:embed="rId6">
            <a:alphaModFix/>
          </a:blip>
          <a:stretch>
            <a:fillRect/>
          </a:stretch>
        </p:blipFill>
        <p:spPr>
          <a:xfrm>
            <a:off x="5854219" y="2016557"/>
            <a:ext cx="2210930" cy="433255"/>
          </a:xfrm>
          <a:prstGeom prst="rect">
            <a:avLst/>
          </a:prstGeom>
          <a:noFill/>
          <a:ln>
            <a:noFill/>
          </a:ln>
        </p:spPr>
      </p:pic>
      <p:pic>
        <p:nvPicPr>
          <p:cNvPr id="288" name="Google Shape;288;p41"/>
          <p:cNvPicPr preferRelativeResize="0"/>
          <p:nvPr/>
        </p:nvPicPr>
        <p:blipFill>
          <a:blip r:embed="rId7">
            <a:alphaModFix/>
          </a:blip>
          <a:stretch>
            <a:fillRect/>
          </a:stretch>
        </p:blipFill>
        <p:spPr>
          <a:xfrm>
            <a:off x="6256822" y="2611958"/>
            <a:ext cx="1611776" cy="874694"/>
          </a:xfrm>
          <a:prstGeom prst="rect">
            <a:avLst/>
          </a:prstGeom>
          <a:noFill/>
          <a:ln>
            <a:noFill/>
          </a:ln>
        </p:spPr>
      </p:pic>
      <p:pic>
        <p:nvPicPr>
          <p:cNvPr id="289" name="Google Shape;289;p41"/>
          <p:cNvPicPr preferRelativeResize="0"/>
          <p:nvPr/>
        </p:nvPicPr>
        <p:blipFill>
          <a:blip r:embed="rId8">
            <a:alphaModFix/>
          </a:blip>
          <a:stretch>
            <a:fillRect/>
          </a:stretch>
        </p:blipFill>
        <p:spPr>
          <a:xfrm>
            <a:off x="3290942" y="2766909"/>
            <a:ext cx="1285990" cy="519816"/>
          </a:xfrm>
          <a:prstGeom prst="rect">
            <a:avLst/>
          </a:prstGeom>
          <a:noFill/>
          <a:ln>
            <a:noFill/>
          </a:ln>
        </p:spPr>
      </p:pic>
      <p:pic>
        <p:nvPicPr>
          <p:cNvPr id="290" name="Google Shape;290;p41"/>
          <p:cNvPicPr preferRelativeResize="0"/>
          <p:nvPr/>
        </p:nvPicPr>
        <p:blipFill rotWithShape="1">
          <a:blip r:embed="rId9">
            <a:alphaModFix/>
          </a:blip>
          <a:srcRect b="21632" l="0" r="0" t="21632"/>
          <a:stretch/>
        </p:blipFill>
        <p:spPr>
          <a:xfrm>
            <a:off x="2796350" y="3612575"/>
            <a:ext cx="1027044" cy="582676"/>
          </a:xfrm>
          <a:prstGeom prst="rect">
            <a:avLst/>
          </a:prstGeom>
          <a:noFill/>
          <a:ln>
            <a:noFill/>
          </a:ln>
        </p:spPr>
      </p:pic>
      <p:pic>
        <p:nvPicPr>
          <p:cNvPr id="291" name="Google Shape;291;p41"/>
          <p:cNvPicPr preferRelativeResize="0"/>
          <p:nvPr/>
        </p:nvPicPr>
        <p:blipFill>
          <a:blip r:embed="rId10">
            <a:alphaModFix/>
          </a:blip>
          <a:stretch>
            <a:fillRect/>
          </a:stretch>
        </p:blipFill>
        <p:spPr>
          <a:xfrm>
            <a:off x="4144700" y="3784328"/>
            <a:ext cx="1162204" cy="351087"/>
          </a:xfrm>
          <a:prstGeom prst="rect">
            <a:avLst/>
          </a:prstGeom>
          <a:noFill/>
          <a:ln>
            <a:noFill/>
          </a:ln>
        </p:spPr>
      </p:pic>
      <p:pic>
        <p:nvPicPr>
          <p:cNvPr id="292" name="Google Shape;292;p41"/>
          <p:cNvPicPr preferRelativeResize="0"/>
          <p:nvPr/>
        </p:nvPicPr>
        <p:blipFill rotWithShape="1">
          <a:blip r:embed="rId11">
            <a:alphaModFix/>
          </a:blip>
          <a:srcRect b="0" l="58034" r="0" t="0"/>
          <a:stretch/>
        </p:blipFill>
        <p:spPr>
          <a:xfrm>
            <a:off x="5490535" y="3012350"/>
            <a:ext cx="1471363" cy="1933726"/>
          </a:xfrm>
          <a:prstGeom prst="rect">
            <a:avLst/>
          </a:prstGeom>
          <a:noFill/>
          <a:ln>
            <a:noFill/>
          </a:ln>
        </p:spPr>
      </p:pic>
      <p:cxnSp>
        <p:nvCxnSpPr>
          <p:cNvPr id="293" name="Google Shape;293;p41"/>
          <p:cNvCxnSpPr/>
          <p:nvPr/>
        </p:nvCxnSpPr>
        <p:spPr>
          <a:xfrm>
            <a:off x="5446426" y="3784328"/>
            <a:ext cx="0" cy="349200"/>
          </a:xfrm>
          <a:prstGeom prst="straightConnector1">
            <a:avLst/>
          </a:prstGeom>
          <a:noFill/>
          <a:ln cap="flat" cmpd="sng" w="19050">
            <a:solidFill>
              <a:srgbClr val="252F3E"/>
            </a:solidFill>
            <a:prstDash val="solid"/>
            <a:round/>
            <a:headEnd len="med" w="med" type="none"/>
            <a:tailEnd len="med" w="med" type="none"/>
          </a:ln>
        </p:spPr>
      </p:cxnSp>
      <p:pic>
        <p:nvPicPr>
          <p:cNvPr id="294" name="Google Shape;294;p41"/>
          <p:cNvPicPr preferRelativeResize="0"/>
          <p:nvPr/>
        </p:nvPicPr>
        <p:blipFill rotWithShape="1">
          <a:blip r:embed="rId12">
            <a:alphaModFix/>
          </a:blip>
          <a:srcRect b="22705" l="14553" r="9568" t="7020"/>
          <a:stretch/>
        </p:blipFill>
        <p:spPr>
          <a:xfrm>
            <a:off x="6816675" y="3648813"/>
            <a:ext cx="1248486" cy="467825"/>
          </a:xfrm>
          <a:prstGeom prst="rect">
            <a:avLst/>
          </a:prstGeom>
          <a:noFill/>
          <a:ln>
            <a:noFill/>
          </a:ln>
        </p:spPr>
      </p:pic>
      <p:sp>
        <p:nvSpPr>
          <p:cNvPr id="295" name="Google Shape;295;p41"/>
          <p:cNvSpPr txBox="1"/>
          <p:nvPr>
            <p:ph idx="1" type="body"/>
          </p:nvPr>
        </p:nvSpPr>
        <p:spPr>
          <a:xfrm>
            <a:off x="514000" y="133230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Prototyping</a:t>
            </a:r>
            <a:endParaRPr sz="1400"/>
          </a:p>
        </p:txBody>
      </p:sp>
      <p:sp>
        <p:nvSpPr>
          <p:cNvPr id="296" name="Google Shape;296;p41"/>
          <p:cNvSpPr txBox="1"/>
          <p:nvPr>
            <p:ph idx="1" type="body"/>
          </p:nvPr>
        </p:nvSpPr>
        <p:spPr>
          <a:xfrm>
            <a:off x="514000" y="211450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Chatbot Builders</a:t>
            </a:r>
            <a:endParaRPr sz="1500"/>
          </a:p>
        </p:txBody>
      </p:sp>
      <p:sp>
        <p:nvSpPr>
          <p:cNvPr id="297" name="Google Shape;297;p41"/>
          <p:cNvSpPr txBox="1"/>
          <p:nvPr>
            <p:ph idx="1" type="body"/>
          </p:nvPr>
        </p:nvSpPr>
        <p:spPr>
          <a:xfrm>
            <a:off x="514000" y="301235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Integration Tools</a:t>
            </a:r>
            <a:endParaRPr sz="1500"/>
          </a:p>
        </p:txBody>
      </p:sp>
      <p:sp>
        <p:nvSpPr>
          <p:cNvPr id="298" name="Google Shape;298;p41"/>
          <p:cNvSpPr txBox="1"/>
          <p:nvPr>
            <p:ph idx="1" type="body"/>
          </p:nvPr>
        </p:nvSpPr>
        <p:spPr>
          <a:xfrm>
            <a:off x="514000" y="3768163"/>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Custom Code</a:t>
            </a:r>
            <a:endParaRPr sz="1500"/>
          </a:p>
        </p:txBody>
      </p:sp>
      <p:sp>
        <p:nvSpPr>
          <p:cNvPr id="299" name="Google Shape;299;p41"/>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Toolkit Overview</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42"/>
          <p:cNvPicPr preferRelativeResize="0"/>
          <p:nvPr/>
        </p:nvPicPr>
        <p:blipFill>
          <a:blip r:embed="rId3">
            <a:alphaModFix/>
          </a:blip>
          <a:stretch>
            <a:fillRect/>
          </a:stretch>
        </p:blipFill>
        <p:spPr>
          <a:xfrm>
            <a:off x="3575250" y="298050"/>
            <a:ext cx="1993500" cy="496146"/>
          </a:xfrm>
          <a:prstGeom prst="rect">
            <a:avLst/>
          </a:prstGeom>
          <a:noFill/>
          <a:ln>
            <a:noFill/>
          </a:ln>
        </p:spPr>
      </p:pic>
      <p:sp>
        <p:nvSpPr>
          <p:cNvPr id="305" name="Google Shape;305;p42"/>
          <p:cNvSpPr txBox="1"/>
          <p:nvPr>
            <p:ph idx="1" type="body"/>
          </p:nvPr>
        </p:nvSpPr>
        <p:spPr>
          <a:xfrm>
            <a:off x="616500" y="1058225"/>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Knowledge base</a:t>
            </a:r>
            <a:endParaRPr sz="1400"/>
          </a:p>
        </p:txBody>
      </p:sp>
      <p:sp>
        <p:nvSpPr>
          <p:cNvPr id="306" name="Google Shape;306;p42"/>
          <p:cNvSpPr txBox="1"/>
          <p:nvPr>
            <p:ph idx="1" type="body"/>
          </p:nvPr>
        </p:nvSpPr>
        <p:spPr>
          <a:xfrm>
            <a:off x="616500" y="2777975"/>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What’s new?</a:t>
            </a:r>
            <a:endParaRPr sz="1400"/>
          </a:p>
        </p:txBody>
      </p:sp>
      <p:pic>
        <p:nvPicPr>
          <p:cNvPr id="307" name="Google Shape;307;p42"/>
          <p:cNvPicPr preferRelativeResize="0"/>
          <p:nvPr/>
        </p:nvPicPr>
        <p:blipFill>
          <a:blip r:embed="rId4">
            <a:alphaModFix/>
          </a:blip>
          <a:stretch>
            <a:fillRect/>
          </a:stretch>
        </p:blipFill>
        <p:spPr>
          <a:xfrm rot="-602371">
            <a:off x="1040767" y="1518737"/>
            <a:ext cx="616565" cy="512793"/>
          </a:xfrm>
          <a:prstGeom prst="rect">
            <a:avLst/>
          </a:prstGeom>
          <a:noFill/>
          <a:ln>
            <a:noFill/>
          </a:ln>
        </p:spPr>
      </p:pic>
      <p:pic>
        <p:nvPicPr>
          <p:cNvPr id="308" name="Google Shape;308;p42"/>
          <p:cNvPicPr preferRelativeResize="0"/>
          <p:nvPr/>
        </p:nvPicPr>
        <p:blipFill>
          <a:blip r:embed="rId5">
            <a:alphaModFix/>
          </a:blip>
          <a:stretch>
            <a:fillRect/>
          </a:stretch>
        </p:blipFill>
        <p:spPr>
          <a:xfrm rot="643862">
            <a:off x="1391007" y="1663098"/>
            <a:ext cx="616466" cy="512882"/>
          </a:xfrm>
          <a:prstGeom prst="rect">
            <a:avLst/>
          </a:prstGeom>
          <a:noFill/>
          <a:ln>
            <a:noFill/>
          </a:ln>
        </p:spPr>
      </p:pic>
      <p:pic>
        <p:nvPicPr>
          <p:cNvPr id="309" name="Google Shape;309;p42"/>
          <p:cNvPicPr preferRelativeResize="0"/>
          <p:nvPr/>
        </p:nvPicPr>
        <p:blipFill>
          <a:blip r:embed="rId6">
            <a:alphaModFix/>
          </a:blip>
          <a:stretch>
            <a:fillRect/>
          </a:stretch>
        </p:blipFill>
        <p:spPr>
          <a:xfrm>
            <a:off x="2543175" y="1540200"/>
            <a:ext cx="617325" cy="617325"/>
          </a:xfrm>
          <a:prstGeom prst="rect">
            <a:avLst/>
          </a:prstGeom>
          <a:noFill/>
          <a:ln>
            <a:noFill/>
          </a:ln>
        </p:spPr>
      </p:pic>
      <p:sp>
        <p:nvSpPr>
          <p:cNvPr id="310" name="Google Shape;310;p42"/>
          <p:cNvSpPr txBox="1"/>
          <p:nvPr/>
        </p:nvSpPr>
        <p:spPr>
          <a:xfrm>
            <a:off x="498363" y="2157525"/>
            <a:ext cx="1993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accent2"/>
                </a:solidFill>
                <a:latin typeface="Montserrat ExtraBold"/>
                <a:ea typeface="Montserrat ExtraBold"/>
                <a:cs typeface="Montserrat ExtraBold"/>
                <a:sym typeface="Montserrat ExtraBold"/>
              </a:rPr>
              <a:t>Documents</a:t>
            </a:r>
            <a:endParaRPr sz="1000">
              <a:solidFill>
                <a:schemeClr val="accent2"/>
              </a:solidFill>
              <a:latin typeface="Montserrat ExtraBold"/>
              <a:ea typeface="Montserrat ExtraBold"/>
              <a:cs typeface="Montserrat ExtraBold"/>
              <a:sym typeface="Montserrat ExtraBold"/>
            </a:endParaRPr>
          </a:p>
        </p:txBody>
      </p:sp>
      <p:sp>
        <p:nvSpPr>
          <p:cNvPr id="311" name="Google Shape;311;p42"/>
          <p:cNvSpPr txBox="1"/>
          <p:nvPr/>
        </p:nvSpPr>
        <p:spPr>
          <a:xfrm>
            <a:off x="1855088" y="2157525"/>
            <a:ext cx="1993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accent2"/>
                </a:solidFill>
                <a:latin typeface="Montserrat ExtraBold"/>
                <a:ea typeface="Montserrat ExtraBold"/>
                <a:cs typeface="Montserrat ExtraBold"/>
                <a:sym typeface="Montserrat ExtraBold"/>
              </a:rPr>
              <a:t>Website</a:t>
            </a:r>
            <a:endParaRPr sz="1000">
              <a:solidFill>
                <a:schemeClr val="accent2"/>
              </a:solidFill>
              <a:latin typeface="Montserrat ExtraBold"/>
              <a:ea typeface="Montserrat ExtraBold"/>
              <a:cs typeface="Montserrat ExtraBold"/>
              <a:sym typeface="Montserrat ExtraBold"/>
            </a:endParaRPr>
          </a:p>
        </p:txBody>
      </p:sp>
      <p:pic>
        <p:nvPicPr>
          <p:cNvPr id="312" name="Google Shape;312;p42"/>
          <p:cNvPicPr preferRelativeResize="0"/>
          <p:nvPr/>
        </p:nvPicPr>
        <p:blipFill>
          <a:blip r:embed="rId7">
            <a:alphaModFix/>
          </a:blip>
          <a:stretch>
            <a:fillRect/>
          </a:stretch>
        </p:blipFill>
        <p:spPr>
          <a:xfrm>
            <a:off x="2245675" y="3423885"/>
            <a:ext cx="1212325" cy="674940"/>
          </a:xfrm>
          <a:prstGeom prst="rect">
            <a:avLst/>
          </a:prstGeom>
          <a:noFill/>
          <a:ln>
            <a:noFill/>
          </a:ln>
        </p:spPr>
      </p:pic>
      <p:pic>
        <p:nvPicPr>
          <p:cNvPr id="313" name="Google Shape;313;p42"/>
          <p:cNvPicPr preferRelativeResize="0"/>
          <p:nvPr/>
        </p:nvPicPr>
        <p:blipFill>
          <a:blip r:embed="rId8">
            <a:alphaModFix/>
          </a:blip>
          <a:stretch>
            <a:fillRect/>
          </a:stretch>
        </p:blipFill>
        <p:spPr>
          <a:xfrm>
            <a:off x="884712" y="3297000"/>
            <a:ext cx="928675" cy="928700"/>
          </a:xfrm>
          <a:prstGeom prst="rect">
            <a:avLst/>
          </a:prstGeom>
          <a:noFill/>
          <a:ln>
            <a:noFill/>
          </a:ln>
        </p:spPr>
      </p:pic>
      <p:pic>
        <p:nvPicPr>
          <p:cNvPr id="314" name="Google Shape;314;p42"/>
          <p:cNvPicPr preferRelativeResize="0"/>
          <p:nvPr/>
        </p:nvPicPr>
        <p:blipFill>
          <a:blip r:embed="rId9">
            <a:alphaModFix/>
          </a:blip>
          <a:stretch>
            <a:fillRect/>
          </a:stretch>
        </p:blipFill>
        <p:spPr>
          <a:xfrm>
            <a:off x="6105948" y="1058225"/>
            <a:ext cx="2083376" cy="3780074"/>
          </a:xfrm>
          <a:prstGeom prst="rect">
            <a:avLst/>
          </a:prstGeom>
          <a:noFill/>
          <a:ln>
            <a:noFill/>
          </a:ln>
        </p:spPr>
      </p:pic>
      <p:cxnSp>
        <p:nvCxnSpPr>
          <p:cNvPr id="315" name="Google Shape;315;p42"/>
          <p:cNvCxnSpPr/>
          <p:nvPr/>
        </p:nvCxnSpPr>
        <p:spPr>
          <a:xfrm>
            <a:off x="4152150" y="2718700"/>
            <a:ext cx="1449300" cy="20400"/>
          </a:xfrm>
          <a:prstGeom prst="straightConnector1">
            <a:avLst/>
          </a:prstGeom>
          <a:noFill/>
          <a:ln cap="flat" cmpd="sng" w="76200">
            <a:solidFill>
              <a:schemeClr val="dk2"/>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3"/>
          <p:cNvSpPr txBox="1"/>
          <p:nvPr>
            <p:ph idx="1" type="body"/>
          </p:nvPr>
        </p:nvSpPr>
        <p:spPr>
          <a:xfrm>
            <a:off x="616500" y="982025"/>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Knowledge base</a:t>
            </a:r>
            <a:endParaRPr sz="1400"/>
          </a:p>
        </p:txBody>
      </p:sp>
      <p:sp>
        <p:nvSpPr>
          <p:cNvPr id="321" name="Google Shape;321;p43"/>
          <p:cNvSpPr txBox="1"/>
          <p:nvPr>
            <p:ph idx="1" type="body"/>
          </p:nvPr>
        </p:nvSpPr>
        <p:spPr>
          <a:xfrm>
            <a:off x="616500" y="2701775"/>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What’s new?</a:t>
            </a:r>
            <a:endParaRPr sz="1400"/>
          </a:p>
        </p:txBody>
      </p:sp>
      <p:pic>
        <p:nvPicPr>
          <p:cNvPr id="322" name="Google Shape;322;p43"/>
          <p:cNvPicPr preferRelativeResize="0"/>
          <p:nvPr/>
        </p:nvPicPr>
        <p:blipFill>
          <a:blip r:embed="rId3">
            <a:alphaModFix/>
          </a:blip>
          <a:stretch>
            <a:fillRect/>
          </a:stretch>
        </p:blipFill>
        <p:spPr>
          <a:xfrm rot="-513776">
            <a:off x="654132" y="1484190"/>
            <a:ext cx="518445" cy="370746"/>
          </a:xfrm>
          <a:prstGeom prst="rect">
            <a:avLst/>
          </a:prstGeom>
          <a:noFill/>
          <a:ln>
            <a:noFill/>
          </a:ln>
        </p:spPr>
      </p:pic>
      <p:pic>
        <p:nvPicPr>
          <p:cNvPr id="323" name="Google Shape;323;p43"/>
          <p:cNvPicPr preferRelativeResize="0"/>
          <p:nvPr/>
        </p:nvPicPr>
        <p:blipFill>
          <a:blip r:embed="rId4">
            <a:alphaModFix/>
          </a:blip>
          <a:stretch>
            <a:fillRect/>
          </a:stretch>
        </p:blipFill>
        <p:spPr>
          <a:xfrm rot="549385">
            <a:off x="950031" y="1587696"/>
            <a:ext cx="518048" cy="371150"/>
          </a:xfrm>
          <a:prstGeom prst="rect">
            <a:avLst/>
          </a:prstGeom>
          <a:noFill/>
          <a:ln>
            <a:noFill/>
          </a:ln>
        </p:spPr>
      </p:pic>
      <p:pic>
        <p:nvPicPr>
          <p:cNvPr id="324" name="Google Shape;324;p43"/>
          <p:cNvPicPr preferRelativeResize="0"/>
          <p:nvPr/>
        </p:nvPicPr>
        <p:blipFill>
          <a:blip r:embed="rId5">
            <a:alphaModFix/>
          </a:blip>
          <a:stretch>
            <a:fillRect/>
          </a:stretch>
        </p:blipFill>
        <p:spPr>
          <a:xfrm>
            <a:off x="1844245" y="1541913"/>
            <a:ext cx="519700" cy="406502"/>
          </a:xfrm>
          <a:prstGeom prst="rect">
            <a:avLst/>
          </a:prstGeom>
          <a:noFill/>
          <a:ln>
            <a:noFill/>
          </a:ln>
        </p:spPr>
      </p:pic>
      <p:sp>
        <p:nvSpPr>
          <p:cNvPr id="325" name="Google Shape;325;p43"/>
          <p:cNvSpPr txBox="1"/>
          <p:nvPr/>
        </p:nvSpPr>
        <p:spPr>
          <a:xfrm>
            <a:off x="199000" y="1948416"/>
            <a:ext cx="1678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accent2"/>
                </a:solidFill>
                <a:latin typeface="Montserrat ExtraBold"/>
                <a:ea typeface="Montserrat ExtraBold"/>
                <a:cs typeface="Montserrat ExtraBold"/>
                <a:sym typeface="Montserrat ExtraBold"/>
              </a:rPr>
              <a:t>Documents</a:t>
            </a:r>
            <a:endParaRPr sz="900">
              <a:solidFill>
                <a:schemeClr val="accent2"/>
              </a:solidFill>
              <a:latin typeface="Montserrat ExtraBold"/>
              <a:ea typeface="Montserrat ExtraBold"/>
              <a:cs typeface="Montserrat ExtraBold"/>
              <a:sym typeface="Montserrat ExtraBold"/>
            </a:endParaRPr>
          </a:p>
        </p:txBody>
      </p:sp>
      <p:sp>
        <p:nvSpPr>
          <p:cNvPr id="326" name="Google Shape;326;p43"/>
          <p:cNvSpPr txBox="1"/>
          <p:nvPr/>
        </p:nvSpPr>
        <p:spPr>
          <a:xfrm>
            <a:off x="1264972" y="1948416"/>
            <a:ext cx="1678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accent2"/>
                </a:solidFill>
                <a:latin typeface="Montserrat ExtraBold"/>
                <a:ea typeface="Montserrat ExtraBold"/>
                <a:cs typeface="Montserrat ExtraBold"/>
                <a:sym typeface="Montserrat ExtraBold"/>
              </a:rPr>
              <a:t>Website</a:t>
            </a:r>
            <a:endParaRPr sz="900">
              <a:solidFill>
                <a:schemeClr val="accent2"/>
              </a:solidFill>
              <a:latin typeface="Montserrat ExtraBold"/>
              <a:ea typeface="Montserrat ExtraBold"/>
              <a:cs typeface="Montserrat ExtraBold"/>
              <a:sym typeface="Montserrat ExtraBold"/>
            </a:endParaRPr>
          </a:p>
        </p:txBody>
      </p:sp>
      <p:cxnSp>
        <p:nvCxnSpPr>
          <p:cNvPr id="327" name="Google Shape;327;p43"/>
          <p:cNvCxnSpPr/>
          <p:nvPr/>
        </p:nvCxnSpPr>
        <p:spPr>
          <a:xfrm>
            <a:off x="4152150" y="2642500"/>
            <a:ext cx="1449300" cy="20400"/>
          </a:xfrm>
          <a:prstGeom prst="straightConnector1">
            <a:avLst/>
          </a:prstGeom>
          <a:noFill/>
          <a:ln cap="flat" cmpd="sng" w="76200">
            <a:solidFill>
              <a:schemeClr val="dk2"/>
            </a:solidFill>
            <a:prstDash val="solid"/>
            <a:round/>
            <a:headEnd len="med" w="med" type="none"/>
            <a:tailEnd len="med" w="med" type="triangle"/>
          </a:ln>
        </p:spPr>
      </p:cxnSp>
      <p:pic>
        <p:nvPicPr>
          <p:cNvPr id="328" name="Google Shape;328;p43"/>
          <p:cNvPicPr preferRelativeResize="0"/>
          <p:nvPr/>
        </p:nvPicPr>
        <p:blipFill>
          <a:blip r:embed="rId6">
            <a:alphaModFix/>
          </a:blip>
          <a:stretch>
            <a:fillRect/>
          </a:stretch>
        </p:blipFill>
        <p:spPr>
          <a:xfrm>
            <a:off x="3777650" y="347150"/>
            <a:ext cx="1588700" cy="354000"/>
          </a:xfrm>
          <a:prstGeom prst="rect">
            <a:avLst/>
          </a:prstGeom>
          <a:noFill/>
          <a:ln>
            <a:noFill/>
          </a:ln>
        </p:spPr>
      </p:pic>
      <p:pic>
        <p:nvPicPr>
          <p:cNvPr id="329" name="Google Shape;329;p43"/>
          <p:cNvPicPr preferRelativeResize="0"/>
          <p:nvPr/>
        </p:nvPicPr>
        <p:blipFill>
          <a:blip r:embed="rId7">
            <a:alphaModFix/>
          </a:blip>
          <a:stretch>
            <a:fillRect/>
          </a:stretch>
        </p:blipFill>
        <p:spPr>
          <a:xfrm>
            <a:off x="2920575" y="1491487"/>
            <a:ext cx="507375" cy="507375"/>
          </a:xfrm>
          <a:prstGeom prst="rect">
            <a:avLst/>
          </a:prstGeom>
          <a:noFill/>
          <a:ln>
            <a:noFill/>
          </a:ln>
        </p:spPr>
      </p:pic>
      <p:sp>
        <p:nvSpPr>
          <p:cNvPr id="330" name="Google Shape;330;p43"/>
          <p:cNvSpPr txBox="1"/>
          <p:nvPr/>
        </p:nvSpPr>
        <p:spPr>
          <a:xfrm>
            <a:off x="2335160" y="1948416"/>
            <a:ext cx="1678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accent2"/>
                </a:solidFill>
                <a:latin typeface="Montserrat ExtraBold"/>
                <a:ea typeface="Montserrat ExtraBold"/>
                <a:cs typeface="Montserrat ExtraBold"/>
                <a:sym typeface="Montserrat ExtraBold"/>
              </a:rPr>
              <a:t>Youtube URL</a:t>
            </a:r>
            <a:endParaRPr sz="900">
              <a:solidFill>
                <a:schemeClr val="accent2"/>
              </a:solidFill>
              <a:latin typeface="Montserrat ExtraBold"/>
              <a:ea typeface="Montserrat ExtraBold"/>
              <a:cs typeface="Montserrat ExtraBold"/>
              <a:sym typeface="Montserrat ExtraBold"/>
            </a:endParaRPr>
          </a:p>
        </p:txBody>
      </p:sp>
      <p:pic>
        <p:nvPicPr>
          <p:cNvPr id="331" name="Google Shape;331;p43"/>
          <p:cNvPicPr preferRelativeResize="0"/>
          <p:nvPr/>
        </p:nvPicPr>
        <p:blipFill>
          <a:blip r:embed="rId8">
            <a:alphaModFix/>
          </a:blip>
          <a:stretch>
            <a:fillRect/>
          </a:stretch>
        </p:blipFill>
        <p:spPr>
          <a:xfrm rot="864523">
            <a:off x="1021649" y="3391476"/>
            <a:ext cx="294361" cy="430519"/>
          </a:xfrm>
          <a:prstGeom prst="rect">
            <a:avLst/>
          </a:prstGeom>
          <a:noFill/>
          <a:ln>
            <a:noFill/>
          </a:ln>
        </p:spPr>
      </p:pic>
      <p:pic>
        <p:nvPicPr>
          <p:cNvPr id="332" name="Google Shape;332;p43"/>
          <p:cNvPicPr preferRelativeResize="0"/>
          <p:nvPr/>
        </p:nvPicPr>
        <p:blipFill>
          <a:blip r:embed="rId9">
            <a:alphaModFix/>
          </a:blip>
          <a:stretch>
            <a:fillRect/>
          </a:stretch>
        </p:blipFill>
        <p:spPr>
          <a:xfrm rot="-899765">
            <a:off x="660636" y="3297640"/>
            <a:ext cx="428690" cy="458182"/>
          </a:xfrm>
          <a:prstGeom prst="rect">
            <a:avLst/>
          </a:prstGeom>
          <a:noFill/>
          <a:ln>
            <a:noFill/>
          </a:ln>
        </p:spPr>
      </p:pic>
      <p:pic>
        <p:nvPicPr>
          <p:cNvPr id="333" name="Google Shape;333;p43"/>
          <p:cNvPicPr preferRelativeResize="0"/>
          <p:nvPr/>
        </p:nvPicPr>
        <p:blipFill>
          <a:blip r:embed="rId10">
            <a:alphaModFix/>
          </a:blip>
          <a:stretch>
            <a:fillRect/>
          </a:stretch>
        </p:blipFill>
        <p:spPr>
          <a:xfrm>
            <a:off x="2655688" y="3088163"/>
            <a:ext cx="1037150" cy="1037150"/>
          </a:xfrm>
          <a:prstGeom prst="rect">
            <a:avLst/>
          </a:prstGeom>
          <a:noFill/>
          <a:ln>
            <a:noFill/>
          </a:ln>
        </p:spPr>
      </p:pic>
      <p:pic>
        <p:nvPicPr>
          <p:cNvPr id="334" name="Google Shape;334;p43"/>
          <p:cNvPicPr preferRelativeResize="0"/>
          <p:nvPr/>
        </p:nvPicPr>
        <p:blipFill>
          <a:blip r:embed="rId11">
            <a:alphaModFix/>
          </a:blip>
          <a:stretch>
            <a:fillRect/>
          </a:stretch>
        </p:blipFill>
        <p:spPr>
          <a:xfrm>
            <a:off x="1850375" y="3353047"/>
            <a:ext cx="507375" cy="507375"/>
          </a:xfrm>
          <a:prstGeom prst="rect">
            <a:avLst/>
          </a:prstGeom>
          <a:noFill/>
          <a:ln>
            <a:noFill/>
          </a:ln>
        </p:spPr>
      </p:pic>
      <p:sp>
        <p:nvSpPr>
          <p:cNvPr id="335" name="Google Shape;335;p43"/>
          <p:cNvSpPr txBox="1"/>
          <p:nvPr/>
        </p:nvSpPr>
        <p:spPr>
          <a:xfrm>
            <a:off x="1265010" y="3877216"/>
            <a:ext cx="1678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accent2"/>
                </a:solidFill>
                <a:latin typeface="Montserrat ExtraBold"/>
                <a:ea typeface="Montserrat ExtraBold"/>
                <a:cs typeface="Montserrat ExtraBold"/>
                <a:sym typeface="Montserrat ExtraBold"/>
              </a:rPr>
              <a:t>Lead Gen </a:t>
            </a:r>
            <a:br>
              <a:rPr lang="en" sz="900">
                <a:solidFill>
                  <a:schemeClr val="accent2"/>
                </a:solidFill>
                <a:latin typeface="Montserrat ExtraBold"/>
                <a:ea typeface="Montserrat ExtraBold"/>
                <a:cs typeface="Montserrat ExtraBold"/>
                <a:sym typeface="Montserrat ExtraBold"/>
              </a:rPr>
            </a:br>
            <a:r>
              <a:rPr lang="en" sz="900">
                <a:solidFill>
                  <a:schemeClr val="accent2"/>
                </a:solidFill>
                <a:latin typeface="Montserrat ExtraBold"/>
                <a:ea typeface="Montserrat ExtraBold"/>
                <a:cs typeface="Montserrat ExtraBold"/>
                <a:sym typeface="Montserrat ExtraBold"/>
              </a:rPr>
              <a:t>Forms</a:t>
            </a:r>
            <a:endParaRPr sz="900">
              <a:solidFill>
                <a:schemeClr val="accent2"/>
              </a:solidFill>
              <a:latin typeface="Montserrat ExtraBold"/>
              <a:ea typeface="Montserrat ExtraBold"/>
              <a:cs typeface="Montserrat ExtraBold"/>
              <a:sym typeface="Montserrat ExtraBold"/>
            </a:endParaRPr>
          </a:p>
        </p:txBody>
      </p:sp>
      <p:sp>
        <p:nvSpPr>
          <p:cNvPr id="336" name="Google Shape;336;p43"/>
          <p:cNvSpPr txBox="1"/>
          <p:nvPr/>
        </p:nvSpPr>
        <p:spPr>
          <a:xfrm>
            <a:off x="2335185" y="3877216"/>
            <a:ext cx="1678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accent2"/>
                </a:solidFill>
                <a:latin typeface="Montserrat ExtraBold"/>
                <a:ea typeface="Montserrat ExtraBold"/>
                <a:cs typeface="Montserrat ExtraBold"/>
                <a:sym typeface="Montserrat ExtraBold"/>
              </a:rPr>
              <a:t>Book a Meeting</a:t>
            </a:r>
            <a:endParaRPr sz="900">
              <a:solidFill>
                <a:schemeClr val="accent2"/>
              </a:solidFill>
              <a:latin typeface="Montserrat ExtraBold"/>
              <a:ea typeface="Montserrat ExtraBold"/>
              <a:cs typeface="Montserrat ExtraBold"/>
              <a:sym typeface="Montserrat ExtraBold"/>
            </a:endParaRPr>
          </a:p>
        </p:txBody>
      </p:sp>
      <p:sp>
        <p:nvSpPr>
          <p:cNvPr id="337" name="Google Shape;337;p43"/>
          <p:cNvSpPr txBox="1"/>
          <p:nvPr/>
        </p:nvSpPr>
        <p:spPr>
          <a:xfrm>
            <a:off x="199010" y="3877216"/>
            <a:ext cx="16782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accent2"/>
                </a:solidFill>
                <a:latin typeface="Montserrat ExtraBold"/>
                <a:ea typeface="Montserrat ExtraBold"/>
                <a:cs typeface="Montserrat ExtraBold"/>
                <a:sym typeface="Montserrat ExtraBold"/>
              </a:rPr>
              <a:t>Google </a:t>
            </a:r>
            <a:br>
              <a:rPr lang="en" sz="900">
                <a:solidFill>
                  <a:schemeClr val="accent2"/>
                </a:solidFill>
                <a:latin typeface="Montserrat ExtraBold"/>
                <a:ea typeface="Montserrat ExtraBold"/>
                <a:cs typeface="Montserrat ExtraBold"/>
                <a:sym typeface="Montserrat ExtraBold"/>
              </a:rPr>
            </a:br>
            <a:r>
              <a:rPr lang="en" sz="900">
                <a:solidFill>
                  <a:schemeClr val="accent2"/>
                </a:solidFill>
                <a:latin typeface="Montserrat ExtraBold"/>
                <a:ea typeface="Montserrat ExtraBold"/>
                <a:cs typeface="Montserrat ExtraBold"/>
                <a:sym typeface="Montserrat ExtraBold"/>
              </a:rPr>
              <a:t>Drive/Sheets</a:t>
            </a:r>
            <a:endParaRPr sz="900">
              <a:solidFill>
                <a:schemeClr val="accent2"/>
              </a:solidFill>
              <a:latin typeface="Montserrat ExtraBold"/>
              <a:ea typeface="Montserrat ExtraBold"/>
              <a:cs typeface="Montserrat ExtraBold"/>
              <a:sym typeface="Montserrat ExtraBold"/>
            </a:endParaRPr>
          </a:p>
        </p:txBody>
      </p:sp>
      <p:pic>
        <p:nvPicPr>
          <p:cNvPr id="338" name="Google Shape;338;p43"/>
          <p:cNvPicPr preferRelativeResize="0"/>
          <p:nvPr/>
        </p:nvPicPr>
        <p:blipFill>
          <a:blip r:embed="rId12">
            <a:alphaModFix/>
          </a:blip>
          <a:stretch>
            <a:fillRect/>
          </a:stretch>
        </p:blipFill>
        <p:spPr>
          <a:xfrm>
            <a:off x="6105949" y="982025"/>
            <a:ext cx="1778549" cy="37800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cxnSp>
        <p:nvCxnSpPr>
          <p:cNvPr id="343" name="Google Shape;343;p44"/>
          <p:cNvCxnSpPr/>
          <p:nvPr/>
        </p:nvCxnSpPr>
        <p:spPr>
          <a:xfrm>
            <a:off x="2636250" y="870325"/>
            <a:ext cx="0" cy="3610200"/>
          </a:xfrm>
          <a:prstGeom prst="straightConnector1">
            <a:avLst/>
          </a:prstGeom>
          <a:noFill/>
          <a:ln cap="flat" cmpd="sng" w="28575">
            <a:solidFill>
              <a:schemeClr val="dk2"/>
            </a:solidFill>
            <a:prstDash val="solid"/>
            <a:round/>
            <a:headEnd len="med" w="med" type="none"/>
            <a:tailEnd len="med" w="med" type="none"/>
          </a:ln>
        </p:spPr>
      </p:cxnSp>
      <p:cxnSp>
        <p:nvCxnSpPr>
          <p:cNvPr id="344" name="Google Shape;344;p44"/>
          <p:cNvCxnSpPr/>
          <p:nvPr/>
        </p:nvCxnSpPr>
        <p:spPr>
          <a:xfrm flipH="1" rot="10800000">
            <a:off x="514000" y="1737725"/>
            <a:ext cx="8231700" cy="21600"/>
          </a:xfrm>
          <a:prstGeom prst="straightConnector1">
            <a:avLst/>
          </a:prstGeom>
          <a:noFill/>
          <a:ln cap="flat" cmpd="sng" w="28575">
            <a:solidFill>
              <a:schemeClr val="dk2"/>
            </a:solidFill>
            <a:prstDash val="solid"/>
            <a:round/>
            <a:headEnd len="med" w="med" type="none"/>
            <a:tailEnd len="med" w="med" type="none"/>
          </a:ln>
        </p:spPr>
      </p:cxnSp>
      <p:cxnSp>
        <p:nvCxnSpPr>
          <p:cNvPr id="345" name="Google Shape;345;p44"/>
          <p:cNvCxnSpPr/>
          <p:nvPr/>
        </p:nvCxnSpPr>
        <p:spPr>
          <a:xfrm flipH="1" rot="10800000">
            <a:off x="514000" y="2589925"/>
            <a:ext cx="8231700" cy="21600"/>
          </a:xfrm>
          <a:prstGeom prst="straightConnector1">
            <a:avLst/>
          </a:prstGeom>
          <a:noFill/>
          <a:ln cap="flat" cmpd="sng" w="28575">
            <a:solidFill>
              <a:schemeClr val="dk2"/>
            </a:solidFill>
            <a:prstDash val="solid"/>
            <a:round/>
            <a:headEnd len="med" w="med" type="none"/>
            <a:tailEnd len="med" w="med" type="none"/>
          </a:ln>
        </p:spPr>
      </p:cxnSp>
      <p:cxnSp>
        <p:nvCxnSpPr>
          <p:cNvPr id="346" name="Google Shape;346;p44"/>
          <p:cNvCxnSpPr/>
          <p:nvPr/>
        </p:nvCxnSpPr>
        <p:spPr>
          <a:xfrm flipH="1" rot="10800000">
            <a:off x="514000" y="3442125"/>
            <a:ext cx="8231700" cy="21600"/>
          </a:xfrm>
          <a:prstGeom prst="straightConnector1">
            <a:avLst/>
          </a:prstGeom>
          <a:noFill/>
          <a:ln cap="flat" cmpd="sng" w="28575">
            <a:solidFill>
              <a:schemeClr val="dk2"/>
            </a:solidFill>
            <a:prstDash val="solid"/>
            <a:round/>
            <a:headEnd len="med" w="med" type="none"/>
            <a:tailEnd len="med" w="med" type="none"/>
          </a:ln>
        </p:spPr>
      </p:cxnSp>
      <p:pic>
        <p:nvPicPr>
          <p:cNvPr id="347" name="Google Shape;347;p44"/>
          <p:cNvPicPr preferRelativeResize="0"/>
          <p:nvPr/>
        </p:nvPicPr>
        <p:blipFill>
          <a:blip r:embed="rId3">
            <a:alphaModFix/>
          </a:blip>
          <a:stretch>
            <a:fillRect/>
          </a:stretch>
        </p:blipFill>
        <p:spPr>
          <a:xfrm>
            <a:off x="6256832" y="1281276"/>
            <a:ext cx="1405716" cy="313214"/>
          </a:xfrm>
          <a:prstGeom prst="rect">
            <a:avLst/>
          </a:prstGeom>
          <a:noFill/>
          <a:ln>
            <a:noFill/>
          </a:ln>
        </p:spPr>
      </p:pic>
      <p:pic>
        <p:nvPicPr>
          <p:cNvPr id="348" name="Google Shape;348;p44"/>
          <p:cNvPicPr preferRelativeResize="0"/>
          <p:nvPr/>
        </p:nvPicPr>
        <p:blipFill>
          <a:blip r:embed="rId4">
            <a:alphaModFix/>
          </a:blip>
          <a:stretch>
            <a:fillRect/>
          </a:stretch>
        </p:blipFill>
        <p:spPr>
          <a:xfrm>
            <a:off x="3095487" y="1229210"/>
            <a:ext cx="1676920" cy="417353"/>
          </a:xfrm>
          <a:prstGeom prst="rect">
            <a:avLst/>
          </a:prstGeom>
          <a:noFill/>
          <a:ln>
            <a:noFill/>
          </a:ln>
        </p:spPr>
      </p:pic>
      <p:pic>
        <p:nvPicPr>
          <p:cNvPr id="349" name="Google Shape;349;p44"/>
          <p:cNvPicPr preferRelativeResize="0"/>
          <p:nvPr/>
        </p:nvPicPr>
        <p:blipFill>
          <a:blip r:embed="rId5">
            <a:alphaModFix/>
          </a:blip>
          <a:stretch>
            <a:fillRect/>
          </a:stretch>
        </p:blipFill>
        <p:spPr>
          <a:xfrm>
            <a:off x="3112545" y="2044868"/>
            <a:ext cx="1642808" cy="376620"/>
          </a:xfrm>
          <a:prstGeom prst="rect">
            <a:avLst/>
          </a:prstGeom>
          <a:noFill/>
          <a:ln>
            <a:noFill/>
          </a:ln>
        </p:spPr>
      </p:pic>
      <p:pic>
        <p:nvPicPr>
          <p:cNvPr id="350" name="Google Shape;350;p44"/>
          <p:cNvPicPr preferRelativeResize="0"/>
          <p:nvPr/>
        </p:nvPicPr>
        <p:blipFill>
          <a:blip r:embed="rId6">
            <a:alphaModFix/>
          </a:blip>
          <a:stretch>
            <a:fillRect/>
          </a:stretch>
        </p:blipFill>
        <p:spPr>
          <a:xfrm>
            <a:off x="5854219" y="2016557"/>
            <a:ext cx="2210930" cy="433255"/>
          </a:xfrm>
          <a:prstGeom prst="rect">
            <a:avLst/>
          </a:prstGeom>
          <a:noFill/>
          <a:ln>
            <a:noFill/>
          </a:ln>
        </p:spPr>
      </p:pic>
      <p:pic>
        <p:nvPicPr>
          <p:cNvPr id="351" name="Google Shape;351;p44"/>
          <p:cNvPicPr preferRelativeResize="0"/>
          <p:nvPr/>
        </p:nvPicPr>
        <p:blipFill>
          <a:blip r:embed="rId7">
            <a:alphaModFix/>
          </a:blip>
          <a:stretch>
            <a:fillRect/>
          </a:stretch>
        </p:blipFill>
        <p:spPr>
          <a:xfrm>
            <a:off x="6256822" y="2611958"/>
            <a:ext cx="1611776" cy="874694"/>
          </a:xfrm>
          <a:prstGeom prst="rect">
            <a:avLst/>
          </a:prstGeom>
          <a:noFill/>
          <a:ln>
            <a:noFill/>
          </a:ln>
        </p:spPr>
      </p:pic>
      <p:pic>
        <p:nvPicPr>
          <p:cNvPr id="352" name="Google Shape;352;p44"/>
          <p:cNvPicPr preferRelativeResize="0"/>
          <p:nvPr/>
        </p:nvPicPr>
        <p:blipFill>
          <a:blip r:embed="rId8">
            <a:alphaModFix/>
          </a:blip>
          <a:stretch>
            <a:fillRect/>
          </a:stretch>
        </p:blipFill>
        <p:spPr>
          <a:xfrm>
            <a:off x="3290942" y="2766909"/>
            <a:ext cx="1285990" cy="519816"/>
          </a:xfrm>
          <a:prstGeom prst="rect">
            <a:avLst/>
          </a:prstGeom>
          <a:noFill/>
          <a:ln>
            <a:noFill/>
          </a:ln>
        </p:spPr>
      </p:pic>
      <p:pic>
        <p:nvPicPr>
          <p:cNvPr id="353" name="Google Shape;353;p44"/>
          <p:cNvPicPr preferRelativeResize="0"/>
          <p:nvPr/>
        </p:nvPicPr>
        <p:blipFill rotWithShape="1">
          <a:blip r:embed="rId9">
            <a:alphaModFix/>
          </a:blip>
          <a:srcRect b="21632" l="0" r="0" t="21632"/>
          <a:stretch/>
        </p:blipFill>
        <p:spPr>
          <a:xfrm>
            <a:off x="2796350" y="3612575"/>
            <a:ext cx="1027044" cy="582676"/>
          </a:xfrm>
          <a:prstGeom prst="rect">
            <a:avLst/>
          </a:prstGeom>
          <a:noFill/>
          <a:ln>
            <a:noFill/>
          </a:ln>
        </p:spPr>
      </p:pic>
      <p:pic>
        <p:nvPicPr>
          <p:cNvPr id="354" name="Google Shape;354;p44"/>
          <p:cNvPicPr preferRelativeResize="0"/>
          <p:nvPr/>
        </p:nvPicPr>
        <p:blipFill>
          <a:blip r:embed="rId10">
            <a:alphaModFix/>
          </a:blip>
          <a:stretch>
            <a:fillRect/>
          </a:stretch>
        </p:blipFill>
        <p:spPr>
          <a:xfrm>
            <a:off x="4144700" y="3784328"/>
            <a:ext cx="1162204" cy="351087"/>
          </a:xfrm>
          <a:prstGeom prst="rect">
            <a:avLst/>
          </a:prstGeom>
          <a:noFill/>
          <a:ln>
            <a:noFill/>
          </a:ln>
        </p:spPr>
      </p:pic>
      <p:pic>
        <p:nvPicPr>
          <p:cNvPr id="355" name="Google Shape;355;p44"/>
          <p:cNvPicPr preferRelativeResize="0"/>
          <p:nvPr/>
        </p:nvPicPr>
        <p:blipFill rotWithShape="1">
          <a:blip r:embed="rId11">
            <a:alphaModFix/>
          </a:blip>
          <a:srcRect b="0" l="58034" r="0" t="0"/>
          <a:stretch/>
        </p:blipFill>
        <p:spPr>
          <a:xfrm>
            <a:off x="5490535" y="3012350"/>
            <a:ext cx="1471363" cy="1933726"/>
          </a:xfrm>
          <a:prstGeom prst="rect">
            <a:avLst/>
          </a:prstGeom>
          <a:noFill/>
          <a:ln>
            <a:noFill/>
          </a:ln>
        </p:spPr>
      </p:pic>
      <p:cxnSp>
        <p:nvCxnSpPr>
          <p:cNvPr id="356" name="Google Shape;356;p44"/>
          <p:cNvCxnSpPr/>
          <p:nvPr/>
        </p:nvCxnSpPr>
        <p:spPr>
          <a:xfrm>
            <a:off x="5446426" y="3784328"/>
            <a:ext cx="0" cy="349200"/>
          </a:xfrm>
          <a:prstGeom prst="straightConnector1">
            <a:avLst/>
          </a:prstGeom>
          <a:noFill/>
          <a:ln cap="flat" cmpd="sng" w="19050">
            <a:solidFill>
              <a:srgbClr val="252F3E"/>
            </a:solidFill>
            <a:prstDash val="solid"/>
            <a:round/>
            <a:headEnd len="med" w="med" type="none"/>
            <a:tailEnd len="med" w="med" type="none"/>
          </a:ln>
        </p:spPr>
      </p:cxnSp>
      <p:pic>
        <p:nvPicPr>
          <p:cNvPr id="357" name="Google Shape;357;p44"/>
          <p:cNvPicPr preferRelativeResize="0"/>
          <p:nvPr/>
        </p:nvPicPr>
        <p:blipFill rotWithShape="1">
          <a:blip r:embed="rId12">
            <a:alphaModFix/>
          </a:blip>
          <a:srcRect b="22705" l="14553" r="9568" t="7020"/>
          <a:stretch/>
        </p:blipFill>
        <p:spPr>
          <a:xfrm>
            <a:off x="6816675" y="3648813"/>
            <a:ext cx="1248486" cy="467825"/>
          </a:xfrm>
          <a:prstGeom prst="rect">
            <a:avLst/>
          </a:prstGeom>
          <a:noFill/>
          <a:ln>
            <a:noFill/>
          </a:ln>
        </p:spPr>
      </p:pic>
      <p:sp>
        <p:nvSpPr>
          <p:cNvPr id="358" name="Google Shape;358;p44"/>
          <p:cNvSpPr txBox="1"/>
          <p:nvPr>
            <p:ph idx="1" type="body"/>
          </p:nvPr>
        </p:nvSpPr>
        <p:spPr>
          <a:xfrm>
            <a:off x="514000" y="133230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Prototyping</a:t>
            </a:r>
            <a:endParaRPr sz="1400"/>
          </a:p>
        </p:txBody>
      </p:sp>
      <p:sp>
        <p:nvSpPr>
          <p:cNvPr id="359" name="Google Shape;359;p44"/>
          <p:cNvSpPr txBox="1"/>
          <p:nvPr>
            <p:ph idx="1" type="body"/>
          </p:nvPr>
        </p:nvSpPr>
        <p:spPr>
          <a:xfrm>
            <a:off x="514000" y="211450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Chatbot Builders</a:t>
            </a:r>
            <a:endParaRPr sz="1500"/>
          </a:p>
        </p:txBody>
      </p:sp>
      <p:sp>
        <p:nvSpPr>
          <p:cNvPr id="360" name="Google Shape;360;p44"/>
          <p:cNvSpPr txBox="1"/>
          <p:nvPr>
            <p:ph idx="1" type="body"/>
          </p:nvPr>
        </p:nvSpPr>
        <p:spPr>
          <a:xfrm>
            <a:off x="514000" y="301235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Integration Tools</a:t>
            </a:r>
            <a:endParaRPr sz="1500"/>
          </a:p>
        </p:txBody>
      </p:sp>
      <p:sp>
        <p:nvSpPr>
          <p:cNvPr id="361" name="Google Shape;361;p44"/>
          <p:cNvSpPr txBox="1"/>
          <p:nvPr>
            <p:ph idx="1" type="body"/>
          </p:nvPr>
        </p:nvSpPr>
        <p:spPr>
          <a:xfrm>
            <a:off x="514000" y="3768163"/>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Custom Code</a:t>
            </a:r>
            <a:endParaRPr sz="1500"/>
          </a:p>
        </p:txBody>
      </p:sp>
      <p:sp>
        <p:nvSpPr>
          <p:cNvPr id="362" name="Google Shape;362;p44"/>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Toolkit Overview</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45"/>
          <p:cNvPicPr preferRelativeResize="0"/>
          <p:nvPr/>
        </p:nvPicPr>
        <p:blipFill>
          <a:blip r:embed="rId3">
            <a:alphaModFix/>
          </a:blip>
          <a:stretch>
            <a:fillRect/>
          </a:stretch>
        </p:blipFill>
        <p:spPr>
          <a:xfrm>
            <a:off x="5014950" y="1613976"/>
            <a:ext cx="3817349" cy="2385850"/>
          </a:xfrm>
          <a:prstGeom prst="rect">
            <a:avLst/>
          </a:prstGeom>
          <a:noFill/>
          <a:ln>
            <a:noFill/>
          </a:ln>
        </p:spPr>
      </p:pic>
      <p:pic>
        <p:nvPicPr>
          <p:cNvPr id="368" name="Google Shape;368;p45"/>
          <p:cNvPicPr preferRelativeResize="0"/>
          <p:nvPr/>
        </p:nvPicPr>
        <p:blipFill>
          <a:blip r:embed="rId4">
            <a:alphaModFix/>
          </a:blip>
          <a:stretch>
            <a:fillRect/>
          </a:stretch>
        </p:blipFill>
        <p:spPr>
          <a:xfrm>
            <a:off x="311700" y="1456600"/>
            <a:ext cx="4277527" cy="2808149"/>
          </a:xfrm>
          <a:prstGeom prst="rect">
            <a:avLst/>
          </a:prstGeom>
          <a:noFill/>
          <a:ln>
            <a:noFill/>
          </a:ln>
        </p:spPr>
      </p:pic>
      <p:pic>
        <p:nvPicPr>
          <p:cNvPr id="369" name="Google Shape;369;p45"/>
          <p:cNvPicPr preferRelativeResize="0"/>
          <p:nvPr/>
        </p:nvPicPr>
        <p:blipFill>
          <a:blip r:embed="rId5">
            <a:alphaModFix/>
          </a:blip>
          <a:stretch>
            <a:fillRect/>
          </a:stretch>
        </p:blipFill>
        <p:spPr>
          <a:xfrm>
            <a:off x="6102220" y="733156"/>
            <a:ext cx="1642808" cy="376620"/>
          </a:xfrm>
          <a:prstGeom prst="rect">
            <a:avLst/>
          </a:prstGeom>
          <a:noFill/>
          <a:ln>
            <a:noFill/>
          </a:ln>
        </p:spPr>
      </p:pic>
      <p:pic>
        <p:nvPicPr>
          <p:cNvPr id="370" name="Google Shape;370;p45"/>
          <p:cNvPicPr preferRelativeResize="0"/>
          <p:nvPr/>
        </p:nvPicPr>
        <p:blipFill>
          <a:blip r:embed="rId6">
            <a:alphaModFix/>
          </a:blip>
          <a:stretch>
            <a:fillRect/>
          </a:stretch>
        </p:blipFill>
        <p:spPr>
          <a:xfrm>
            <a:off x="1344994" y="704857"/>
            <a:ext cx="2210930" cy="4332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Chatbot Builders</a:t>
            </a:r>
            <a:endParaRPr/>
          </a:p>
        </p:txBody>
      </p:sp>
      <p:pic>
        <p:nvPicPr>
          <p:cNvPr id="376" name="Google Shape;376;p46"/>
          <p:cNvPicPr preferRelativeResize="0"/>
          <p:nvPr/>
        </p:nvPicPr>
        <p:blipFill>
          <a:blip r:embed="rId3">
            <a:alphaModFix/>
          </a:blip>
          <a:stretch>
            <a:fillRect/>
          </a:stretch>
        </p:blipFill>
        <p:spPr>
          <a:xfrm>
            <a:off x="94525" y="1490775"/>
            <a:ext cx="8897077" cy="2442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cxnSp>
        <p:nvCxnSpPr>
          <p:cNvPr id="381" name="Google Shape;381;p47"/>
          <p:cNvCxnSpPr/>
          <p:nvPr/>
        </p:nvCxnSpPr>
        <p:spPr>
          <a:xfrm>
            <a:off x="2636250" y="870325"/>
            <a:ext cx="0" cy="3610200"/>
          </a:xfrm>
          <a:prstGeom prst="straightConnector1">
            <a:avLst/>
          </a:prstGeom>
          <a:noFill/>
          <a:ln cap="flat" cmpd="sng" w="28575">
            <a:solidFill>
              <a:schemeClr val="dk2"/>
            </a:solidFill>
            <a:prstDash val="solid"/>
            <a:round/>
            <a:headEnd len="med" w="med" type="none"/>
            <a:tailEnd len="med" w="med" type="none"/>
          </a:ln>
        </p:spPr>
      </p:cxnSp>
      <p:cxnSp>
        <p:nvCxnSpPr>
          <p:cNvPr id="382" name="Google Shape;382;p47"/>
          <p:cNvCxnSpPr/>
          <p:nvPr/>
        </p:nvCxnSpPr>
        <p:spPr>
          <a:xfrm flipH="1" rot="10800000">
            <a:off x="514000" y="1737725"/>
            <a:ext cx="8231700" cy="21600"/>
          </a:xfrm>
          <a:prstGeom prst="straightConnector1">
            <a:avLst/>
          </a:prstGeom>
          <a:noFill/>
          <a:ln cap="flat" cmpd="sng" w="28575">
            <a:solidFill>
              <a:schemeClr val="dk2"/>
            </a:solidFill>
            <a:prstDash val="solid"/>
            <a:round/>
            <a:headEnd len="med" w="med" type="none"/>
            <a:tailEnd len="med" w="med" type="none"/>
          </a:ln>
        </p:spPr>
      </p:cxnSp>
      <p:cxnSp>
        <p:nvCxnSpPr>
          <p:cNvPr id="383" name="Google Shape;383;p47"/>
          <p:cNvCxnSpPr/>
          <p:nvPr/>
        </p:nvCxnSpPr>
        <p:spPr>
          <a:xfrm flipH="1" rot="10800000">
            <a:off x="514000" y="2589925"/>
            <a:ext cx="8231700" cy="21600"/>
          </a:xfrm>
          <a:prstGeom prst="straightConnector1">
            <a:avLst/>
          </a:prstGeom>
          <a:noFill/>
          <a:ln cap="flat" cmpd="sng" w="28575">
            <a:solidFill>
              <a:schemeClr val="dk2"/>
            </a:solidFill>
            <a:prstDash val="solid"/>
            <a:round/>
            <a:headEnd len="med" w="med" type="none"/>
            <a:tailEnd len="med" w="med" type="none"/>
          </a:ln>
        </p:spPr>
      </p:cxnSp>
      <p:cxnSp>
        <p:nvCxnSpPr>
          <p:cNvPr id="384" name="Google Shape;384;p47"/>
          <p:cNvCxnSpPr/>
          <p:nvPr/>
        </p:nvCxnSpPr>
        <p:spPr>
          <a:xfrm flipH="1" rot="10800000">
            <a:off x="514000" y="3442125"/>
            <a:ext cx="8231700" cy="21600"/>
          </a:xfrm>
          <a:prstGeom prst="straightConnector1">
            <a:avLst/>
          </a:prstGeom>
          <a:noFill/>
          <a:ln cap="flat" cmpd="sng" w="28575">
            <a:solidFill>
              <a:schemeClr val="dk2"/>
            </a:solidFill>
            <a:prstDash val="solid"/>
            <a:round/>
            <a:headEnd len="med" w="med" type="none"/>
            <a:tailEnd len="med" w="med" type="none"/>
          </a:ln>
        </p:spPr>
      </p:cxnSp>
      <p:pic>
        <p:nvPicPr>
          <p:cNvPr id="385" name="Google Shape;385;p47"/>
          <p:cNvPicPr preferRelativeResize="0"/>
          <p:nvPr/>
        </p:nvPicPr>
        <p:blipFill>
          <a:blip r:embed="rId3">
            <a:alphaModFix/>
          </a:blip>
          <a:stretch>
            <a:fillRect/>
          </a:stretch>
        </p:blipFill>
        <p:spPr>
          <a:xfrm>
            <a:off x="6256832" y="1281276"/>
            <a:ext cx="1405716" cy="313214"/>
          </a:xfrm>
          <a:prstGeom prst="rect">
            <a:avLst/>
          </a:prstGeom>
          <a:noFill/>
          <a:ln>
            <a:noFill/>
          </a:ln>
        </p:spPr>
      </p:pic>
      <p:pic>
        <p:nvPicPr>
          <p:cNvPr id="386" name="Google Shape;386;p47"/>
          <p:cNvPicPr preferRelativeResize="0"/>
          <p:nvPr/>
        </p:nvPicPr>
        <p:blipFill>
          <a:blip r:embed="rId4">
            <a:alphaModFix/>
          </a:blip>
          <a:stretch>
            <a:fillRect/>
          </a:stretch>
        </p:blipFill>
        <p:spPr>
          <a:xfrm>
            <a:off x="3095487" y="1229210"/>
            <a:ext cx="1676920" cy="417353"/>
          </a:xfrm>
          <a:prstGeom prst="rect">
            <a:avLst/>
          </a:prstGeom>
          <a:noFill/>
          <a:ln>
            <a:noFill/>
          </a:ln>
        </p:spPr>
      </p:pic>
      <p:pic>
        <p:nvPicPr>
          <p:cNvPr id="387" name="Google Shape;387;p47"/>
          <p:cNvPicPr preferRelativeResize="0"/>
          <p:nvPr/>
        </p:nvPicPr>
        <p:blipFill>
          <a:blip r:embed="rId5">
            <a:alphaModFix/>
          </a:blip>
          <a:stretch>
            <a:fillRect/>
          </a:stretch>
        </p:blipFill>
        <p:spPr>
          <a:xfrm>
            <a:off x="3112545" y="2044868"/>
            <a:ext cx="1642808" cy="376620"/>
          </a:xfrm>
          <a:prstGeom prst="rect">
            <a:avLst/>
          </a:prstGeom>
          <a:noFill/>
          <a:ln>
            <a:noFill/>
          </a:ln>
        </p:spPr>
      </p:pic>
      <p:pic>
        <p:nvPicPr>
          <p:cNvPr id="388" name="Google Shape;388;p47"/>
          <p:cNvPicPr preferRelativeResize="0"/>
          <p:nvPr/>
        </p:nvPicPr>
        <p:blipFill>
          <a:blip r:embed="rId6">
            <a:alphaModFix/>
          </a:blip>
          <a:stretch>
            <a:fillRect/>
          </a:stretch>
        </p:blipFill>
        <p:spPr>
          <a:xfrm>
            <a:off x="5854219" y="2016557"/>
            <a:ext cx="2210930" cy="433255"/>
          </a:xfrm>
          <a:prstGeom prst="rect">
            <a:avLst/>
          </a:prstGeom>
          <a:noFill/>
          <a:ln>
            <a:noFill/>
          </a:ln>
        </p:spPr>
      </p:pic>
      <p:pic>
        <p:nvPicPr>
          <p:cNvPr id="389" name="Google Shape;389;p47"/>
          <p:cNvPicPr preferRelativeResize="0"/>
          <p:nvPr/>
        </p:nvPicPr>
        <p:blipFill>
          <a:blip r:embed="rId7">
            <a:alphaModFix/>
          </a:blip>
          <a:stretch>
            <a:fillRect/>
          </a:stretch>
        </p:blipFill>
        <p:spPr>
          <a:xfrm>
            <a:off x="6256822" y="2611958"/>
            <a:ext cx="1611776" cy="874694"/>
          </a:xfrm>
          <a:prstGeom prst="rect">
            <a:avLst/>
          </a:prstGeom>
          <a:noFill/>
          <a:ln>
            <a:noFill/>
          </a:ln>
        </p:spPr>
      </p:pic>
      <p:pic>
        <p:nvPicPr>
          <p:cNvPr id="390" name="Google Shape;390;p47"/>
          <p:cNvPicPr preferRelativeResize="0"/>
          <p:nvPr/>
        </p:nvPicPr>
        <p:blipFill>
          <a:blip r:embed="rId8">
            <a:alphaModFix/>
          </a:blip>
          <a:stretch>
            <a:fillRect/>
          </a:stretch>
        </p:blipFill>
        <p:spPr>
          <a:xfrm>
            <a:off x="3290942" y="2766909"/>
            <a:ext cx="1285990" cy="519816"/>
          </a:xfrm>
          <a:prstGeom prst="rect">
            <a:avLst/>
          </a:prstGeom>
          <a:noFill/>
          <a:ln>
            <a:noFill/>
          </a:ln>
        </p:spPr>
      </p:pic>
      <p:pic>
        <p:nvPicPr>
          <p:cNvPr id="391" name="Google Shape;391;p47"/>
          <p:cNvPicPr preferRelativeResize="0"/>
          <p:nvPr/>
        </p:nvPicPr>
        <p:blipFill rotWithShape="1">
          <a:blip r:embed="rId9">
            <a:alphaModFix/>
          </a:blip>
          <a:srcRect b="21632" l="0" r="0" t="21632"/>
          <a:stretch/>
        </p:blipFill>
        <p:spPr>
          <a:xfrm>
            <a:off x="2796350" y="3612575"/>
            <a:ext cx="1027044" cy="582676"/>
          </a:xfrm>
          <a:prstGeom prst="rect">
            <a:avLst/>
          </a:prstGeom>
          <a:noFill/>
          <a:ln>
            <a:noFill/>
          </a:ln>
        </p:spPr>
      </p:pic>
      <p:pic>
        <p:nvPicPr>
          <p:cNvPr id="392" name="Google Shape;392;p47"/>
          <p:cNvPicPr preferRelativeResize="0"/>
          <p:nvPr/>
        </p:nvPicPr>
        <p:blipFill>
          <a:blip r:embed="rId10">
            <a:alphaModFix/>
          </a:blip>
          <a:stretch>
            <a:fillRect/>
          </a:stretch>
        </p:blipFill>
        <p:spPr>
          <a:xfrm>
            <a:off x="4144700" y="3784328"/>
            <a:ext cx="1162204" cy="351087"/>
          </a:xfrm>
          <a:prstGeom prst="rect">
            <a:avLst/>
          </a:prstGeom>
          <a:noFill/>
          <a:ln>
            <a:noFill/>
          </a:ln>
        </p:spPr>
      </p:pic>
      <p:pic>
        <p:nvPicPr>
          <p:cNvPr id="393" name="Google Shape;393;p47"/>
          <p:cNvPicPr preferRelativeResize="0"/>
          <p:nvPr/>
        </p:nvPicPr>
        <p:blipFill rotWithShape="1">
          <a:blip r:embed="rId11">
            <a:alphaModFix/>
          </a:blip>
          <a:srcRect b="0" l="58034" r="0" t="0"/>
          <a:stretch/>
        </p:blipFill>
        <p:spPr>
          <a:xfrm>
            <a:off x="5490535" y="3012350"/>
            <a:ext cx="1471363" cy="1933726"/>
          </a:xfrm>
          <a:prstGeom prst="rect">
            <a:avLst/>
          </a:prstGeom>
          <a:noFill/>
          <a:ln>
            <a:noFill/>
          </a:ln>
        </p:spPr>
      </p:pic>
      <p:cxnSp>
        <p:nvCxnSpPr>
          <p:cNvPr id="394" name="Google Shape;394;p47"/>
          <p:cNvCxnSpPr/>
          <p:nvPr/>
        </p:nvCxnSpPr>
        <p:spPr>
          <a:xfrm>
            <a:off x="5446426" y="3784328"/>
            <a:ext cx="0" cy="349200"/>
          </a:xfrm>
          <a:prstGeom prst="straightConnector1">
            <a:avLst/>
          </a:prstGeom>
          <a:noFill/>
          <a:ln cap="flat" cmpd="sng" w="19050">
            <a:solidFill>
              <a:srgbClr val="252F3E"/>
            </a:solidFill>
            <a:prstDash val="solid"/>
            <a:round/>
            <a:headEnd len="med" w="med" type="none"/>
            <a:tailEnd len="med" w="med" type="none"/>
          </a:ln>
        </p:spPr>
      </p:cxnSp>
      <p:pic>
        <p:nvPicPr>
          <p:cNvPr id="395" name="Google Shape;395;p47"/>
          <p:cNvPicPr preferRelativeResize="0"/>
          <p:nvPr/>
        </p:nvPicPr>
        <p:blipFill rotWithShape="1">
          <a:blip r:embed="rId12">
            <a:alphaModFix/>
          </a:blip>
          <a:srcRect b="22705" l="14553" r="9568" t="7020"/>
          <a:stretch/>
        </p:blipFill>
        <p:spPr>
          <a:xfrm>
            <a:off x="6816675" y="3648813"/>
            <a:ext cx="1248486" cy="467825"/>
          </a:xfrm>
          <a:prstGeom prst="rect">
            <a:avLst/>
          </a:prstGeom>
          <a:noFill/>
          <a:ln>
            <a:noFill/>
          </a:ln>
        </p:spPr>
      </p:pic>
      <p:sp>
        <p:nvSpPr>
          <p:cNvPr id="396" name="Google Shape;396;p47"/>
          <p:cNvSpPr txBox="1"/>
          <p:nvPr>
            <p:ph idx="1" type="body"/>
          </p:nvPr>
        </p:nvSpPr>
        <p:spPr>
          <a:xfrm>
            <a:off x="514000" y="133230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Prototyping</a:t>
            </a:r>
            <a:endParaRPr sz="1400"/>
          </a:p>
        </p:txBody>
      </p:sp>
      <p:sp>
        <p:nvSpPr>
          <p:cNvPr id="397" name="Google Shape;397;p47"/>
          <p:cNvSpPr txBox="1"/>
          <p:nvPr>
            <p:ph idx="1" type="body"/>
          </p:nvPr>
        </p:nvSpPr>
        <p:spPr>
          <a:xfrm>
            <a:off x="514000" y="211450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Chatbot Builders</a:t>
            </a:r>
            <a:endParaRPr sz="1500"/>
          </a:p>
        </p:txBody>
      </p:sp>
      <p:sp>
        <p:nvSpPr>
          <p:cNvPr id="398" name="Google Shape;398;p47"/>
          <p:cNvSpPr txBox="1"/>
          <p:nvPr>
            <p:ph idx="1" type="body"/>
          </p:nvPr>
        </p:nvSpPr>
        <p:spPr>
          <a:xfrm>
            <a:off x="514000" y="301235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Integration Tools</a:t>
            </a:r>
            <a:endParaRPr sz="1500"/>
          </a:p>
        </p:txBody>
      </p:sp>
      <p:sp>
        <p:nvSpPr>
          <p:cNvPr id="399" name="Google Shape;399;p47"/>
          <p:cNvSpPr txBox="1"/>
          <p:nvPr>
            <p:ph idx="1" type="body"/>
          </p:nvPr>
        </p:nvSpPr>
        <p:spPr>
          <a:xfrm>
            <a:off x="514000" y="3768163"/>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Custom Code</a:t>
            </a:r>
            <a:endParaRPr sz="1500"/>
          </a:p>
        </p:txBody>
      </p:sp>
      <p:sp>
        <p:nvSpPr>
          <p:cNvPr id="400" name="Google Shape;400;p47"/>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Toolkit Overview</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id="405" name="Google Shape;405;p48"/>
          <p:cNvPicPr preferRelativeResize="0"/>
          <p:nvPr/>
        </p:nvPicPr>
        <p:blipFill>
          <a:blip r:embed="rId3">
            <a:alphaModFix/>
          </a:blip>
          <a:stretch>
            <a:fillRect/>
          </a:stretch>
        </p:blipFill>
        <p:spPr>
          <a:xfrm>
            <a:off x="219525" y="1531225"/>
            <a:ext cx="3933201" cy="2081050"/>
          </a:xfrm>
          <a:prstGeom prst="rect">
            <a:avLst/>
          </a:prstGeom>
          <a:noFill/>
          <a:ln>
            <a:noFill/>
          </a:ln>
        </p:spPr>
      </p:pic>
      <p:pic>
        <p:nvPicPr>
          <p:cNvPr id="406" name="Google Shape;406;p48"/>
          <p:cNvPicPr preferRelativeResize="0"/>
          <p:nvPr/>
        </p:nvPicPr>
        <p:blipFill>
          <a:blip r:embed="rId4">
            <a:alphaModFix/>
          </a:blip>
          <a:stretch>
            <a:fillRect/>
          </a:stretch>
        </p:blipFill>
        <p:spPr>
          <a:xfrm>
            <a:off x="4624725" y="1531213"/>
            <a:ext cx="4292076" cy="2081072"/>
          </a:xfrm>
          <a:prstGeom prst="rect">
            <a:avLst/>
          </a:prstGeom>
          <a:noFill/>
          <a:ln>
            <a:noFill/>
          </a:ln>
        </p:spPr>
      </p:pic>
      <p:pic>
        <p:nvPicPr>
          <p:cNvPr id="407" name="Google Shape;407;p48"/>
          <p:cNvPicPr preferRelativeResize="0"/>
          <p:nvPr/>
        </p:nvPicPr>
        <p:blipFill>
          <a:blip r:embed="rId5">
            <a:alphaModFix/>
          </a:blip>
          <a:stretch>
            <a:fillRect/>
          </a:stretch>
        </p:blipFill>
        <p:spPr>
          <a:xfrm>
            <a:off x="5964872" y="607646"/>
            <a:ext cx="1611776" cy="874694"/>
          </a:xfrm>
          <a:prstGeom prst="rect">
            <a:avLst/>
          </a:prstGeom>
          <a:noFill/>
          <a:ln>
            <a:noFill/>
          </a:ln>
        </p:spPr>
      </p:pic>
      <p:pic>
        <p:nvPicPr>
          <p:cNvPr id="408" name="Google Shape;408;p48"/>
          <p:cNvPicPr preferRelativeResize="0"/>
          <p:nvPr/>
        </p:nvPicPr>
        <p:blipFill>
          <a:blip r:embed="rId6">
            <a:alphaModFix/>
          </a:blip>
          <a:stretch>
            <a:fillRect/>
          </a:stretch>
        </p:blipFill>
        <p:spPr>
          <a:xfrm>
            <a:off x="1543129" y="785084"/>
            <a:ext cx="1285990" cy="51981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id="413" name="Google Shape;413;p49"/>
          <p:cNvPicPr preferRelativeResize="0"/>
          <p:nvPr/>
        </p:nvPicPr>
        <p:blipFill rotWithShape="1">
          <a:blip r:embed="rId3">
            <a:alphaModFix/>
          </a:blip>
          <a:srcRect b="0" l="0" r="0" t="1058"/>
          <a:stretch/>
        </p:blipFill>
        <p:spPr>
          <a:xfrm>
            <a:off x="2272113" y="689701"/>
            <a:ext cx="4599776" cy="37641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0"/>
          <p:cNvSpPr txBox="1"/>
          <p:nvPr>
            <p:ph idx="1" type="body"/>
          </p:nvPr>
        </p:nvSpPr>
        <p:spPr>
          <a:xfrm>
            <a:off x="311700" y="1638350"/>
            <a:ext cx="4260300" cy="3416400"/>
          </a:xfrm>
          <a:prstGeom prst="rect">
            <a:avLst/>
          </a:prstGeom>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SzPts val="1500"/>
              <a:buChar char="●"/>
            </a:pPr>
            <a:r>
              <a:rPr lang="en" sz="1500"/>
              <a:t>Chatbots to CRM for data entry</a:t>
            </a:r>
            <a:endParaRPr sz="1500"/>
          </a:p>
          <a:p>
            <a:pPr indent="-323850" lvl="0" marL="457200" rtl="0" algn="l">
              <a:lnSpc>
                <a:spcPct val="150000"/>
              </a:lnSpc>
              <a:spcBef>
                <a:spcPts val="0"/>
              </a:spcBef>
              <a:spcAft>
                <a:spcPts val="0"/>
              </a:spcAft>
              <a:buSzPts val="1500"/>
              <a:buChar char="●"/>
            </a:pPr>
            <a:r>
              <a:rPr lang="en" sz="1500"/>
              <a:t>Syncing orders to inventory</a:t>
            </a:r>
            <a:endParaRPr sz="1500"/>
          </a:p>
          <a:p>
            <a:pPr indent="-323850" lvl="0" marL="457200" rtl="0" algn="l">
              <a:lnSpc>
                <a:spcPct val="150000"/>
              </a:lnSpc>
              <a:spcBef>
                <a:spcPts val="0"/>
              </a:spcBef>
              <a:spcAft>
                <a:spcPts val="0"/>
              </a:spcAft>
              <a:buSzPts val="1500"/>
              <a:buChar char="●"/>
            </a:pPr>
            <a:r>
              <a:rPr lang="en" sz="1500"/>
              <a:t>Automating support tickets from chatbots</a:t>
            </a:r>
            <a:endParaRPr sz="1500"/>
          </a:p>
          <a:p>
            <a:pPr indent="-323850" lvl="0" marL="457200" rtl="0" algn="l">
              <a:lnSpc>
                <a:spcPct val="150000"/>
              </a:lnSpc>
              <a:spcBef>
                <a:spcPts val="0"/>
              </a:spcBef>
              <a:spcAft>
                <a:spcPts val="0"/>
              </a:spcAft>
              <a:buSzPts val="1500"/>
              <a:buChar char="●"/>
            </a:pPr>
            <a:r>
              <a:rPr lang="en" sz="1500"/>
              <a:t>Consolidating data into one report</a:t>
            </a:r>
            <a:endParaRPr sz="1500"/>
          </a:p>
          <a:p>
            <a:pPr indent="0" lvl="0" marL="457200" rtl="0" algn="l">
              <a:lnSpc>
                <a:spcPct val="150000"/>
              </a:lnSpc>
              <a:spcBef>
                <a:spcPts val="1200"/>
              </a:spcBef>
              <a:spcAft>
                <a:spcPts val="1200"/>
              </a:spcAft>
              <a:buNone/>
            </a:pPr>
            <a:r>
              <a:t/>
            </a:r>
            <a:endParaRPr sz="1100"/>
          </a:p>
        </p:txBody>
      </p:sp>
      <p:sp>
        <p:nvSpPr>
          <p:cNvPr id="419" name="Google Shape;419;p50"/>
          <p:cNvSpPr txBox="1"/>
          <p:nvPr>
            <p:ph idx="1" type="body"/>
          </p:nvPr>
        </p:nvSpPr>
        <p:spPr>
          <a:xfrm>
            <a:off x="4572000" y="1638350"/>
            <a:ext cx="4260300" cy="3416400"/>
          </a:xfrm>
          <a:prstGeom prst="rect">
            <a:avLst/>
          </a:prstGeom>
        </p:spPr>
        <p:txBody>
          <a:bodyPr anchorCtr="0" anchor="t" bIns="91425" lIns="91425" spcFirstLastPara="1" rIns="91425" wrap="square" tIns="91425">
            <a:normAutofit/>
          </a:bodyPr>
          <a:lstStyle/>
          <a:p>
            <a:pPr indent="-323850" lvl="0" marL="457200" rtl="0" algn="l">
              <a:lnSpc>
                <a:spcPct val="150000"/>
              </a:lnSpc>
              <a:spcBef>
                <a:spcPts val="0"/>
              </a:spcBef>
              <a:spcAft>
                <a:spcPts val="0"/>
              </a:spcAft>
              <a:buSzPts val="1500"/>
              <a:buChar char="●"/>
            </a:pPr>
            <a:r>
              <a:rPr lang="en" sz="1500"/>
              <a:t>Sharing blog posts on social media</a:t>
            </a:r>
            <a:endParaRPr sz="1500"/>
          </a:p>
          <a:p>
            <a:pPr indent="-323850" lvl="0" marL="457200" rtl="0" algn="l">
              <a:lnSpc>
                <a:spcPct val="150000"/>
              </a:lnSpc>
              <a:spcBef>
                <a:spcPts val="0"/>
              </a:spcBef>
              <a:spcAft>
                <a:spcPts val="0"/>
              </a:spcAft>
              <a:buSzPts val="1500"/>
              <a:buChar char="●"/>
            </a:pPr>
            <a:r>
              <a:rPr lang="en" sz="1500"/>
              <a:t>Capturing Facebook leads to CRM</a:t>
            </a:r>
            <a:endParaRPr sz="1500"/>
          </a:p>
          <a:p>
            <a:pPr indent="-323850" lvl="0" marL="457200" rtl="0" algn="l">
              <a:lnSpc>
                <a:spcPct val="150000"/>
              </a:lnSpc>
              <a:spcBef>
                <a:spcPts val="0"/>
              </a:spcBef>
              <a:spcAft>
                <a:spcPts val="0"/>
              </a:spcAft>
              <a:buSzPts val="1500"/>
              <a:buChar char="●"/>
            </a:pPr>
            <a:r>
              <a:rPr lang="en" sz="1500"/>
              <a:t>Creating tasks from emails or forms</a:t>
            </a:r>
            <a:endParaRPr sz="1500"/>
          </a:p>
          <a:p>
            <a:pPr indent="-323850" lvl="0" marL="457200" rtl="0" algn="l">
              <a:lnSpc>
                <a:spcPct val="150000"/>
              </a:lnSpc>
              <a:spcBef>
                <a:spcPts val="0"/>
              </a:spcBef>
              <a:spcAft>
                <a:spcPts val="0"/>
              </a:spcAft>
              <a:buSzPts val="1500"/>
              <a:buChar char="●"/>
            </a:pPr>
            <a:r>
              <a:rPr lang="en" sz="1500"/>
              <a:t>Sending welcome emails to new leads</a:t>
            </a:r>
            <a:endParaRPr sz="1500"/>
          </a:p>
        </p:txBody>
      </p:sp>
      <p:pic>
        <p:nvPicPr>
          <p:cNvPr id="420" name="Google Shape;420;p50"/>
          <p:cNvPicPr preferRelativeResize="0"/>
          <p:nvPr/>
        </p:nvPicPr>
        <p:blipFill>
          <a:blip r:embed="rId3">
            <a:alphaModFix/>
          </a:blip>
          <a:stretch>
            <a:fillRect/>
          </a:stretch>
        </p:blipFill>
        <p:spPr>
          <a:xfrm>
            <a:off x="1380234" y="607633"/>
            <a:ext cx="1611776" cy="874694"/>
          </a:xfrm>
          <a:prstGeom prst="rect">
            <a:avLst/>
          </a:prstGeom>
          <a:noFill/>
          <a:ln>
            <a:noFill/>
          </a:ln>
        </p:spPr>
      </p:pic>
      <p:pic>
        <p:nvPicPr>
          <p:cNvPr id="421" name="Google Shape;421;p50"/>
          <p:cNvPicPr preferRelativeResize="0"/>
          <p:nvPr/>
        </p:nvPicPr>
        <p:blipFill>
          <a:blip r:embed="rId4">
            <a:alphaModFix/>
          </a:blip>
          <a:stretch>
            <a:fillRect/>
          </a:stretch>
        </p:blipFill>
        <p:spPr>
          <a:xfrm>
            <a:off x="6059154" y="785071"/>
            <a:ext cx="1285990" cy="51981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cxnSp>
        <p:nvCxnSpPr>
          <p:cNvPr id="426" name="Google Shape;426;p51"/>
          <p:cNvCxnSpPr/>
          <p:nvPr/>
        </p:nvCxnSpPr>
        <p:spPr>
          <a:xfrm>
            <a:off x="2636250" y="870325"/>
            <a:ext cx="0" cy="3610200"/>
          </a:xfrm>
          <a:prstGeom prst="straightConnector1">
            <a:avLst/>
          </a:prstGeom>
          <a:noFill/>
          <a:ln cap="flat" cmpd="sng" w="28575">
            <a:solidFill>
              <a:schemeClr val="dk2"/>
            </a:solidFill>
            <a:prstDash val="solid"/>
            <a:round/>
            <a:headEnd len="med" w="med" type="none"/>
            <a:tailEnd len="med" w="med" type="none"/>
          </a:ln>
        </p:spPr>
      </p:cxnSp>
      <p:cxnSp>
        <p:nvCxnSpPr>
          <p:cNvPr id="427" name="Google Shape;427;p51"/>
          <p:cNvCxnSpPr/>
          <p:nvPr/>
        </p:nvCxnSpPr>
        <p:spPr>
          <a:xfrm flipH="1" rot="10800000">
            <a:off x="514000" y="1737725"/>
            <a:ext cx="8231700" cy="21600"/>
          </a:xfrm>
          <a:prstGeom prst="straightConnector1">
            <a:avLst/>
          </a:prstGeom>
          <a:noFill/>
          <a:ln cap="flat" cmpd="sng" w="28575">
            <a:solidFill>
              <a:schemeClr val="dk2"/>
            </a:solidFill>
            <a:prstDash val="solid"/>
            <a:round/>
            <a:headEnd len="med" w="med" type="none"/>
            <a:tailEnd len="med" w="med" type="none"/>
          </a:ln>
        </p:spPr>
      </p:cxnSp>
      <p:cxnSp>
        <p:nvCxnSpPr>
          <p:cNvPr id="428" name="Google Shape;428;p51"/>
          <p:cNvCxnSpPr/>
          <p:nvPr/>
        </p:nvCxnSpPr>
        <p:spPr>
          <a:xfrm flipH="1" rot="10800000">
            <a:off x="514000" y="2589925"/>
            <a:ext cx="8231700" cy="21600"/>
          </a:xfrm>
          <a:prstGeom prst="straightConnector1">
            <a:avLst/>
          </a:prstGeom>
          <a:noFill/>
          <a:ln cap="flat" cmpd="sng" w="28575">
            <a:solidFill>
              <a:schemeClr val="dk2"/>
            </a:solidFill>
            <a:prstDash val="solid"/>
            <a:round/>
            <a:headEnd len="med" w="med" type="none"/>
            <a:tailEnd len="med" w="med" type="none"/>
          </a:ln>
        </p:spPr>
      </p:cxnSp>
      <p:cxnSp>
        <p:nvCxnSpPr>
          <p:cNvPr id="429" name="Google Shape;429;p51"/>
          <p:cNvCxnSpPr/>
          <p:nvPr/>
        </p:nvCxnSpPr>
        <p:spPr>
          <a:xfrm flipH="1" rot="10800000">
            <a:off x="514000" y="3442125"/>
            <a:ext cx="8231700" cy="21600"/>
          </a:xfrm>
          <a:prstGeom prst="straightConnector1">
            <a:avLst/>
          </a:prstGeom>
          <a:noFill/>
          <a:ln cap="flat" cmpd="sng" w="28575">
            <a:solidFill>
              <a:schemeClr val="dk2"/>
            </a:solidFill>
            <a:prstDash val="solid"/>
            <a:round/>
            <a:headEnd len="med" w="med" type="none"/>
            <a:tailEnd len="med" w="med" type="none"/>
          </a:ln>
        </p:spPr>
      </p:cxnSp>
      <p:pic>
        <p:nvPicPr>
          <p:cNvPr id="430" name="Google Shape;430;p51"/>
          <p:cNvPicPr preferRelativeResize="0"/>
          <p:nvPr/>
        </p:nvPicPr>
        <p:blipFill>
          <a:blip r:embed="rId3">
            <a:alphaModFix/>
          </a:blip>
          <a:stretch>
            <a:fillRect/>
          </a:stretch>
        </p:blipFill>
        <p:spPr>
          <a:xfrm>
            <a:off x="6256832" y="1281276"/>
            <a:ext cx="1405716" cy="313214"/>
          </a:xfrm>
          <a:prstGeom prst="rect">
            <a:avLst/>
          </a:prstGeom>
          <a:noFill/>
          <a:ln>
            <a:noFill/>
          </a:ln>
        </p:spPr>
      </p:pic>
      <p:pic>
        <p:nvPicPr>
          <p:cNvPr id="431" name="Google Shape;431;p51"/>
          <p:cNvPicPr preferRelativeResize="0"/>
          <p:nvPr/>
        </p:nvPicPr>
        <p:blipFill>
          <a:blip r:embed="rId4">
            <a:alphaModFix/>
          </a:blip>
          <a:stretch>
            <a:fillRect/>
          </a:stretch>
        </p:blipFill>
        <p:spPr>
          <a:xfrm>
            <a:off x="3095487" y="1229210"/>
            <a:ext cx="1676920" cy="417353"/>
          </a:xfrm>
          <a:prstGeom prst="rect">
            <a:avLst/>
          </a:prstGeom>
          <a:noFill/>
          <a:ln>
            <a:noFill/>
          </a:ln>
        </p:spPr>
      </p:pic>
      <p:pic>
        <p:nvPicPr>
          <p:cNvPr id="432" name="Google Shape;432;p51"/>
          <p:cNvPicPr preferRelativeResize="0"/>
          <p:nvPr/>
        </p:nvPicPr>
        <p:blipFill>
          <a:blip r:embed="rId5">
            <a:alphaModFix/>
          </a:blip>
          <a:stretch>
            <a:fillRect/>
          </a:stretch>
        </p:blipFill>
        <p:spPr>
          <a:xfrm>
            <a:off x="3112545" y="2044868"/>
            <a:ext cx="1642808" cy="376620"/>
          </a:xfrm>
          <a:prstGeom prst="rect">
            <a:avLst/>
          </a:prstGeom>
          <a:noFill/>
          <a:ln>
            <a:noFill/>
          </a:ln>
        </p:spPr>
      </p:pic>
      <p:pic>
        <p:nvPicPr>
          <p:cNvPr id="433" name="Google Shape;433;p51"/>
          <p:cNvPicPr preferRelativeResize="0"/>
          <p:nvPr/>
        </p:nvPicPr>
        <p:blipFill>
          <a:blip r:embed="rId6">
            <a:alphaModFix/>
          </a:blip>
          <a:stretch>
            <a:fillRect/>
          </a:stretch>
        </p:blipFill>
        <p:spPr>
          <a:xfrm>
            <a:off x="5854219" y="2016557"/>
            <a:ext cx="2210930" cy="433255"/>
          </a:xfrm>
          <a:prstGeom prst="rect">
            <a:avLst/>
          </a:prstGeom>
          <a:noFill/>
          <a:ln>
            <a:noFill/>
          </a:ln>
        </p:spPr>
      </p:pic>
      <p:pic>
        <p:nvPicPr>
          <p:cNvPr id="434" name="Google Shape;434;p51"/>
          <p:cNvPicPr preferRelativeResize="0"/>
          <p:nvPr/>
        </p:nvPicPr>
        <p:blipFill>
          <a:blip r:embed="rId7">
            <a:alphaModFix/>
          </a:blip>
          <a:stretch>
            <a:fillRect/>
          </a:stretch>
        </p:blipFill>
        <p:spPr>
          <a:xfrm>
            <a:off x="6256822" y="2611958"/>
            <a:ext cx="1611776" cy="874694"/>
          </a:xfrm>
          <a:prstGeom prst="rect">
            <a:avLst/>
          </a:prstGeom>
          <a:noFill/>
          <a:ln>
            <a:noFill/>
          </a:ln>
        </p:spPr>
      </p:pic>
      <p:pic>
        <p:nvPicPr>
          <p:cNvPr id="435" name="Google Shape;435;p51"/>
          <p:cNvPicPr preferRelativeResize="0"/>
          <p:nvPr/>
        </p:nvPicPr>
        <p:blipFill>
          <a:blip r:embed="rId8">
            <a:alphaModFix/>
          </a:blip>
          <a:stretch>
            <a:fillRect/>
          </a:stretch>
        </p:blipFill>
        <p:spPr>
          <a:xfrm>
            <a:off x="3290942" y="2766909"/>
            <a:ext cx="1285990" cy="519816"/>
          </a:xfrm>
          <a:prstGeom prst="rect">
            <a:avLst/>
          </a:prstGeom>
          <a:noFill/>
          <a:ln>
            <a:noFill/>
          </a:ln>
        </p:spPr>
      </p:pic>
      <p:pic>
        <p:nvPicPr>
          <p:cNvPr id="436" name="Google Shape;436;p51"/>
          <p:cNvPicPr preferRelativeResize="0"/>
          <p:nvPr/>
        </p:nvPicPr>
        <p:blipFill rotWithShape="1">
          <a:blip r:embed="rId9">
            <a:alphaModFix/>
          </a:blip>
          <a:srcRect b="21632" l="0" r="0" t="21632"/>
          <a:stretch/>
        </p:blipFill>
        <p:spPr>
          <a:xfrm>
            <a:off x="2796350" y="3612575"/>
            <a:ext cx="1027044" cy="582676"/>
          </a:xfrm>
          <a:prstGeom prst="rect">
            <a:avLst/>
          </a:prstGeom>
          <a:noFill/>
          <a:ln>
            <a:noFill/>
          </a:ln>
        </p:spPr>
      </p:pic>
      <p:pic>
        <p:nvPicPr>
          <p:cNvPr id="437" name="Google Shape;437;p51"/>
          <p:cNvPicPr preferRelativeResize="0"/>
          <p:nvPr/>
        </p:nvPicPr>
        <p:blipFill>
          <a:blip r:embed="rId10">
            <a:alphaModFix/>
          </a:blip>
          <a:stretch>
            <a:fillRect/>
          </a:stretch>
        </p:blipFill>
        <p:spPr>
          <a:xfrm>
            <a:off x="4144700" y="3784328"/>
            <a:ext cx="1162204" cy="351087"/>
          </a:xfrm>
          <a:prstGeom prst="rect">
            <a:avLst/>
          </a:prstGeom>
          <a:noFill/>
          <a:ln>
            <a:noFill/>
          </a:ln>
        </p:spPr>
      </p:pic>
      <p:pic>
        <p:nvPicPr>
          <p:cNvPr id="438" name="Google Shape;438;p51"/>
          <p:cNvPicPr preferRelativeResize="0"/>
          <p:nvPr/>
        </p:nvPicPr>
        <p:blipFill rotWithShape="1">
          <a:blip r:embed="rId11">
            <a:alphaModFix/>
          </a:blip>
          <a:srcRect b="0" l="58034" r="0" t="0"/>
          <a:stretch/>
        </p:blipFill>
        <p:spPr>
          <a:xfrm>
            <a:off x="5490535" y="3012350"/>
            <a:ext cx="1471363" cy="1933726"/>
          </a:xfrm>
          <a:prstGeom prst="rect">
            <a:avLst/>
          </a:prstGeom>
          <a:noFill/>
          <a:ln>
            <a:noFill/>
          </a:ln>
        </p:spPr>
      </p:pic>
      <p:cxnSp>
        <p:nvCxnSpPr>
          <p:cNvPr id="439" name="Google Shape;439;p51"/>
          <p:cNvCxnSpPr/>
          <p:nvPr/>
        </p:nvCxnSpPr>
        <p:spPr>
          <a:xfrm>
            <a:off x="5446426" y="3784328"/>
            <a:ext cx="0" cy="349200"/>
          </a:xfrm>
          <a:prstGeom prst="straightConnector1">
            <a:avLst/>
          </a:prstGeom>
          <a:noFill/>
          <a:ln cap="flat" cmpd="sng" w="19050">
            <a:solidFill>
              <a:srgbClr val="252F3E"/>
            </a:solidFill>
            <a:prstDash val="solid"/>
            <a:round/>
            <a:headEnd len="med" w="med" type="none"/>
            <a:tailEnd len="med" w="med" type="none"/>
          </a:ln>
        </p:spPr>
      </p:cxnSp>
      <p:pic>
        <p:nvPicPr>
          <p:cNvPr id="440" name="Google Shape;440;p51"/>
          <p:cNvPicPr preferRelativeResize="0"/>
          <p:nvPr/>
        </p:nvPicPr>
        <p:blipFill rotWithShape="1">
          <a:blip r:embed="rId12">
            <a:alphaModFix/>
          </a:blip>
          <a:srcRect b="22705" l="14553" r="9568" t="7020"/>
          <a:stretch/>
        </p:blipFill>
        <p:spPr>
          <a:xfrm>
            <a:off x="6816675" y="3648813"/>
            <a:ext cx="1248486" cy="467825"/>
          </a:xfrm>
          <a:prstGeom prst="rect">
            <a:avLst/>
          </a:prstGeom>
          <a:noFill/>
          <a:ln>
            <a:noFill/>
          </a:ln>
        </p:spPr>
      </p:pic>
      <p:sp>
        <p:nvSpPr>
          <p:cNvPr id="441" name="Google Shape;441;p51"/>
          <p:cNvSpPr txBox="1"/>
          <p:nvPr>
            <p:ph idx="1" type="body"/>
          </p:nvPr>
        </p:nvSpPr>
        <p:spPr>
          <a:xfrm>
            <a:off x="514000" y="133230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Prototyping</a:t>
            </a:r>
            <a:endParaRPr sz="1400"/>
          </a:p>
        </p:txBody>
      </p:sp>
      <p:sp>
        <p:nvSpPr>
          <p:cNvPr id="442" name="Google Shape;442;p51"/>
          <p:cNvSpPr txBox="1"/>
          <p:nvPr>
            <p:ph idx="1" type="body"/>
          </p:nvPr>
        </p:nvSpPr>
        <p:spPr>
          <a:xfrm>
            <a:off x="514000" y="211450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Chatbot Builders</a:t>
            </a:r>
            <a:endParaRPr sz="1500"/>
          </a:p>
        </p:txBody>
      </p:sp>
      <p:sp>
        <p:nvSpPr>
          <p:cNvPr id="443" name="Google Shape;443;p51"/>
          <p:cNvSpPr txBox="1"/>
          <p:nvPr>
            <p:ph idx="1" type="body"/>
          </p:nvPr>
        </p:nvSpPr>
        <p:spPr>
          <a:xfrm>
            <a:off x="514000" y="3012350"/>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Integration Tools</a:t>
            </a:r>
            <a:endParaRPr sz="1500"/>
          </a:p>
        </p:txBody>
      </p:sp>
      <p:sp>
        <p:nvSpPr>
          <p:cNvPr id="444" name="Google Shape;444;p51"/>
          <p:cNvSpPr txBox="1"/>
          <p:nvPr>
            <p:ph idx="1" type="body"/>
          </p:nvPr>
        </p:nvSpPr>
        <p:spPr>
          <a:xfrm>
            <a:off x="514000" y="3768163"/>
            <a:ext cx="2544000" cy="4221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Clr>
                <a:schemeClr val="dk1"/>
              </a:buClr>
              <a:buSzPts val="1100"/>
              <a:buFont typeface="Arial"/>
              <a:buNone/>
            </a:pPr>
            <a:r>
              <a:rPr lang="en" sz="1600"/>
              <a:t>Custom Code</a:t>
            </a:r>
            <a:endParaRPr sz="1500"/>
          </a:p>
        </p:txBody>
      </p:sp>
      <p:sp>
        <p:nvSpPr>
          <p:cNvPr id="445" name="Google Shape;445;p51"/>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Toolkit Overview</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Custom Code</a:t>
            </a:r>
            <a:endParaRPr/>
          </a:p>
        </p:txBody>
      </p:sp>
      <p:sp>
        <p:nvSpPr>
          <p:cNvPr id="451" name="Google Shape;451;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lnSpc>
                <a:spcPct val="100000"/>
              </a:lnSpc>
              <a:spcBef>
                <a:spcPts val="0"/>
              </a:spcBef>
              <a:spcAft>
                <a:spcPts val="0"/>
              </a:spcAft>
              <a:buClr>
                <a:schemeClr val="dk1"/>
              </a:buClr>
              <a:buSzPct val="61111"/>
              <a:buFont typeface="Arial"/>
              <a:buNone/>
            </a:pPr>
            <a:r>
              <a:rPr b="1" lang="en">
                <a:latin typeface="Montserrat"/>
                <a:ea typeface="Montserrat"/>
                <a:cs typeface="Montserrat"/>
                <a:sym typeface="Montserrat"/>
              </a:rPr>
              <a:t>Node.js</a:t>
            </a:r>
            <a:r>
              <a:rPr lang="en"/>
              <a:t> - to run JavaScript code on servers and build command line tools.</a:t>
            </a:r>
            <a:endParaRPr/>
          </a:p>
          <a:p>
            <a:pPr indent="0" lvl="0" marL="0" rtl="0" algn="l">
              <a:lnSpc>
                <a:spcPct val="100000"/>
              </a:lnSpc>
              <a:spcBef>
                <a:spcPts val="1200"/>
              </a:spcBef>
              <a:spcAft>
                <a:spcPts val="0"/>
              </a:spcAft>
              <a:buClr>
                <a:schemeClr val="dk1"/>
              </a:buClr>
              <a:buSzPct val="61111"/>
              <a:buFont typeface="Arial"/>
              <a:buNone/>
            </a:pPr>
            <a:r>
              <a:t/>
            </a:r>
            <a:endParaRPr/>
          </a:p>
          <a:p>
            <a:pPr indent="0" lvl="0" marL="0" rtl="0" algn="l">
              <a:lnSpc>
                <a:spcPct val="100000"/>
              </a:lnSpc>
              <a:spcBef>
                <a:spcPts val="1200"/>
              </a:spcBef>
              <a:spcAft>
                <a:spcPts val="0"/>
              </a:spcAft>
              <a:buClr>
                <a:schemeClr val="dk1"/>
              </a:buClr>
              <a:buSzPct val="61111"/>
              <a:buFont typeface="Arial"/>
              <a:buNone/>
            </a:pPr>
            <a:r>
              <a:rPr b="1" lang="en">
                <a:latin typeface="Montserrat"/>
                <a:ea typeface="Montserrat"/>
                <a:cs typeface="Montserrat"/>
                <a:sym typeface="Montserrat"/>
              </a:rPr>
              <a:t>Amazon S3</a:t>
            </a:r>
            <a:r>
              <a:rPr lang="en"/>
              <a:t> - to store and retrieve any amount of data with high scalability and security.</a:t>
            </a:r>
            <a:endParaRPr/>
          </a:p>
          <a:p>
            <a:pPr indent="0" lvl="0" marL="0" rtl="0" algn="l">
              <a:lnSpc>
                <a:spcPct val="100000"/>
              </a:lnSpc>
              <a:spcBef>
                <a:spcPts val="1200"/>
              </a:spcBef>
              <a:spcAft>
                <a:spcPts val="0"/>
              </a:spcAft>
              <a:buClr>
                <a:schemeClr val="dk1"/>
              </a:buClr>
              <a:buSzPct val="61111"/>
              <a:buFont typeface="Arial"/>
              <a:buNone/>
            </a:pPr>
            <a:r>
              <a:t/>
            </a:r>
            <a:endParaRPr/>
          </a:p>
          <a:p>
            <a:pPr indent="0" lvl="0" marL="0" rtl="0" algn="l">
              <a:lnSpc>
                <a:spcPct val="100000"/>
              </a:lnSpc>
              <a:spcBef>
                <a:spcPts val="1200"/>
              </a:spcBef>
              <a:spcAft>
                <a:spcPts val="0"/>
              </a:spcAft>
              <a:buClr>
                <a:schemeClr val="dk1"/>
              </a:buClr>
              <a:buSzPct val="61111"/>
              <a:buFont typeface="Arial"/>
              <a:buNone/>
            </a:pPr>
            <a:r>
              <a:rPr b="1" lang="en">
                <a:latin typeface="Montserrat"/>
                <a:ea typeface="Montserrat"/>
                <a:cs typeface="Montserrat"/>
                <a:sym typeface="Montserrat"/>
              </a:rPr>
              <a:t>AWS Lambda</a:t>
            </a:r>
            <a:r>
              <a:rPr lang="en"/>
              <a:t> - to run your code automatically in response to events without managing servers.</a:t>
            </a:r>
            <a:endParaRPr/>
          </a:p>
          <a:p>
            <a:pPr indent="0" lvl="0" marL="0" rtl="0" algn="l">
              <a:lnSpc>
                <a:spcPct val="100000"/>
              </a:lnSpc>
              <a:spcBef>
                <a:spcPts val="1200"/>
              </a:spcBef>
              <a:spcAft>
                <a:spcPts val="0"/>
              </a:spcAft>
              <a:buClr>
                <a:schemeClr val="dk1"/>
              </a:buClr>
              <a:buSzPct val="61111"/>
              <a:buFont typeface="Arial"/>
              <a:buNone/>
            </a:pPr>
            <a:r>
              <a:t/>
            </a:r>
            <a:endParaRPr/>
          </a:p>
          <a:p>
            <a:pPr indent="0" lvl="0" marL="0" rtl="0" algn="l">
              <a:lnSpc>
                <a:spcPct val="100000"/>
              </a:lnSpc>
              <a:spcBef>
                <a:spcPts val="1200"/>
              </a:spcBef>
              <a:spcAft>
                <a:spcPts val="0"/>
              </a:spcAft>
              <a:buClr>
                <a:schemeClr val="dk1"/>
              </a:buClr>
              <a:buSzPct val="61111"/>
              <a:buFont typeface="Arial"/>
              <a:buNone/>
            </a:pPr>
            <a:r>
              <a:rPr b="1" lang="en">
                <a:latin typeface="Montserrat"/>
                <a:ea typeface="Montserrat"/>
                <a:cs typeface="Montserrat"/>
                <a:sym typeface="Montserrat"/>
              </a:rPr>
              <a:t>LLRT</a:t>
            </a:r>
            <a:r>
              <a:rPr lang="en"/>
              <a:t> - to make your JavaScript code run faster and cheaper on AWS Lambda.</a:t>
            </a:r>
            <a:endParaRPr/>
          </a:p>
          <a:p>
            <a:pPr indent="0" lvl="0" marL="0" rtl="0" algn="l">
              <a:lnSpc>
                <a:spcPct val="100000"/>
              </a:lnSpc>
              <a:spcBef>
                <a:spcPts val="120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3"/>
          <p:cNvSpPr txBox="1"/>
          <p:nvPr>
            <p:ph type="title"/>
          </p:nvPr>
        </p:nvSpPr>
        <p:spPr>
          <a:xfrm>
            <a:off x="311700" y="193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LLM comparison</a:t>
            </a:r>
            <a:endParaRPr/>
          </a:p>
          <a:p>
            <a:pPr indent="0" lvl="0" marL="0" rtl="0" algn="l">
              <a:spcBef>
                <a:spcPts val="0"/>
              </a:spcBef>
              <a:spcAft>
                <a:spcPts val="0"/>
              </a:spcAft>
              <a:buNone/>
            </a:pPr>
            <a:r>
              <a:t/>
            </a:r>
            <a:endParaRPr/>
          </a:p>
        </p:txBody>
      </p:sp>
      <p:pic>
        <p:nvPicPr>
          <p:cNvPr id="457" name="Google Shape;457;p53"/>
          <p:cNvPicPr preferRelativeResize="0"/>
          <p:nvPr/>
        </p:nvPicPr>
        <p:blipFill>
          <a:blip r:embed="rId3">
            <a:alphaModFix/>
          </a:blip>
          <a:stretch>
            <a:fillRect/>
          </a:stretch>
        </p:blipFill>
        <p:spPr>
          <a:xfrm>
            <a:off x="2447112" y="802987"/>
            <a:ext cx="4249786" cy="3537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sar Theme">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